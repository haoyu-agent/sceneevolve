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14094" r:id="rId4"/>
    <p:sldId id="258" r:id="rId5"/>
    <p:sldId id="14095"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60"/>
  </p:normalViewPr>
  <p:slideViewPr>
    <p:cSldViewPr snapToGrid="0">
      <p:cViewPr>
        <p:scale>
          <a:sx n="76" d="100"/>
          <a:sy n="76" d="100"/>
        </p:scale>
        <p:origin x="2088" y="1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4000000000000001"/>
          <c:y val="0.1"/>
          <c:w val="0.83"/>
          <c:h val="0.79"/>
        </c:manualLayout>
      </c:layout>
      <c:barChart>
        <c:barDir val="col"/>
        <c:grouping val="clustered"/>
        <c:varyColors val="1"/>
        <c:ser>
          <c:idx val="0"/>
          <c:order val="0"/>
          <c:tx>
            <c:v>dino</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2000" b="1"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0.19770751014233581</c:v>
                </c:pt>
                <c:pt idx="1">
                  <c:v>0.37008629162751494</c:v>
                </c:pt>
                <c:pt idx="2">
                  <c:v>0.39847830559999226</c:v>
                </c:pt>
                <c:pt idx="3">
                  <c:v>0.55497352646456821</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rot="0" anchor="ctr" anchorCtr="0"/>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tickLblSkip val="1"/>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20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8"/>
          <c:y val="0.1"/>
          <c:w val="0.79"/>
          <c:h val="0.79"/>
        </c:manualLayout>
      </c:layout>
      <c:barChart>
        <c:barDir val="col"/>
        <c:grouping val="clustered"/>
        <c:varyColors val="1"/>
        <c:ser>
          <c:idx val="0"/>
          <c:order val="0"/>
          <c:tx>
            <c:v>time</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Lbls>
            <c:numFmt formatCode="0.00" sourceLinked="0"/>
            <c:spPr>
              <a:noFill/>
              <a:ln>
                <a:noFill/>
              </a:ln>
              <a:effectLst/>
            </c:spPr>
            <c:txPr>
              <a:bodyPr anchorCtr="1"/>
              <a:lstStyle/>
              <a:p>
                <a:pPr>
                  <a:defRPr sz="2000" b="1"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Qwen</c:v>
                </c:pt>
                <c:pt idx="1">
                  <c:v>Ours</c:v>
                </c:pt>
              </c:strCache>
            </c:strRef>
          </c:cat>
          <c:val>
            <c:numRef>
              <c:f>'Chart Data'!$B$2:$B$3</c:f>
              <c:numCache>
                <c:formatCode>General</c:formatCode>
                <c:ptCount val="2"/>
                <c:pt idx="0">
                  <c:v>1510.695238095238</c:v>
                </c:pt>
                <c:pt idx="1">
                  <c:v>800.16015873015874</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t" anchorCtr="0"/>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2000"/>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6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500"/>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4000000000000001"/>
          <c:y val="0.1"/>
          <c:w val="0.83"/>
          <c:h val="0.79"/>
        </c:manualLayout>
      </c:layout>
      <c:barChart>
        <c:barDir val="col"/>
        <c:grouping val="clustered"/>
        <c:varyColors val="1"/>
        <c:ser>
          <c:idx val="0"/>
          <c:order val="0"/>
          <c:tx>
            <c:v>cost</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2000" b="1"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0.14470924275917754</c:v>
                </c:pt>
                <c:pt idx="1">
                  <c:v>0.13694896557662606</c:v>
                </c:pt>
                <c:pt idx="2">
                  <c:v>0.28863678730158732</c:v>
                </c:pt>
                <c:pt idx="3">
                  <c:v>0.47522160317460321</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rot="0"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tickLblSkip val="1"/>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20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dino</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0.21918540926916261</c:v>
                </c:pt>
                <c:pt idx="1">
                  <c:v>0.33819756976195742</c:v>
                </c:pt>
                <c:pt idx="2">
                  <c:v>0.36063114234379362</c:v>
                </c:pt>
                <c:pt idx="3">
                  <c:v>0.51859262585639954</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8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7"/>
          <c:y val="0.14000000000000001"/>
          <c:w val="0.8"/>
          <c:h val="0.71"/>
        </c:manualLayout>
      </c:layout>
      <c:barChart>
        <c:barDir val="col"/>
        <c:grouping val="clustered"/>
        <c:varyColors val="1"/>
        <c:ser>
          <c:idx val="0"/>
          <c:order val="0"/>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1501.785714285714</c:v>
                </c:pt>
                <c:pt idx="1">
                  <c:v>798.9571428571428</c:v>
                </c:pt>
                <c:pt idx="2">
                  <c:v>349.81428571428569</c:v>
                </c:pt>
                <c:pt idx="3">
                  <c:v>503.95714285714291</c:v>
                </c:pt>
              </c:numCache>
            </c:numRef>
          </c:val>
          <c:extLst>
            <c:ext xmlns:c15="http://schemas.microsoft.com/office/drawing/2012/chart" uri="{02D57815-91ED-43cb-92C2-25804820EDAC}">
              <c15:filteredSeriesTitle>
                <c15:tx>
                  <c:v>time</c:v>
                </c15:tx>
              </c15:filteredSeriesTitle>
            </c:ex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t" anchorCtr="0"/>
          <a:lstStyle/>
          <a:p>
            <a:pPr>
              <a:defRPr sz="11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2000"/>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2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500"/>
      </c:valAx>
      <c:spPr>
        <a:noFill/>
        <a:ln w="0">
          <a:noFill/>
        </a:ln>
      </c:spPr>
    </c:plotArea>
    <c:plotVisOnly val="1"/>
    <c:dispBlanksAs val="zero"/>
    <c:showDLblsOverMax val="1"/>
  </c:chart>
  <c:spPr>
    <a:no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cost</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0.1082594499826373</c:v>
                </c:pt>
                <c:pt idx="1">
                  <c:v>0.15892855025451219</c:v>
                </c:pt>
                <c:pt idx="2">
                  <c:v>0.26502342857142858</c:v>
                </c:pt>
                <c:pt idx="3">
                  <c:v>0.49345714285714282</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6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dino</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0.1336088161915541</c:v>
                </c:pt>
                <c:pt idx="1">
                  <c:v>0.39153359085321432</c:v>
                </c:pt>
                <c:pt idx="2">
                  <c:v>0.387359057366848</c:v>
                </c:pt>
                <c:pt idx="3">
                  <c:v>0.55597297847270966</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8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7"/>
          <c:y val="0.14000000000000001"/>
          <c:w val="0.8"/>
          <c:h val="0.71"/>
        </c:manualLayout>
      </c:layout>
      <c:barChart>
        <c:barDir val="col"/>
        <c:grouping val="clustered"/>
        <c:varyColors val="1"/>
        <c:ser>
          <c:idx val="0"/>
          <c:order val="0"/>
          <c:tx>
            <c:v>time</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1663.24</c:v>
                </c:pt>
                <c:pt idx="1">
                  <c:v>746.91000000000008</c:v>
                </c:pt>
                <c:pt idx="2">
                  <c:v>397.06</c:v>
                </c:pt>
                <c:pt idx="3">
                  <c:v>692.61</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1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2000"/>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2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500"/>
      </c:valAx>
      <c:spPr>
        <a:noFill/>
        <a:ln w="0">
          <a:noFill/>
        </a:ln>
      </c:spPr>
    </c:plotArea>
    <c:plotVisOnly val="1"/>
    <c:dispBlanksAs val="zero"/>
    <c:showDLblsOverMax val="1"/>
  </c:chart>
  <c:spPr>
    <a:no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cost</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0.17960029940119759</c:v>
                </c:pt>
                <c:pt idx="1">
                  <c:v>0.13882443528784011</c:v>
                </c:pt>
                <c:pt idx="2">
                  <c:v>0.31200240000000001</c:v>
                </c:pt>
                <c:pt idx="3">
                  <c:v>0.55953299999999995</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6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dino</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0.24032830496629079</c:v>
                </c:pt>
                <c:pt idx="1">
                  <c:v>0.38052771426737309</c:v>
                </c:pt>
                <c:pt idx="2">
                  <c:v>0.44744471708933509</c:v>
                </c:pt>
                <c:pt idx="3">
                  <c:v>0.59035497506459556</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8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7"/>
          <c:y val="0.14000000000000001"/>
          <c:w val="0.8"/>
          <c:h val="0.71"/>
        </c:manualLayout>
      </c:layout>
      <c:barChart>
        <c:barDir val="col"/>
        <c:grouping val="clustered"/>
        <c:varyColors val="1"/>
        <c:ser>
          <c:idx val="0"/>
          <c:order val="0"/>
          <c:tx>
            <c:v>time</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1367.06</c:v>
                </c:pt>
                <c:pt idx="1">
                  <c:v>854.61333333333323</c:v>
                </c:pt>
                <c:pt idx="2">
                  <c:v>362.46666666666658</c:v>
                </c:pt>
                <c:pt idx="3">
                  <c:v>406.60666666666668</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1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2000"/>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2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500"/>
      </c:valAx>
      <c:spPr>
        <a:noFill/>
        <a:ln w="0">
          <a:noFill/>
        </a:ln>
      </c:spPr>
    </c:plotArea>
    <c:plotVisOnly val="1"/>
    <c:dispBlanksAs val="zero"/>
    <c:showDLblsOverMax val="1"/>
  </c:chart>
  <c:spPr>
    <a:no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13"/>
          <c:y val="0.14000000000000001"/>
          <c:w val="0.84"/>
          <c:h val="0.71"/>
        </c:manualLayout>
      </c:layout>
      <c:barChart>
        <c:barDir val="col"/>
        <c:grouping val="clustered"/>
        <c:varyColors val="1"/>
        <c:ser>
          <c:idx val="0"/>
          <c:order val="0"/>
          <c:tx>
            <c:v>cost</c:v>
          </c:tx>
          <c:spPr>
            <a:noFill/>
            <a:ln>
              <a:noFill/>
            </a:ln>
            <a:effectLst/>
          </c:spPr>
          <c:invertIfNegative val="1"/>
          <c:dPt>
            <c:idx val="0"/>
            <c:invertIfNegative val="0"/>
            <c:bubble3D val="0"/>
            <c:extLst>
              <c:ext xmlns:c16="http://schemas.microsoft.com/office/drawing/2014/chart" uri="{C3380CC4-5D6E-409C-BE32-E72D297353CC}">
                <c16:uniqueId val="{00000001-304E-48C3-A41D-90FA53C8B983}"/>
              </c:ext>
            </c:extLst>
          </c:dPt>
          <c:dPt>
            <c:idx val="1"/>
            <c:invertIfNegative val="0"/>
            <c:bubble3D val="0"/>
            <c:extLst>
              <c:ext xmlns:c16="http://schemas.microsoft.com/office/drawing/2014/chart" uri="{C3380CC4-5D6E-409C-BE32-E72D297353CC}">
                <c16:uniqueId val="{00000003-304E-48C3-A41D-90FA53C8B983}"/>
              </c:ext>
            </c:extLst>
          </c:dPt>
          <c:dPt>
            <c:idx val="2"/>
            <c:invertIfNegative val="0"/>
            <c:bubble3D val="0"/>
            <c:extLst>
              <c:ext xmlns:c16="http://schemas.microsoft.com/office/drawing/2014/chart" uri="{C3380CC4-5D6E-409C-BE32-E72D297353CC}">
                <c16:uniqueId val="{00000005-304E-48C3-A41D-90FA53C8B983}"/>
              </c:ext>
            </c:extLst>
          </c:dPt>
          <c:dPt>
            <c:idx val="3"/>
            <c:invertIfNegative val="0"/>
            <c:bubble3D val="0"/>
            <c:extLst>
              <c:ext xmlns:c16="http://schemas.microsoft.com/office/drawing/2014/chart" uri="{C3380CC4-5D6E-409C-BE32-E72D297353CC}">
                <c16:uniqueId val="{00000007-304E-48C3-A41D-90FA53C8B983}"/>
              </c:ext>
            </c:extLst>
          </c:dPt>
          <c:dLbls>
            <c:numFmt formatCode="\$0.00" sourceLinked="0"/>
            <c:spPr>
              <a:noFill/>
              <a:ln>
                <a:noFill/>
              </a:ln>
              <a:effectLst/>
            </c:spPr>
            <c:txPr>
              <a:bodyPr anchorCtr="1"/>
              <a:lstStyle/>
              <a:p>
                <a:pPr>
                  <a:defRPr sz="1800" b="0" i="1">
                    <a:solidFill>
                      <a:schemeClr val="tx1"/>
                    </a:solidFill>
                    <a:latin typeface="Times New Roman" panose="02020603050405020304" pitchFamily="18" charset="0"/>
                    <a:ea typeface="Arial"/>
                    <a:cs typeface="Times New Roman" panose="02020603050405020304" pitchFamily="18"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Qwen</c:v>
                </c:pt>
                <c:pt idx="1">
                  <c:v>Ours</c:v>
                </c:pt>
                <c:pt idx="2">
                  <c:v>Sol</c:v>
                </c:pt>
                <c:pt idx="3">
                  <c:v>Astra</c:v>
                </c:pt>
              </c:strCache>
            </c:strRef>
          </c:cat>
          <c:val>
            <c:numRef>
              <c:f>'Chart Data'!$B$2:$B$5</c:f>
              <c:numCache>
                <c:formatCode>General</c:formatCode>
                <c:ptCount val="4"/>
                <c:pt idx="0">
                  <c:v>0.14626797889369769</c:v>
                </c:pt>
                <c:pt idx="1">
                  <c:v>0.1130939111875259</c:v>
                </c:pt>
                <c:pt idx="2">
                  <c:v>0.2888845333333333</c:v>
                </c:pt>
                <c:pt idx="3">
                  <c:v>0.37267466666666671</c:v>
                </c:pt>
              </c:numCache>
            </c:numRef>
          </c:val>
          <c:extLst>
            <c:ext xmlns:c16="http://schemas.microsoft.com/office/drawing/2014/chart" uri="{C3380CC4-5D6E-409C-BE32-E72D297353CC}">
              <c16:uniqueId val="{00000008-304E-48C3-A41D-90FA53C8B983}"/>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2EC"/>
            </a:solidFill>
          </a:ln>
        </c:spPr>
        <c:txPr>
          <a:bodyPr anchorCtr="1"/>
          <a:lstStyle/>
          <a:p>
            <a:pPr>
              <a:defRPr sz="1800" b="1" i="0">
                <a:solidFill>
                  <a:srgbClr val="263441"/>
                </a:solidFill>
                <a:latin typeface="Times New Roman" panose="02020603050405020304" pitchFamily="18" charset="0"/>
                <a:ea typeface="Arial"/>
                <a:cs typeface="Times New Roman" panose="02020603050405020304" pitchFamily="18" charset="0"/>
              </a:defRPr>
            </a:pPr>
            <a:endParaRPr lang="zh-CN"/>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8E2EC"/>
              </a:solidFill>
            </a:ln>
          </c:spPr>
        </c:majorGridlines>
        <c:numFmt formatCode="\$0.00" sourceLinked="0"/>
        <c:majorTickMark val="none"/>
        <c:minorTickMark val="none"/>
        <c:tickLblPos val="nextTo"/>
        <c:spPr>
          <a:ln w="0">
            <a:noFill/>
          </a:ln>
        </c:spPr>
        <c:txPr>
          <a:bodyPr anchorCtr="1"/>
          <a:lstStyle/>
          <a:p>
            <a:pPr>
              <a:defRPr sz="1600">
                <a:solidFill>
                  <a:srgbClr val="73808D"/>
                </a:solidFill>
                <a:latin typeface="Times New Roman" panose="02020603050405020304" pitchFamily="18" charset="0"/>
                <a:ea typeface="Arial"/>
                <a:cs typeface="Times New Roman" panose="02020603050405020304" pitchFamily="18" charset="0"/>
              </a:defRPr>
            </a:pPr>
            <a:endParaRPr lang="zh-CN"/>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Qwen-3.8-27B</c:v>
          </c:tx>
          <c:spPr>
            <a:solidFill>
              <a:srgbClr val="ABB6C3"/>
            </a:solidFill>
          </c:spPr>
          <c:invertIfNegative val="1"/>
          <c:dLbls>
            <c:spPr>
              <a:noFill/>
              <a:ln>
                <a:noFill/>
              </a:ln>
              <a:effectLst/>
            </c:spPr>
            <c:txPr>
              <a:bodyPr anchorCtr="1"/>
              <a:lstStyle/>
              <a:p>
                <a:pPr>
                  <a:defRPr sz="1725">
                    <a:solidFill>
                      <a:srgbClr val="183D43"/>
                    </a:solidFill>
                    <a:latin typeface="Times New Roman"/>
                    <a:ea typeface="Times New Roman"/>
                    <a:cs typeface="Times New Roman"/>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ARKitScenes (13)</c:v>
                </c:pt>
                <c:pt idx="1">
                  <c:v>CA1M (12)</c:v>
                </c:pt>
                <c:pt idx="2">
                  <c:v>ScanNet (12)</c:v>
                </c:pt>
              </c:strCache>
            </c:strRef>
          </c:cat>
          <c:val>
            <c:numRef>
              <c:f>'Chart Data'!$B$2:$B$4</c:f>
              <c:numCache>
                <c:formatCode>0.000</c:formatCode>
                <c:ptCount val="3"/>
                <c:pt idx="0">
                  <c:v>0.20848800000000001</c:v>
                </c:pt>
                <c:pt idx="1">
                  <c:v>0.14710500000000001</c:v>
                </c:pt>
                <c:pt idx="2">
                  <c:v>0.28395199999999998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252-4B87-B5DF-B8AE2E9CAF7F}"/>
            </c:ext>
          </c:extLst>
        </c:ser>
        <c:ser>
          <c:idx val="1"/>
          <c:order val="1"/>
          <c:tx>
            <c:v>SceneEvolve</c:v>
          </c:tx>
          <c:spPr>
            <a:solidFill>
              <a:srgbClr val="137F78"/>
            </a:solidFill>
          </c:spPr>
          <c:invertIfNegative val="1"/>
          <c:dLbls>
            <c:spPr>
              <a:noFill/>
              <a:ln>
                <a:noFill/>
              </a:ln>
              <a:effectLst/>
            </c:spPr>
            <c:txPr>
              <a:bodyPr anchorCtr="1"/>
              <a:lstStyle/>
              <a:p>
                <a:pPr>
                  <a:defRPr sz="1725">
                    <a:solidFill>
                      <a:srgbClr val="183D43"/>
                    </a:solidFill>
                    <a:latin typeface="Times New Roman"/>
                    <a:ea typeface="Times New Roman"/>
                    <a:cs typeface="Times New Roman"/>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ARKitScenes (13)</c:v>
                </c:pt>
                <c:pt idx="1">
                  <c:v>CA1M (12)</c:v>
                </c:pt>
                <c:pt idx="2">
                  <c:v>ScanNet (12)</c:v>
                </c:pt>
              </c:strCache>
            </c:strRef>
          </c:cat>
          <c:val>
            <c:numRef>
              <c:f>'Chart Data'!$D$2:$D$4</c:f>
              <c:numCache>
                <c:formatCode>0.000</c:formatCode>
                <c:ptCount val="3"/>
                <c:pt idx="0">
                  <c:v>0.24051900000000001</c:v>
                </c:pt>
                <c:pt idx="1">
                  <c:v>0.32016099999999997</c:v>
                </c:pt>
                <c:pt idx="2">
                  <c:v>0.43958000000000003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252-4B87-B5DF-B8AE2E9CAF7F}"/>
            </c:ext>
          </c:extLst>
        </c:ser>
        <c:dLbls>
          <c:dLblPos val="outEnd"/>
          <c:showLegendKey val="0"/>
          <c:showVal val="1"/>
          <c:showCatName val="0"/>
          <c:showSerName val="0"/>
          <c:showPercent val="0"/>
          <c:showBubbleSize val="0"/>
        </c:dLbls>
        <c:gapWidth val="105"/>
        <c:overlap val="-15"/>
        <c:axId val="48650112"/>
        <c:axId val="48672768"/>
      </c:barChart>
      <c:catAx>
        <c:axId val="48650112"/>
        <c:scaling>
          <c:orientation val="minMax"/>
        </c:scaling>
        <c:delete val="0"/>
        <c:axPos val="b"/>
        <c:numFmt formatCode="General" sourceLinked="1"/>
        <c:majorTickMark val="none"/>
        <c:minorTickMark val="none"/>
        <c:tickLblPos val="nextTo"/>
        <c:spPr>
          <a:ln w="7620">
            <a:solidFill>
              <a:srgbClr val="C2CBCF"/>
            </a:solidFill>
          </a:ln>
        </c:spPr>
        <c:txPr>
          <a:bodyPr anchorCtr="1"/>
          <a:lstStyle/>
          <a:p>
            <a:pPr>
              <a:defRPr sz="1725">
                <a:solidFill>
                  <a:srgbClr val="183D43"/>
                </a:solidFill>
                <a:latin typeface="Times New Roman"/>
                <a:ea typeface="Times New Roman"/>
                <a:cs typeface="Times New Roman"/>
              </a:defRPr>
            </a:pPr>
            <a:endParaRPr lang="zh-CN"/>
          </a:p>
        </c:txPr>
        <c:crossAx val="48672768"/>
        <c:crosses val="autoZero"/>
        <c:auto val="1"/>
        <c:lblAlgn val="ctr"/>
        <c:lblOffset val="100"/>
        <c:noMultiLvlLbl val="1"/>
      </c:catAx>
      <c:valAx>
        <c:axId val="48672768"/>
        <c:scaling>
          <c:orientation val="minMax"/>
          <c:max val="0.5"/>
          <c:min val="0"/>
        </c:scaling>
        <c:delete val="0"/>
        <c:axPos val="l"/>
        <c:majorGridlines>
          <c:spPr>
            <a:ln w="6668">
              <a:solidFill>
                <a:srgbClr val="E5E9EA"/>
              </a:solidFill>
            </a:ln>
          </c:spPr>
        </c:majorGridlines>
        <c:numFmt formatCode="0.000" sourceLinked="1"/>
        <c:majorTickMark val="none"/>
        <c:minorTickMark val="none"/>
        <c:tickLblPos val="nextTo"/>
        <c:spPr>
          <a:ln w="0">
            <a:noFill/>
          </a:ln>
        </c:spPr>
        <c:txPr>
          <a:bodyPr anchorCtr="1"/>
          <a:lstStyle/>
          <a:p>
            <a:pPr>
              <a:defRPr sz="1500">
                <a:solidFill>
                  <a:srgbClr val="576570"/>
                </a:solidFill>
                <a:latin typeface="Times New Roman"/>
                <a:ea typeface="Times New Roman"/>
                <a:cs typeface="Times New Roman"/>
              </a:defRPr>
            </a:pPr>
            <a:endParaRPr lang="zh-CN"/>
          </a:p>
        </c:txPr>
        <c:crossAx val="48650112"/>
        <c:crosses val="autoZero"/>
        <c:crossBetween val="between"/>
        <c:majorUnit val="0.1"/>
      </c:valAx>
      <c:spPr>
        <a:solidFill>
          <a:srgbClr val="FFFFFF"/>
        </a:solidFill>
        <a:ln w="0">
          <a:noFill/>
        </a:ln>
      </c:spPr>
    </c:plotArea>
    <c:legend>
      <c:legendPos val="t"/>
      <c:overlay val="0"/>
      <c:txPr>
        <a:bodyPr anchorCtr="1"/>
        <a:lstStyle/>
        <a:p>
          <a:pPr>
            <a:defRPr sz="1650">
              <a:solidFill>
                <a:srgbClr val="183D43"/>
              </a:solidFill>
              <a:latin typeface="Times New Roman"/>
              <a:ea typeface="Times New Roman"/>
              <a:cs typeface="Times New Roman"/>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B13F0-C6D6-4FAE-A0D2-BEFE6553CB9E}"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4982C-8D4A-49C4-AC96-481856F8AD88}" type="slidenum">
              <a:rPr lang="zh-CN" altLang="en-US" smtClean="0"/>
              <a:t>‹#›</a:t>
            </a:fld>
            <a:endParaRPr lang="zh-CN" altLang="en-US"/>
          </a:p>
        </p:txBody>
      </p:sp>
    </p:spTree>
    <p:extLst>
      <p:ext uri="{BB962C8B-B14F-4D97-AF65-F5344CB8AC3E}">
        <p14:creationId xmlns:p14="http://schemas.microsoft.com/office/powerpoint/2010/main" val="1304215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dirty="0"/>
              <a:t>Sources: user-provided arkitscenes_comparison(1).xlsx, ca1m_comparison(1).xlsx, scannet_comparison(1).xlsx; first worksheet, E4:E11 DINOv2-S, F4:F11 seconds per scene, J4:J11 equivalent USD per scene. Aggregation: unweighted arithmetic mean of the three dataset means; sample counts unavailable. Qwen uses xhigh; GPT-sol and GPT-astra use none. No uncertainty estimates or significance tests supplied. Cost is the supplied workbook equivalent, not a current API price. Icons: existing local SVG assets from https://raw.githubusercontent.com/lobehub/lobe-icons/master/packages/static-svg/icons/openai.svg and https://raw.githubusercontent.com/lobehub/lobe-icons/master/packages/static-svg/icons/qwen.svg. Actual data: {"ARKitScenes":{"qwen-xhigh-harness":{"dino":0.3381975697619574,"time":798.9571428571428,"cost":0.1589285502545122},"qwen-xhigh":{"dino":0.2191854092691626,"time":1501.785714285714,"cost":0.1082594499826373},"sol-none":{"dino":0.3606311423437936,"time":349.8142857142857,"cost":0.2650234285714286},"sol-low":{"dino":0.3492131190640586,"time":467.7,"cost":0.2848302857142858},"sol-medium":{"dino":0.4081249684095383,"time":495.7,"cost":0.3026091428571429},"astra-none":{"dino":0.5185926258563995,"time":503.9571428571429,"cost":0.4934571428571428},"astra-low":{"dino":0.4750159042222159,"time":539.8285714285714,"cost":0.48854},"astra-medium":{"dino":0.5279478643621717,"time":638.4571428571428,"cost":0.5981871428571428}},"CA-1M":{"qwen-xhigh-harness":{"dino":0.3915335908532143,"time":746.9100000000001,"cost":0.1388244352878401},"qwen-xhigh":{"dino":0.1336088161915541,"time":1663.24,"cost":0.1796002994011976},"sol-none":{"dino":0.387359057366848,"time":397.06,"cost":0.3120024},"sol-low":{"dino":0.415531762316823,"time":223.48,"cost":0.232542},"sol-medium":{"dino":0.4110262960195541,"time":315.11,"cost":0.2575924},"astra-none":{"dino":0.5559729784727097,"time":692.61,"cost":0.559533},"astra-low":{"dino":0.5518090337514877,"time":572.28,"cost":0.452853},"astra-medium":{"dino":0.5570222109556198,"time":554.52,"cost":0.431988}},"ScanNet":{"qwen-xhigh-harness":{"dino":0.3805277142673731,"time":854.6133333333332,"cost":0.1130939111875259},"qwen-xhigh":{"dino":0.2403283049662908,"time":1367.06,"cost":0.1462679788936977},"sol-none":{"dino":0.4474447170893351,"time":362.4666666666666,"cost":0.2888845333333333},"sol-low":{"dino":0.3820285396029552,"time":313.9,"cost":0.2464853333333333},"sol-medium":{"dino":0.3748224791139364,"time":413.42,"cost":0.311256},"astra-none":{"dino":0.5903549750645956,"time":406.6066666666667,"cost":0.3726746666666667},"astra-low":{"dino":0.5959333002567291,"time":394.72,"cost":0.3829966666666667},"astra-medium":{"dino":0.5791741490364075,"time":387.46,"cost":0.36472}}}</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dirty="0"/>
              <a:t>Sources: user-provided arkitscenes_comparison(1).xlsx, ca1m_comparison(1).xlsx, scannet_comparison(1).xlsx; first worksheet, E4:E11 DINOv2-S, F4:F11 seconds per scene, J4:J11 equivalent USD per scene. Aggregation: unweighted arithmetic mean of the three dataset means; sample counts unavailable. Qwen uses xhigh; GPT-sol and GPT-astra use none. No uncertainty estimates or significance tests supplied. Cost is the supplied workbook equivalent, not a current API price. Icons: existing local SVG assets from https://raw.githubusercontent.com/lobehub/lobe-icons/master/packages/static-svg/icons/openai.svg and https://raw.githubusercontent.com/lobehub/lobe-icons/master/packages/static-svg/icons/qwen.svg. Actual data: {"ARKitScenes":{"qwen-xhigh-harness":{"dino":0.3381975697619574,"time":798.9571428571428,"cost":0.1589285502545122},"qwen-xhigh":{"dino":0.2191854092691626,"time":1501.785714285714,"cost":0.1082594499826373},"sol-none":{"dino":0.3606311423437936,"time":349.8142857142857,"cost":0.2650234285714286},"sol-low":{"dino":0.3492131190640586,"time":467.7,"cost":0.2848302857142858},"sol-medium":{"dino":0.4081249684095383,"time":495.7,"cost":0.3026091428571429},"astra-none":{"dino":0.5185926258563995,"time":503.9571428571429,"cost":0.4934571428571428},"astra-low":{"dino":0.4750159042222159,"time":539.8285714285714,"cost":0.48854},"astra-medium":{"dino":0.5279478643621717,"time":638.4571428571428,"cost":0.5981871428571428}},"CA-1M":{"qwen-xhigh-harness":{"dino":0.3915335908532143,"time":746.9100000000001,"cost":0.1388244352878401},"qwen-xhigh":{"dino":0.1336088161915541,"time":1663.24,"cost":0.1796002994011976},"sol-none":{"dino":0.387359057366848,"time":397.06,"cost":0.3120024},"sol-low":{"dino":0.415531762316823,"time":223.48,"cost":0.232542},"sol-medium":{"dino":0.4110262960195541,"time":315.11,"cost":0.2575924},"astra-none":{"dino":0.5559729784727097,"time":692.61,"cost":0.559533},"astra-low":{"dino":0.5518090337514877,"time":572.28,"cost":0.452853},"astra-medium":{"dino":0.5570222109556198,"time":554.52,"cost":0.431988}},"ScanNet":{"qwen-xhigh-harness":{"dino":0.3805277142673731,"time":854.6133333333332,"cost":0.1130939111875259},"qwen-xhigh":{"dino":0.2403283049662908,"time":1367.06,"cost":0.1462679788936977},"sol-none":{"dino":0.4474447170893351,"time":362.4666666666666,"cost":0.2888845333333333},"sol-low":{"dino":0.3820285396029552,"time":313.9,"cost":0.2464853333333333},"sol-medium":{"dino":0.3748224791139364,"time":413.42,"cost":0.311256},"astra-none":{"dino":0.5903549750645956,"time":406.6066666666667,"cost":0.3726746666666667},"astra-low":{"dino":0.5959333002567291,"time":394.72,"cost":0.3829966666666667},"astra-medium":{"dino":0.5791741490364075,"time":387.46,"cost":0.36472}}}</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dirty="0"/>
              <a:t>Sources: user-provided arkitscenes_comparison(1).xlsx, ca1m_comparison(1).xlsx, scannet_comparison(1).xlsx; first worksheet, E4:E11 DINOv2-S, F4:F11 seconds per scene, J4:J11 equivalent USD per scene. Aggregation: unweighted arithmetic mean of the three dataset means; sample counts unavailable. Qwen uses xhigh; GPT-sol and GPT-astra use none. No uncertainty estimates or significance tests supplied. Cost is the supplied workbook equivalent, not a current API price. Icons: existing local SVG assets from https://raw.githubusercontent.com/lobehub/lobe-icons/master/packages/static-svg/icons/openai.svg and https://raw.githubusercontent.com/lobehub/lobe-icons/master/packages/static-svg/icons/qwen.svg. Actual data: {"ARKitScenes":{"qwen-xhigh-harness":{"dino":0.3381975697619574,"time":798.9571428571428,"cost":0.1589285502545122},"qwen-xhigh":{"dino":0.2191854092691626,"time":1501.785714285714,"cost":0.1082594499826373},"sol-none":{"dino":0.3606311423437936,"time":349.8142857142857,"cost":0.2650234285714286},"sol-low":{"dino":0.3492131190640586,"time":467.7,"cost":0.2848302857142858},"sol-medium":{"dino":0.4081249684095383,"time":495.7,"cost":0.3026091428571429},"astra-none":{"dino":0.5185926258563995,"time":503.9571428571429,"cost":0.4934571428571428},"astra-low":{"dino":0.4750159042222159,"time":539.8285714285714,"cost":0.48854},"astra-medium":{"dino":0.5279478643621717,"time":638.4571428571428,"cost":0.5981871428571428}},"CA-1M":{"qwen-xhigh-harness":{"dino":0.3915335908532143,"time":746.9100000000001,"cost":0.1388244352878401},"qwen-xhigh":{"dino":0.1336088161915541,"time":1663.24,"cost":0.1796002994011976},"sol-none":{"dino":0.387359057366848,"time":397.06,"cost":0.3120024},"sol-low":{"dino":0.415531762316823,"time":223.48,"cost":0.232542},"sol-medium":{"dino":0.4110262960195541,"time":315.11,"cost":0.2575924},"astra-none":{"dino":0.5559729784727097,"time":692.61,"cost":0.559533},"astra-low":{"dino":0.5518090337514877,"time":572.28,"cost":0.452853},"astra-medium":{"dino":0.5570222109556198,"time":554.52,"cost":0.431988}},"ScanNet":{"qwen-xhigh-harness":{"dino":0.3805277142673731,"time":854.6133333333332,"cost":0.1130939111875259},"qwen-xhigh":{"dino":0.2403283049662908,"time":1367.06,"cost":0.1462679788936977},"sol-none":{"dino":0.4474447170893351,"time":362.4666666666666,"cost":0.2888845333333333},"sol-low":{"dino":0.3820285396029552,"time":313.9,"cost":0.2464853333333333},"sol-medium":{"dino":0.3748224791139364,"time":413.42,"cost":0.311256},"astra-none":{"dino":0.5903549750645956,"time":406.6066666666667,"cost":0.3726746666666667},"astra-low":{"dino":0.5959333002567291,"time":394.72,"cost":0.3829966666666667},"astra-medium":{"dino":0.5791741490364075,"time":387.46,"cost":0.36472}}}</a:t>
            </a:r>
          </a:p>
          <a:p>
            <a:r>
              <a:rPr dirty="0"/>
              <a:t>Added Opus and Gemini series. Source: user-provided comparison table PNG. Similarity is the unweighted arithmetic mean of </a:t>
            </a:r>
            <a:r>
              <a:rPr dirty="0" err="1"/>
              <a:t>ScanNet</a:t>
            </a:r>
            <a:r>
              <a:rPr dirty="0"/>
              <a:t>, CA-1M and </a:t>
            </a:r>
            <a:r>
              <a:rPr dirty="0" err="1"/>
              <a:t>ARKitScenes</a:t>
            </a:r>
            <a:r>
              <a:rPr dirty="0"/>
              <a:t> DINOv2-S, using displayed three-decimal values. Time and cost are illustrative estimates requested by the user, not measurements or API prices. Same-effort Opus costs are above Sol and below Astra on the existing chart. Logo silhouettes extracted from the supplied table. Color intensity and logo size increase with reasoning effort, with model-specific hue families. Added values: [{"model": "Opus", "effort": "None", "dino": [0.398, 0.423, 0.356], "time": 700, "cost": 0.33, "color": "8995A2", "size": 24, "mean": 0.39233333333333337}, {"model": "Opus", "effort": "Low", "dino": [0.416, 0.419, 0.391], "time": 930, "cost": 0.36, "color": "E6BA96", "size": 29, "mean": 0.4086666666666667}, {"model": "Opus", "effort": "Medium", "dino": [0.444, 0.432, 0.409], "time": 1170, "cost": 0.39, "color": "D89859", "size": 35, "mean": 0.4283333333333333}, {"model": "Opus", "effort": "High", "dino": [0.438, 0.441, 0.417], "time": 1430, "cost": 0.415, "color": "AC5A24", "size": 41, "mean": 0.432}, {"model": "Gemini", "effort": "Low", "dino": [0.337, 0.341, 0.336], "time": 90, "cost": 0.025, "color": "A5B7E7", "size": 25, "mean": 0.338}, {"model": "Gemini", "effort": "Medium", "dino": [0.361, 0.358, 0.334], "time": 190, "cost": 0.055, "color": "708ECF", "size": 31, "mean": 0.351}, {"model": "Gemini", "effort": "High", "dino": [0.358, 0.365, 0.341], "time": 300, "cost": 0.085, "color": "3D59A7", "size": 37, "mean": 0.3546666666666667}]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ptos"/>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SceneEvolve is the method name supplied by the user. Single-image setting and frozen student / teacher-free inference are described in related_work.tex, lines 19 and 29-31, and paper_draft_zh.md. Reference images and scene renders come from the local ref/ref and results/results/qwen-xhigh-adsl-*-15/camera_renders folders. Six qualitative examples are selected and are not a random sample. Chart values are recomputed from outputs/visual_comparison/candidates.json, originally matched from evaluations/*.json. Common valid scene set is the 37 cases shared by astra-medium, sol-medium, qwen-xhigh, and qwen-xhigh-adsl: ARKitScenes n=13, CA1M n=12, ScanNet n=12. Comparison shown is qwen-xhigh versus qwen-xhigh-adsl, both xhigh. Failures are excluded, so these are conditional quality results, not all-task averages or success rates. Pooled DINOv2 0.21305445173906312 versus 0.3309093301461355; relative increase 55.3%. No speed, cost, or simulation-readiness claim is made.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35F45-B811-1A3D-4A91-6221F5C4A56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6E05FE6-CD45-D6D1-D3AE-788588461D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46D83E-4175-4B5A-13EF-6E06549549A7}"/>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290D67C7-F731-6E54-B188-45BAACC188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5267A6-5E1E-2F72-4EF3-4C6BE9F7DE11}"/>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3768258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B81D91-D161-C4D4-4EC7-A8A2C739A33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63CB41-2098-5567-A72B-FEB879A0A8D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D2EB65-B773-91B4-7909-CAC863D93804}"/>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9CB45ED1-3CFF-ED0F-FA64-9383280522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D795F9-1732-50E9-19C5-0DC1DB142655}"/>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516401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32131-32A9-AF1C-3E91-DA51EC61FBD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6BA77BE-CD91-C52D-3D1A-033A859487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22205B-ED09-FBAE-5597-91F3E4825E2D}"/>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57C633A6-BD39-147B-E5B2-95279B46D7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B821AD-7F9E-2953-4C41-E6C4EA923999}"/>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1332562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149AD-E218-699E-C615-92004FC384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79F42A-B2DF-2DE9-D8A0-18E79039814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2DF0AC4-E53F-AA9A-280B-BE1C8701A81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F3EA206-38A9-AD41-1C8B-18C4C763B721}"/>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5267F614-8BA1-C1B9-32E4-574559E740B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66850D-3A3F-025D-BFB5-AEB18F405265}"/>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2768027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947280-0B00-9881-BE00-4980EC71475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2E41FAA-627A-C935-5C81-210707DB3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FE024A6-42C7-67DF-64FB-F766B42A40D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54FC698-D8DE-5E4C-289F-D473DDF27E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F63031D-C23A-3B09-70A4-DC26FAC6609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217534C-57BA-D414-C328-9DCACE3F1E53}"/>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8" name="页脚占位符 7">
            <a:extLst>
              <a:ext uri="{FF2B5EF4-FFF2-40B4-BE49-F238E27FC236}">
                <a16:creationId xmlns:a16="http://schemas.microsoft.com/office/drawing/2014/main" id="{5D9AF079-A146-F555-4536-4E7F8486AF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22AAF4E-5C33-09AD-B2EE-7C84FB8CB6D6}"/>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3952167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A2F2D-4E3A-3A56-F4B6-4CD77CA071C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71A382B-DFD9-91E1-60BF-0EF62ADB952F}"/>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4" name="页脚占位符 3">
            <a:extLst>
              <a:ext uri="{FF2B5EF4-FFF2-40B4-BE49-F238E27FC236}">
                <a16:creationId xmlns:a16="http://schemas.microsoft.com/office/drawing/2014/main" id="{433377A9-EBFC-47FF-AF93-AB411EFD53D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07F2CE4-0D0A-D864-EF49-619364797A69}"/>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1459656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BD6BE0E-353A-D8CC-02F3-95048C78E15B}"/>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3" name="页脚占位符 2">
            <a:extLst>
              <a:ext uri="{FF2B5EF4-FFF2-40B4-BE49-F238E27FC236}">
                <a16:creationId xmlns:a16="http://schemas.microsoft.com/office/drawing/2014/main" id="{56B135D5-8234-4D1B-2BE6-B525EB99B0D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A79405-26E2-6944-0912-A0ABD6CF7729}"/>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463723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0E164-4E13-B83B-105B-58DFC2653E1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4CBE534-86B8-BA5C-9C29-A6729E6AA3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FCCA58A-1ED0-9B1F-C360-63A86ADB95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48B2614-0D20-866D-0117-B96865902C25}"/>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9A764FF6-D02E-A88C-BC7E-35FBF4710B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EFA813-D93D-6A23-5107-2B58C4E00E92}"/>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200166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3376E4-89E4-20DD-FCC8-F5E37918A85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FC4FA7B-7714-799E-9AE7-3ABCCA466DA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85EB6DC-E393-92F8-FE0E-CAFA3D3F7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7AD823C-B7FE-A33E-C063-4D445A358B43}"/>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45E8EC26-0CAC-A331-7FE6-FB7F6819D6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FCC281-5D17-1247-42DC-3A0E06851293}"/>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2597592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81343-CD4B-59A1-5E2A-004C6FFCE5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E894111-6839-2C28-C180-5987D69E650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A88BA1-D747-4E96-3614-0421AE624A54}"/>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6FA73ED6-E329-485D-2020-3456211896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7A4443-498D-1DC9-DA86-DAF60453FC04}"/>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21561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30E7669-9CE1-CBB6-6437-8A40BD53DA6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FF51D8-0BEA-AE2D-FE25-F38185B5FE4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5ED931-95F5-4FD9-3545-20474A1FB719}"/>
              </a:ext>
            </a:extLst>
          </p:cNvPr>
          <p:cNvSpPr>
            <a:spLocks noGrp="1"/>
          </p:cNvSpPr>
          <p:nvPr>
            <p:ph type="dt" sz="half" idx="10"/>
          </p:nvPr>
        </p:nvSpPr>
        <p:spPr/>
        <p:txBody>
          <a:body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6408AA90-151F-C74A-1DA9-3A25BCEF5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1C8CD2-C96F-50E6-DA87-9B87B8CEE2A6}"/>
              </a:ext>
            </a:extLst>
          </p:cNvPr>
          <p:cNvSpPr>
            <a:spLocks noGrp="1"/>
          </p:cNvSpPr>
          <p:nvPr>
            <p:ph type="sldNum" sz="quarter" idx="12"/>
          </p:nvPr>
        </p:nvSpPr>
        <p:spPr/>
        <p:txBody>
          <a:body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305186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7953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6D12F92-AF9B-323E-A17E-2AC743183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0B08755-E788-D70A-1E58-52749A5E83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C214F69-A10C-2404-5BD5-52A8823FF6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FDDE76-EEC8-4D0D-A7D1-6F26BB3EEEDA}"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5F524447-3559-58EB-374A-679DA89DD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28B765D-93B1-6A5E-E44C-BD7FF19ABE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64C774-D1B9-4107-9EFD-41A3A6F32B7E}" type="slidenum">
              <a:rPr lang="zh-CN" altLang="en-US" smtClean="0"/>
              <a:t>‹#›</a:t>
            </a:fld>
            <a:endParaRPr lang="zh-CN" altLang="en-US"/>
          </a:p>
        </p:txBody>
      </p:sp>
    </p:spTree>
    <p:extLst>
      <p:ext uri="{BB962C8B-B14F-4D97-AF65-F5344CB8AC3E}">
        <p14:creationId xmlns:p14="http://schemas.microsoft.com/office/powerpoint/2010/main" val="4046423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chart" Target="../charts/chart1.xml"/><Relationship Id="rId7" Type="http://schemas.openxmlformats.org/officeDocument/2006/relationships/image" Target="../media/image3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image" Target="../media/image39.svg"/></Relationships>
</file>

<file path=ppt/slides/_rels/slide3.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chart" Target="../charts/chart7.xml"/><Relationship Id="rId11" Type="http://schemas.openxmlformats.org/officeDocument/2006/relationships/chart" Target="../charts/chart12.xml"/><Relationship Id="rId5" Type="http://schemas.openxmlformats.org/officeDocument/2006/relationships/chart" Target="../charts/chart6.xml"/><Relationship Id="rId10" Type="http://schemas.openxmlformats.org/officeDocument/2006/relationships/chart" Target="../charts/chart11.xml"/><Relationship Id="rId4" Type="http://schemas.openxmlformats.org/officeDocument/2006/relationships/chart" Target="../charts/chart5.xml"/><Relationship Id="rId9" Type="http://schemas.openxmlformats.org/officeDocument/2006/relationships/chart" Target="../charts/chart10.xml"/></Relationships>
</file>

<file path=ppt/slides/_rels/slide4.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40.svg"/><Relationship Id="rId7" Type="http://schemas.openxmlformats.org/officeDocument/2006/relationships/image" Target="../media/image44.sv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sv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svg"/><Relationship Id="rId9" Type="http://schemas.openxmlformats.org/officeDocument/2006/relationships/image" Target="../media/image46.svg"/><Relationship Id="rId14" Type="http://schemas.openxmlformats.org/officeDocument/2006/relationships/image" Target="../media/image51.pn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jpeg"/><Relationship Id="rId3" Type="http://schemas.openxmlformats.org/officeDocument/2006/relationships/image" Target="../media/image55.png"/><Relationship Id="rId7" Type="http://schemas.openxmlformats.org/officeDocument/2006/relationships/image" Target="../media/image59.jpeg"/><Relationship Id="rId12"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8.png"/><Relationship Id="rId11" Type="http://schemas.openxmlformats.org/officeDocument/2006/relationships/image" Target="../media/image63.jpeg"/><Relationship Id="rId5" Type="http://schemas.openxmlformats.org/officeDocument/2006/relationships/image" Target="../media/image57.png"/><Relationship Id="rId15" Type="http://schemas.openxmlformats.org/officeDocument/2006/relationships/chart" Target="../charts/chart13.xml"/><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jpeg"/><Relationship Id="rId1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ference">
            <a:extLst>
              <a:ext uri="{FF2B5EF4-FFF2-40B4-BE49-F238E27FC236}">
                <a16:creationId xmlns:a16="http://schemas.microsoft.com/office/drawing/2014/main" id="{1C37E899-A99B-4A5E-88E8-42C22938FD17}"/>
              </a:ext>
            </a:extLst>
          </p:cNvPr>
          <p:cNvSpPr>
            <a:spLocks noGrp="1"/>
          </p:cNvSpPr>
          <p:nvPr/>
        </p:nvSpPr>
        <p:spPr>
          <a:xfrm>
            <a:off x="-973453" y="-243916"/>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b="1" dirty="0">
                <a:solidFill>
                  <a:srgbClr val="000000"/>
                </a:solidFill>
                <a:latin typeface="Times New Roman"/>
                <a:ea typeface="Times New Roman"/>
                <a:cs typeface="Times New Roman"/>
              </a:rPr>
              <a:t>Reference</a:t>
            </a:r>
          </a:p>
        </p:txBody>
      </p:sp>
      <p:sp>
        <p:nvSpPr>
          <p:cNvPr id="2" name="GPT-6-Astra">
            <a:extLst>
              <a:ext uri="{FF2B5EF4-FFF2-40B4-BE49-F238E27FC236}">
                <a16:creationId xmlns:a16="http://schemas.microsoft.com/office/drawing/2014/main" id="{054F2D7D-AF9E-407B-8DFA-914CCF4FED92}"/>
              </a:ext>
            </a:extLst>
          </p:cNvPr>
          <p:cNvSpPr>
            <a:spLocks noGrp="1"/>
          </p:cNvSpPr>
          <p:nvPr/>
        </p:nvSpPr>
        <p:spPr>
          <a:xfrm>
            <a:off x="761760" y="-239446"/>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b="1" dirty="0">
                <a:solidFill>
                  <a:srgbClr val="000000"/>
                </a:solidFill>
                <a:latin typeface="Times New Roman"/>
                <a:ea typeface="Times New Roman"/>
                <a:cs typeface="Times New Roman"/>
              </a:rPr>
              <a:t>GPT-6-Astra</a:t>
            </a:r>
          </a:p>
        </p:txBody>
      </p:sp>
      <p:sp>
        <p:nvSpPr>
          <p:cNvPr id="3" name="GPT-5.6-Sol">
            <a:extLst>
              <a:ext uri="{FF2B5EF4-FFF2-40B4-BE49-F238E27FC236}">
                <a16:creationId xmlns:a16="http://schemas.microsoft.com/office/drawing/2014/main" id="{E03C1F6C-22A0-4707-98F7-3BCFA2FDA03B}"/>
              </a:ext>
            </a:extLst>
          </p:cNvPr>
          <p:cNvSpPr>
            <a:spLocks noGrp="1"/>
          </p:cNvSpPr>
          <p:nvPr/>
        </p:nvSpPr>
        <p:spPr>
          <a:xfrm>
            <a:off x="2527947" y="-252698"/>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b="1" dirty="0">
                <a:solidFill>
                  <a:srgbClr val="000000"/>
                </a:solidFill>
                <a:latin typeface="Times New Roman"/>
                <a:ea typeface="Times New Roman"/>
                <a:cs typeface="Times New Roman"/>
              </a:rPr>
              <a:t>GPT-5.6-Sol</a:t>
            </a:r>
          </a:p>
        </p:txBody>
      </p:sp>
      <p:sp>
        <p:nvSpPr>
          <p:cNvPr id="4" name="Qwen-3.8-27B">
            <a:extLst>
              <a:ext uri="{FF2B5EF4-FFF2-40B4-BE49-F238E27FC236}">
                <a16:creationId xmlns:a16="http://schemas.microsoft.com/office/drawing/2014/main" id="{FC69F116-A285-43FD-8325-2BBBE14A6AB5}"/>
              </a:ext>
            </a:extLst>
          </p:cNvPr>
          <p:cNvSpPr>
            <a:spLocks noGrp="1"/>
          </p:cNvSpPr>
          <p:nvPr/>
        </p:nvSpPr>
        <p:spPr>
          <a:xfrm>
            <a:off x="4280881" y="-252698"/>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b="1" dirty="0">
                <a:solidFill>
                  <a:srgbClr val="000000"/>
                </a:solidFill>
                <a:latin typeface="Times New Roman"/>
                <a:ea typeface="Times New Roman"/>
                <a:cs typeface="Times New Roman"/>
              </a:rPr>
              <a:t>Qwen3.8-27B</a:t>
            </a:r>
          </a:p>
        </p:txBody>
      </p:sp>
      <p:sp>
        <p:nvSpPr>
          <p:cNvPr id="5" name="Qwen-3.8-27B + Ours">
            <a:extLst>
              <a:ext uri="{FF2B5EF4-FFF2-40B4-BE49-F238E27FC236}">
                <a16:creationId xmlns:a16="http://schemas.microsoft.com/office/drawing/2014/main" id="{874B2A3D-BB9D-48B0-9DAF-4FF7121B9361}"/>
              </a:ext>
            </a:extLst>
          </p:cNvPr>
          <p:cNvSpPr>
            <a:spLocks noGrp="1"/>
          </p:cNvSpPr>
          <p:nvPr/>
        </p:nvSpPr>
        <p:spPr>
          <a:xfrm>
            <a:off x="6161253" y="-258986"/>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lang="en-US" altLang="zh-CN" b="1" dirty="0">
                <a:solidFill>
                  <a:srgbClr val="000000"/>
                </a:solidFill>
                <a:latin typeface="Times New Roman"/>
                <a:ea typeface="Times New Roman"/>
                <a:cs typeface="Times New Roman"/>
              </a:rPr>
              <a:t>Qwen3.8-27B</a:t>
            </a:r>
            <a:r>
              <a:rPr lang="zh-CN" altLang="en-US" b="1" dirty="0">
                <a:solidFill>
                  <a:srgbClr val="000000"/>
                </a:solidFill>
                <a:latin typeface="Times New Roman"/>
                <a:ea typeface="Times New Roman"/>
                <a:cs typeface="Times New Roman"/>
              </a:rPr>
              <a:t> </a:t>
            </a:r>
            <a:r>
              <a:rPr lang="en-US" altLang="zh-CN" b="1" dirty="0">
                <a:solidFill>
                  <a:srgbClr val="000000"/>
                </a:solidFill>
                <a:latin typeface="Times New Roman"/>
                <a:ea typeface="Times New Roman"/>
                <a:cs typeface="Times New Roman"/>
              </a:rPr>
              <a:t>w/</a:t>
            </a:r>
            <a:r>
              <a:rPr lang="zh-CN" altLang="en-US" b="1" dirty="0">
                <a:solidFill>
                  <a:srgbClr val="000000"/>
                </a:solidFill>
                <a:latin typeface="Times New Roman"/>
                <a:ea typeface="Times New Roman"/>
                <a:cs typeface="Times New Roman"/>
              </a:rPr>
              <a:t> </a:t>
            </a:r>
            <a:r>
              <a:rPr b="1" dirty="0">
                <a:solidFill>
                  <a:srgbClr val="000000"/>
                </a:solidFill>
                <a:latin typeface="Times New Roman"/>
                <a:ea typeface="Times New Roman"/>
                <a:cs typeface="Times New Roman"/>
              </a:rPr>
              <a:t>Ours</a:t>
            </a:r>
          </a:p>
        </p:txBody>
      </p:sp>
      <p:pic>
        <p:nvPicPr>
          <p:cNvPr id="36" name="图片 35"/>
          <p:cNvPicPr>
            <a:picLocks noChangeAspect="1"/>
          </p:cNvPicPr>
          <p:nvPr/>
        </p:nvPicPr>
        <p:blipFill>
          <a:blip r:embed="rId3"/>
          <a:stretch/>
        </p:blipFill>
        <p:spPr>
          <a:xfrm>
            <a:off x="-991174" y="-6199"/>
            <a:ext cx="1748465" cy="1311349"/>
          </a:xfrm>
          <a:prstGeom prst="rect">
            <a:avLst/>
          </a:prstGeom>
        </p:spPr>
      </p:pic>
      <p:pic>
        <p:nvPicPr>
          <p:cNvPr id="37" name="图片 36"/>
          <p:cNvPicPr>
            <a:picLocks noChangeAspect="1"/>
          </p:cNvPicPr>
          <p:nvPr/>
        </p:nvPicPr>
        <p:blipFill>
          <a:blip r:embed="rId4"/>
          <a:stretch/>
        </p:blipFill>
        <p:spPr>
          <a:xfrm>
            <a:off x="775012" y="-6199"/>
            <a:ext cx="1748465" cy="1311349"/>
          </a:xfrm>
          <a:prstGeom prst="rect">
            <a:avLst/>
          </a:prstGeom>
        </p:spPr>
      </p:pic>
      <p:pic>
        <p:nvPicPr>
          <p:cNvPr id="38" name="图片 37"/>
          <p:cNvPicPr>
            <a:picLocks noChangeAspect="1"/>
          </p:cNvPicPr>
          <p:nvPr/>
        </p:nvPicPr>
        <p:blipFill>
          <a:blip r:embed="rId5"/>
          <a:stretch/>
        </p:blipFill>
        <p:spPr>
          <a:xfrm>
            <a:off x="2541199" y="-6199"/>
            <a:ext cx="1748465" cy="1311349"/>
          </a:xfrm>
          <a:prstGeom prst="rect">
            <a:avLst/>
          </a:prstGeom>
        </p:spPr>
      </p:pic>
      <p:pic>
        <p:nvPicPr>
          <p:cNvPr id="39" name="图片 38"/>
          <p:cNvPicPr>
            <a:picLocks noChangeAspect="1"/>
          </p:cNvPicPr>
          <p:nvPr/>
        </p:nvPicPr>
        <p:blipFill>
          <a:blip r:embed="rId6"/>
          <a:stretch/>
        </p:blipFill>
        <p:spPr>
          <a:xfrm>
            <a:off x="4307385" y="-6199"/>
            <a:ext cx="1748465" cy="1311349"/>
          </a:xfrm>
          <a:prstGeom prst="rect">
            <a:avLst/>
          </a:prstGeom>
        </p:spPr>
      </p:pic>
      <p:pic>
        <p:nvPicPr>
          <p:cNvPr id="40" name="图片 39"/>
          <p:cNvPicPr>
            <a:picLocks noChangeAspect="1"/>
          </p:cNvPicPr>
          <p:nvPr/>
        </p:nvPicPr>
        <p:blipFill>
          <a:blip r:embed="rId7"/>
          <a:stretch/>
        </p:blipFill>
        <p:spPr>
          <a:xfrm>
            <a:off x="6073571" y="-6199"/>
            <a:ext cx="1748465" cy="1311349"/>
          </a:xfrm>
          <a:prstGeom prst="rect">
            <a:avLst/>
          </a:prstGeom>
        </p:spPr>
      </p:pic>
      <p:pic>
        <p:nvPicPr>
          <p:cNvPr id="41" name="图片 40"/>
          <p:cNvPicPr>
            <a:picLocks noChangeAspect="1"/>
          </p:cNvPicPr>
          <p:nvPr/>
        </p:nvPicPr>
        <p:blipFill>
          <a:blip r:embed="rId8"/>
          <a:stretch/>
        </p:blipFill>
        <p:spPr>
          <a:xfrm>
            <a:off x="-991174" y="1322871"/>
            <a:ext cx="1748465" cy="1311349"/>
          </a:xfrm>
          <a:prstGeom prst="rect">
            <a:avLst/>
          </a:prstGeom>
        </p:spPr>
      </p:pic>
      <p:pic>
        <p:nvPicPr>
          <p:cNvPr id="42" name="图片 41"/>
          <p:cNvPicPr>
            <a:picLocks noChangeAspect="1"/>
          </p:cNvPicPr>
          <p:nvPr/>
        </p:nvPicPr>
        <p:blipFill>
          <a:blip r:embed="rId9"/>
          <a:stretch/>
        </p:blipFill>
        <p:spPr>
          <a:xfrm>
            <a:off x="775012" y="1322871"/>
            <a:ext cx="1748465" cy="1311349"/>
          </a:xfrm>
          <a:prstGeom prst="rect">
            <a:avLst/>
          </a:prstGeom>
        </p:spPr>
      </p:pic>
      <p:pic>
        <p:nvPicPr>
          <p:cNvPr id="43" name="图片 42"/>
          <p:cNvPicPr>
            <a:picLocks noChangeAspect="1"/>
          </p:cNvPicPr>
          <p:nvPr/>
        </p:nvPicPr>
        <p:blipFill>
          <a:blip r:embed="rId10"/>
          <a:stretch/>
        </p:blipFill>
        <p:spPr>
          <a:xfrm>
            <a:off x="2541199" y="1322871"/>
            <a:ext cx="1748465" cy="1311349"/>
          </a:xfrm>
          <a:prstGeom prst="rect">
            <a:avLst/>
          </a:prstGeom>
        </p:spPr>
      </p:pic>
      <p:pic>
        <p:nvPicPr>
          <p:cNvPr id="44" name="图片 43"/>
          <p:cNvPicPr>
            <a:picLocks noChangeAspect="1"/>
          </p:cNvPicPr>
          <p:nvPr/>
        </p:nvPicPr>
        <p:blipFill>
          <a:blip r:embed="rId11"/>
          <a:stretch/>
        </p:blipFill>
        <p:spPr>
          <a:xfrm>
            <a:off x="4307385" y="1322871"/>
            <a:ext cx="1748465" cy="1311349"/>
          </a:xfrm>
          <a:prstGeom prst="rect">
            <a:avLst/>
          </a:prstGeom>
        </p:spPr>
      </p:pic>
      <p:pic>
        <p:nvPicPr>
          <p:cNvPr id="45" name="图片 44"/>
          <p:cNvPicPr>
            <a:picLocks noChangeAspect="1"/>
          </p:cNvPicPr>
          <p:nvPr/>
        </p:nvPicPr>
        <p:blipFill>
          <a:blip r:embed="rId12"/>
          <a:stretch/>
        </p:blipFill>
        <p:spPr>
          <a:xfrm>
            <a:off x="6073571" y="1322871"/>
            <a:ext cx="1748465" cy="1311349"/>
          </a:xfrm>
          <a:prstGeom prst="rect">
            <a:avLst/>
          </a:prstGeom>
        </p:spPr>
      </p:pic>
      <p:pic>
        <p:nvPicPr>
          <p:cNvPr id="46" name="图片 45"/>
          <p:cNvPicPr>
            <a:picLocks noChangeAspect="1"/>
          </p:cNvPicPr>
          <p:nvPr/>
        </p:nvPicPr>
        <p:blipFill>
          <a:blip r:embed="rId13"/>
          <a:stretch/>
        </p:blipFill>
        <p:spPr>
          <a:xfrm>
            <a:off x="-991174" y="2651941"/>
            <a:ext cx="1748465" cy="1311349"/>
          </a:xfrm>
          <a:prstGeom prst="rect">
            <a:avLst/>
          </a:prstGeom>
        </p:spPr>
      </p:pic>
      <p:pic>
        <p:nvPicPr>
          <p:cNvPr id="47" name="图片 46"/>
          <p:cNvPicPr>
            <a:picLocks noChangeAspect="1"/>
          </p:cNvPicPr>
          <p:nvPr/>
        </p:nvPicPr>
        <p:blipFill>
          <a:blip r:embed="rId14"/>
          <a:stretch/>
        </p:blipFill>
        <p:spPr>
          <a:xfrm>
            <a:off x="775012" y="2651941"/>
            <a:ext cx="1748465" cy="1311349"/>
          </a:xfrm>
          <a:prstGeom prst="rect">
            <a:avLst/>
          </a:prstGeom>
        </p:spPr>
      </p:pic>
      <p:pic>
        <p:nvPicPr>
          <p:cNvPr id="48" name="图片 47"/>
          <p:cNvPicPr>
            <a:picLocks noChangeAspect="1"/>
          </p:cNvPicPr>
          <p:nvPr/>
        </p:nvPicPr>
        <p:blipFill>
          <a:blip r:embed="rId15"/>
          <a:stretch/>
        </p:blipFill>
        <p:spPr>
          <a:xfrm>
            <a:off x="2541199" y="2651941"/>
            <a:ext cx="1748465" cy="1311349"/>
          </a:xfrm>
          <a:prstGeom prst="rect">
            <a:avLst/>
          </a:prstGeom>
        </p:spPr>
      </p:pic>
      <p:pic>
        <p:nvPicPr>
          <p:cNvPr id="49" name="图片 48"/>
          <p:cNvPicPr>
            <a:picLocks noChangeAspect="1"/>
          </p:cNvPicPr>
          <p:nvPr/>
        </p:nvPicPr>
        <p:blipFill>
          <a:blip r:embed="rId16"/>
          <a:stretch/>
        </p:blipFill>
        <p:spPr>
          <a:xfrm>
            <a:off x="6073571" y="2651940"/>
            <a:ext cx="1748465" cy="1311349"/>
          </a:xfrm>
          <a:prstGeom prst="rect">
            <a:avLst/>
          </a:prstGeom>
        </p:spPr>
      </p:pic>
      <p:pic>
        <p:nvPicPr>
          <p:cNvPr id="50" name="图片 49"/>
          <p:cNvPicPr>
            <a:picLocks noChangeAspect="1"/>
          </p:cNvPicPr>
          <p:nvPr/>
        </p:nvPicPr>
        <p:blipFill>
          <a:blip r:embed="rId17"/>
          <a:stretch/>
        </p:blipFill>
        <p:spPr>
          <a:xfrm>
            <a:off x="4302916" y="2651939"/>
            <a:ext cx="1748465" cy="1311349"/>
          </a:xfrm>
          <a:prstGeom prst="rect">
            <a:avLst/>
          </a:prstGeom>
        </p:spPr>
      </p:pic>
      <p:pic>
        <p:nvPicPr>
          <p:cNvPr id="51" name="图片 50"/>
          <p:cNvPicPr>
            <a:picLocks noChangeAspect="1"/>
          </p:cNvPicPr>
          <p:nvPr/>
        </p:nvPicPr>
        <p:blipFill>
          <a:blip r:embed="rId18"/>
          <a:stretch/>
        </p:blipFill>
        <p:spPr>
          <a:xfrm>
            <a:off x="-991174" y="3981011"/>
            <a:ext cx="1748465" cy="1311349"/>
          </a:xfrm>
          <a:prstGeom prst="rect">
            <a:avLst/>
          </a:prstGeom>
        </p:spPr>
      </p:pic>
      <p:pic>
        <p:nvPicPr>
          <p:cNvPr id="52" name="图片 51"/>
          <p:cNvPicPr>
            <a:picLocks noChangeAspect="1"/>
          </p:cNvPicPr>
          <p:nvPr/>
        </p:nvPicPr>
        <p:blipFill>
          <a:blip r:embed="rId19"/>
          <a:stretch/>
        </p:blipFill>
        <p:spPr>
          <a:xfrm>
            <a:off x="775012" y="3981011"/>
            <a:ext cx="1748465" cy="1311349"/>
          </a:xfrm>
          <a:prstGeom prst="rect">
            <a:avLst/>
          </a:prstGeom>
        </p:spPr>
      </p:pic>
      <p:pic>
        <p:nvPicPr>
          <p:cNvPr id="53" name="图片 52"/>
          <p:cNvPicPr>
            <a:picLocks noChangeAspect="1"/>
          </p:cNvPicPr>
          <p:nvPr/>
        </p:nvPicPr>
        <p:blipFill>
          <a:blip r:embed="rId20"/>
          <a:stretch/>
        </p:blipFill>
        <p:spPr>
          <a:xfrm>
            <a:off x="2541199" y="3981011"/>
            <a:ext cx="1748465" cy="1311349"/>
          </a:xfrm>
          <a:prstGeom prst="rect">
            <a:avLst/>
          </a:prstGeom>
        </p:spPr>
      </p:pic>
      <p:pic>
        <p:nvPicPr>
          <p:cNvPr id="54" name="图片 53"/>
          <p:cNvPicPr>
            <a:picLocks noChangeAspect="1"/>
          </p:cNvPicPr>
          <p:nvPr/>
        </p:nvPicPr>
        <p:blipFill>
          <a:blip r:embed="rId21"/>
          <a:stretch/>
        </p:blipFill>
        <p:spPr>
          <a:xfrm>
            <a:off x="4307385" y="3981011"/>
            <a:ext cx="1748465" cy="1311349"/>
          </a:xfrm>
          <a:prstGeom prst="rect">
            <a:avLst/>
          </a:prstGeom>
        </p:spPr>
      </p:pic>
      <p:pic>
        <p:nvPicPr>
          <p:cNvPr id="55" name="图片 54"/>
          <p:cNvPicPr>
            <a:picLocks noChangeAspect="1"/>
          </p:cNvPicPr>
          <p:nvPr/>
        </p:nvPicPr>
        <p:blipFill>
          <a:blip r:embed="rId22"/>
          <a:stretch/>
        </p:blipFill>
        <p:spPr>
          <a:xfrm>
            <a:off x="6073571" y="3981011"/>
            <a:ext cx="1748465" cy="1311349"/>
          </a:xfrm>
          <a:prstGeom prst="rect">
            <a:avLst/>
          </a:prstGeom>
        </p:spPr>
      </p:pic>
      <p:pic>
        <p:nvPicPr>
          <p:cNvPr id="56" name="图片 55"/>
          <p:cNvPicPr>
            <a:picLocks noChangeAspect="1"/>
          </p:cNvPicPr>
          <p:nvPr/>
        </p:nvPicPr>
        <p:blipFill>
          <a:blip r:embed="rId23"/>
          <a:stretch/>
        </p:blipFill>
        <p:spPr>
          <a:xfrm>
            <a:off x="-991174" y="5310080"/>
            <a:ext cx="1748465" cy="1311349"/>
          </a:xfrm>
          <a:prstGeom prst="rect">
            <a:avLst/>
          </a:prstGeom>
        </p:spPr>
      </p:pic>
      <p:pic>
        <p:nvPicPr>
          <p:cNvPr id="57" name="图片 56"/>
          <p:cNvPicPr>
            <a:picLocks noChangeAspect="1"/>
          </p:cNvPicPr>
          <p:nvPr/>
        </p:nvPicPr>
        <p:blipFill>
          <a:blip r:embed="rId24"/>
          <a:stretch/>
        </p:blipFill>
        <p:spPr>
          <a:xfrm>
            <a:off x="775012" y="5310080"/>
            <a:ext cx="1748465" cy="1311349"/>
          </a:xfrm>
          <a:prstGeom prst="rect">
            <a:avLst/>
          </a:prstGeom>
        </p:spPr>
      </p:pic>
      <p:pic>
        <p:nvPicPr>
          <p:cNvPr id="58" name="图片 57"/>
          <p:cNvPicPr>
            <a:picLocks noChangeAspect="1"/>
          </p:cNvPicPr>
          <p:nvPr/>
        </p:nvPicPr>
        <p:blipFill>
          <a:blip r:embed="rId25"/>
          <a:stretch/>
        </p:blipFill>
        <p:spPr>
          <a:xfrm>
            <a:off x="2541199" y="5310080"/>
            <a:ext cx="1748465" cy="1311349"/>
          </a:xfrm>
          <a:prstGeom prst="rect">
            <a:avLst/>
          </a:prstGeom>
        </p:spPr>
      </p:pic>
      <p:pic>
        <p:nvPicPr>
          <p:cNvPr id="59" name="图片 58"/>
          <p:cNvPicPr>
            <a:picLocks noChangeAspect="1"/>
          </p:cNvPicPr>
          <p:nvPr/>
        </p:nvPicPr>
        <p:blipFill>
          <a:blip r:embed="rId26"/>
          <a:stretch/>
        </p:blipFill>
        <p:spPr>
          <a:xfrm>
            <a:off x="4307385" y="5310080"/>
            <a:ext cx="1748465" cy="1311349"/>
          </a:xfrm>
          <a:prstGeom prst="rect">
            <a:avLst/>
          </a:prstGeom>
        </p:spPr>
      </p:pic>
      <p:pic>
        <p:nvPicPr>
          <p:cNvPr id="60" name="图片 59"/>
          <p:cNvPicPr>
            <a:picLocks noChangeAspect="1"/>
          </p:cNvPicPr>
          <p:nvPr/>
        </p:nvPicPr>
        <p:blipFill>
          <a:blip r:embed="rId27"/>
          <a:stretch/>
        </p:blipFill>
        <p:spPr>
          <a:xfrm>
            <a:off x="6073571" y="5310080"/>
            <a:ext cx="1748465" cy="1311349"/>
          </a:xfrm>
          <a:prstGeom prst="rect">
            <a:avLst/>
          </a:prstGeom>
        </p:spPr>
      </p:pic>
      <p:pic>
        <p:nvPicPr>
          <p:cNvPr id="7" name="图片 6">
            <a:extLst>
              <a:ext uri="{FF2B5EF4-FFF2-40B4-BE49-F238E27FC236}">
                <a16:creationId xmlns:a16="http://schemas.microsoft.com/office/drawing/2014/main" id="{BFF64429-03C5-A73E-4BC6-26A4F8998699}"/>
              </a:ext>
            </a:extLst>
          </p:cNvPr>
          <p:cNvPicPr>
            <a:picLocks noChangeAspect="1"/>
          </p:cNvPicPr>
          <p:nvPr/>
        </p:nvPicPr>
        <p:blipFill>
          <a:blip r:embed="rId28"/>
          <a:stretch>
            <a:fillRect/>
          </a:stretch>
        </p:blipFill>
        <p:spPr>
          <a:xfrm>
            <a:off x="9650801" y="0"/>
            <a:ext cx="1740059" cy="1311349"/>
          </a:xfrm>
          <a:prstGeom prst="rect">
            <a:avLst/>
          </a:prstGeom>
        </p:spPr>
      </p:pic>
      <p:pic>
        <p:nvPicPr>
          <p:cNvPr id="8" name="图片 7">
            <a:extLst>
              <a:ext uri="{FF2B5EF4-FFF2-40B4-BE49-F238E27FC236}">
                <a16:creationId xmlns:a16="http://schemas.microsoft.com/office/drawing/2014/main" id="{B81D009C-40DB-52C3-E9A5-AE66A911D72B}"/>
              </a:ext>
            </a:extLst>
          </p:cNvPr>
          <p:cNvPicPr>
            <a:picLocks noChangeAspect="1"/>
          </p:cNvPicPr>
          <p:nvPr/>
        </p:nvPicPr>
        <p:blipFill>
          <a:blip r:embed="rId29"/>
          <a:stretch>
            <a:fillRect/>
          </a:stretch>
        </p:blipFill>
        <p:spPr>
          <a:xfrm>
            <a:off x="9644056" y="1329068"/>
            <a:ext cx="1753548" cy="1311349"/>
          </a:xfrm>
          <a:prstGeom prst="rect">
            <a:avLst/>
          </a:prstGeom>
        </p:spPr>
      </p:pic>
      <p:sp>
        <p:nvSpPr>
          <p:cNvPr id="9" name="Qwen-3.8-27B">
            <a:extLst>
              <a:ext uri="{FF2B5EF4-FFF2-40B4-BE49-F238E27FC236}">
                <a16:creationId xmlns:a16="http://schemas.microsoft.com/office/drawing/2014/main" id="{F8021DC1-7F7E-FC35-E1EA-0397EDD044E8}"/>
              </a:ext>
            </a:extLst>
          </p:cNvPr>
          <p:cNvSpPr>
            <a:spLocks noGrp="1"/>
          </p:cNvSpPr>
          <p:nvPr/>
        </p:nvSpPr>
        <p:spPr>
          <a:xfrm>
            <a:off x="9653635" y="-270508"/>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lang="en-US" altLang="zh-CN" b="1" dirty="0">
                <a:solidFill>
                  <a:srgbClr val="000000"/>
                </a:solidFill>
                <a:latin typeface="Times New Roman"/>
                <a:ea typeface="Times New Roman"/>
                <a:cs typeface="Times New Roman"/>
              </a:rPr>
              <a:t>Kimi-K3</a:t>
            </a:r>
            <a:r>
              <a:rPr lang="zh-CN" altLang="en-US" b="1" dirty="0">
                <a:solidFill>
                  <a:srgbClr val="000000"/>
                </a:solidFill>
                <a:latin typeface="Times New Roman"/>
                <a:ea typeface="Times New Roman"/>
                <a:cs typeface="Times New Roman"/>
              </a:rPr>
              <a:t> </a:t>
            </a:r>
            <a:r>
              <a:rPr lang="en-US" altLang="zh-CN" b="1" dirty="0">
                <a:solidFill>
                  <a:srgbClr val="000000"/>
                </a:solidFill>
                <a:latin typeface="Times New Roman"/>
                <a:ea typeface="Times New Roman"/>
                <a:cs typeface="Times New Roman"/>
              </a:rPr>
              <a:t>w/</a:t>
            </a:r>
            <a:r>
              <a:rPr lang="zh-CN" altLang="en-US" b="1" dirty="0">
                <a:solidFill>
                  <a:srgbClr val="000000"/>
                </a:solidFill>
                <a:latin typeface="Times New Roman"/>
                <a:ea typeface="Times New Roman"/>
                <a:cs typeface="Times New Roman"/>
              </a:rPr>
              <a:t> </a:t>
            </a:r>
            <a:r>
              <a:rPr lang="en-US" altLang="zh-CN" b="1" dirty="0">
                <a:solidFill>
                  <a:srgbClr val="000000"/>
                </a:solidFill>
                <a:latin typeface="Times New Roman"/>
                <a:ea typeface="Times New Roman"/>
                <a:cs typeface="Times New Roman"/>
              </a:rPr>
              <a:t>Ours</a:t>
            </a:r>
            <a:endParaRPr b="1" dirty="0">
              <a:solidFill>
                <a:srgbClr val="000000"/>
              </a:solidFill>
              <a:latin typeface="Times New Roman"/>
              <a:ea typeface="Times New Roman"/>
              <a:cs typeface="Times New Roman"/>
            </a:endParaRPr>
          </a:p>
        </p:txBody>
      </p:sp>
      <p:pic>
        <p:nvPicPr>
          <p:cNvPr id="10" name="图片 9">
            <a:extLst>
              <a:ext uri="{FF2B5EF4-FFF2-40B4-BE49-F238E27FC236}">
                <a16:creationId xmlns:a16="http://schemas.microsoft.com/office/drawing/2014/main" id="{88834B01-3A70-FEE8-0E8C-038744E6DB4D}"/>
              </a:ext>
            </a:extLst>
          </p:cNvPr>
          <p:cNvPicPr>
            <a:picLocks noChangeAspect="1"/>
          </p:cNvPicPr>
          <p:nvPr/>
        </p:nvPicPr>
        <p:blipFill>
          <a:blip r:embed="rId30"/>
          <a:stretch>
            <a:fillRect/>
          </a:stretch>
        </p:blipFill>
        <p:spPr>
          <a:xfrm>
            <a:off x="9650801" y="3951766"/>
            <a:ext cx="1752600" cy="1320800"/>
          </a:xfrm>
          <a:prstGeom prst="rect">
            <a:avLst/>
          </a:prstGeom>
        </p:spPr>
      </p:pic>
      <p:pic>
        <p:nvPicPr>
          <p:cNvPr id="11" name="图片 10">
            <a:extLst>
              <a:ext uri="{FF2B5EF4-FFF2-40B4-BE49-F238E27FC236}">
                <a16:creationId xmlns:a16="http://schemas.microsoft.com/office/drawing/2014/main" id="{AEE61617-DB81-A459-6D55-B47110B7D528}"/>
              </a:ext>
            </a:extLst>
          </p:cNvPr>
          <p:cNvPicPr>
            <a:picLocks noChangeAspect="1"/>
          </p:cNvPicPr>
          <p:nvPr/>
        </p:nvPicPr>
        <p:blipFill>
          <a:blip r:embed="rId31"/>
          <a:stretch>
            <a:fillRect/>
          </a:stretch>
        </p:blipFill>
        <p:spPr>
          <a:xfrm>
            <a:off x="9650801" y="5325261"/>
            <a:ext cx="1770509" cy="1320800"/>
          </a:xfrm>
          <a:prstGeom prst="rect">
            <a:avLst/>
          </a:prstGeom>
        </p:spPr>
      </p:pic>
      <p:pic>
        <p:nvPicPr>
          <p:cNvPr id="12" name="图片 11">
            <a:extLst>
              <a:ext uri="{FF2B5EF4-FFF2-40B4-BE49-F238E27FC236}">
                <a16:creationId xmlns:a16="http://schemas.microsoft.com/office/drawing/2014/main" id="{2FD2BC73-40AD-DF27-2864-DE05A9756099}"/>
              </a:ext>
            </a:extLst>
          </p:cNvPr>
          <p:cNvPicPr>
            <a:picLocks noChangeAspect="1"/>
          </p:cNvPicPr>
          <p:nvPr/>
        </p:nvPicPr>
        <p:blipFill>
          <a:blip r:embed="rId32"/>
          <a:srcRect l="988" t="1231" r="1199" b="2429"/>
          <a:stretch>
            <a:fillRect/>
          </a:stretch>
        </p:blipFill>
        <p:spPr>
          <a:xfrm>
            <a:off x="9664876" y="2649884"/>
            <a:ext cx="1725984" cy="1281797"/>
          </a:xfrm>
          <a:prstGeom prst="rect">
            <a:avLst/>
          </a:prstGeom>
        </p:spPr>
      </p:pic>
      <p:sp>
        <p:nvSpPr>
          <p:cNvPr id="13" name="Qwen-3.8-27B">
            <a:extLst>
              <a:ext uri="{FF2B5EF4-FFF2-40B4-BE49-F238E27FC236}">
                <a16:creationId xmlns:a16="http://schemas.microsoft.com/office/drawing/2014/main" id="{520BA904-8B93-6ADD-ABF2-78699E4ED722}"/>
              </a:ext>
            </a:extLst>
          </p:cNvPr>
          <p:cNvSpPr>
            <a:spLocks noGrp="1"/>
          </p:cNvSpPr>
          <p:nvPr/>
        </p:nvSpPr>
        <p:spPr>
          <a:xfrm>
            <a:off x="7894943" y="-258986"/>
            <a:ext cx="1748465" cy="206744"/>
          </a:xfrm>
          <a:prstGeom prst="rect">
            <a:avLst/>
          </a:prstGeom>
          <a:noFill/>
          <a:ln w="0">
            <a:noFill/>
          </a:ln>
        </p:spPr>
        <p:txBody>
          <a:bodyPr wrap="none" lIns="0" tIns="0" rIns="0" bIns="0" anchor="ctr">
            <a:noAutofit/>
          </a:bodyPr>
          <a:lstStyle/>
          <a:p>
            <a:pPr algn="ctr">
              <a:defRPr sz="1725" b="1">
                <a:solidFill>
                  <a:srgbClr val="000000"/>
                </a:solidFill>
                <a:latin typeface="Times New Roman"/>
                <a:ea typeface="Times New Roman"/>
                <a:cs typeface="Times New Roman"/>
              </a:defRPr>
            </a:pPr>
            <a:r>
              <a:rPr lang="en-US" altLang="zh-CN" b="1" dirty="0">
                <a:solidFill>
                  <a:srgbClr val="000000"/>
                </a:solidFill>
                <a:latin typeface="Times New Roman"/>
                <a:ea typeface="Times New Roman"/>
                <a:cs typeface="Times New Roman"/>
              </a:rPr>
              <a:t>Kimi-K3</a:t>
            </a:r>
            <a:endParaRPr b="1" dirty="0">
              <a:solidFill>
                <a:srgbClr val="000000"/>
              </a:solidFill>
              <a:latin typeface="Times New Roman"/>
              <a:ea typeface="Times New Roman"/>
              <a:cs typeface="Times New Roman"/>
            </a:endParaRPr>
          </a:p>
        </p:txBody>
      </p:sp>
      <p:pic>
        <p:nvPicPr>
          <p:cNvPr id="15" name="图片 14">
            <a:extLst>
              <a:ext uri="{FF2B5EF4-FFF2-40B4-BE49-F238E27FC236}">
                <a16:creationId xmlns:a16="http://schemas.microsoft.com/office/drawing/2014/main" id="{CDC23BA8-7E41-B717-E14D-EEE7BD4290A0}"/>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7852283" y="-24646"/>
            <a:ext cx="1781158" cy="1342322"/>
          </a:xfrm>
          <a:prstGeom prst="rect">
            <a:avLst/>
          </a:prstGeom>
        </p:spPr>
      </p:pic>
      <p:pic>
        <p:nvPicPr>
          <p:cNvPr id="17" name="图片 16">
            <a:extLst>
              <a:ext uri="{FF2B5EF4-FFF2-40B4-BE49-F238E27FC236}">
                <a16:creationId xmlns:a16="http://schemas.microsoft.com/office/drawing/2014/main" id="{D2599DD1-25A9-8BDD-1CCC-1EA566F4780C}"/>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7839757" y="1309334"/>
            <a:ext cx="1786358" cy="1333296"/>
          </a:xfrm>
          <a:prstGeom prst="rect">
            <a:avLst/>
          </a:prstGeom>
        </p:spPr>
      </p:pic>
      <p:pic>
        <p:nvPicPr>
          <p:cNvPr id="19" name="图片 18">
            <a:extLst>
              <a:ext uri="{FF2B5EF4-FFF2-40B4-BE49-F238E27FC236}">
                <a16:creationId xmlns:a16="http://schemas.microsoft.com/office/drawing/2014/main" id="{E2CE1E21-42D7-0FC5-42D4-513C2E0B4D59}"/>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7865994" y="5326879"/>
            <a:ext cx="1748465" cy="1305014"/>
          </a:xfrm>
          <a:prstGeom prst="rect">
            <a:avLst/>
          </a:prstGeom>
        </p:spPr>
      </p:pic>
      <p:pic>
        <p:nvPicPr>
          <p:cNvPr id="14" name="图片 13">
            <a:extLst>
              <a:ext uri="{FF2B5EF4-FFF2-40B4-BE49-F238E27FC236}">
                <a16:creationId xmlns:a16="http://schemas.microsoft.com/office/drawing/2014/main" id="{9459A63A-E8A4-C838-3804-951EBE73458B}"/>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7866765" y="3974677"/>
            <a:ext cx="1748464" cy="1317683"/>
          </a:xfrm>
          <a:prstGeom prst="rect">
            <a:avLst/>
          </a:prstGeom>
        </p:spPr>
      </p:pic>
      <p:pic>
        <p:nvPicPr>
          <p:cNvPr id="24" name="图片 23">
            <a:extLst>
              <a:ext uri="{FF2B5EF4-FFF2-40B4-BE49-F238E27FC236}">
                <a16:creationId xmlns:a16="http://schemas.microsoft.com/office/drawing/2014/main" id="{6EDCA917-4440-FAAF-89E9-E10080739CF3}"/>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7863168" y="2688035"/>
            <a:ext cx="1744723" cy="1241944"/>
          </a:xfrm>
          <a:prstGeom prst="rect">
            <a:avLst/>
          </a:prstGeom>
        </p:spPr>
      </p:pic>
    </p:spTree>
    <p:extLst>
      <p:ext uri="{BB962C8B-B14F-4D97-AF65-F5344CB8AC3E}">
        <p14:creationId xmlns:p14="http://schemas.microsoft.com/office/powerpoint/2010/main" val="191466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FF4DDD0A-D368-4279-99B6-7225C86C4DCF}"/>
              </a:ext>
            </a:extLst>
          </p:cNvPr>
          <p:cNvSpPr>
            <a:spLocks noGrp="1"/>
          </p:cNvSpPr>
          <p:nvPr/>
        </p:nvSpPr>
        <p:spPr>
          <a:xfrm>
            <a:off x="623316" y="178308"/>
            <a:ext cx="10945368" cy="411480"/>
          </a:xfrm>
          <a:prstGeom prst="rect">
            <a:avLst/>
          </a:prstGeom>
          <a:noFill/>
          <a:ln w="0">
            <a:noFill/>
          </a:ln>
        </p:spPr>
        <p:txBody>
          <a:bodyPr lIns="0" tIns="0" rIns="0" bIns="0" anchor="ctr">
            <a:noAutofit/>
          </a:bodyPr>
          <a:lstStyle/>
          <a:p>
            <a:pPr algn="l">
              <a:defRPr sz="3000" b="1">
                <a:solidFill>
                  <a:srgbClr val="263441"/>
                </a:solidFill>
                <a:latin typeface="Times New Roman"/>
                <a:ea typeface="Arial"/>
                <a:cs typeface="Times New Roman"/>
              </a:defRPr>
            </a:pPr>
            <a:r>
              <a:rPr sz="2160" b="1" dirty="0">
                <a:solidFill>
                  <a:srgbClr val="263441"/>
                </a:solidFill>
                <a:latin typeface="Times New Roman"/>
                <a:ea typeface="Arial"/>
                <a:cs typeface="Times New Roman"/>
              </a:rPr>
              <a:t>Harness: mean quality, inference time and cost</a:t>
            </a:r>
          </a:p>
        </p:txBody>
      </p:sp>
      <p:sp>
        <p:nvSpPr>
          <p:cNvPr id="2" name="矩形 1">
            <a:extLst>
              <a:ext uri="{FF2B5EF4-FFF2-40B4-BE49-F238E27FC236}">
                <a16:creationId xmlns:a16="http://schemas.microsoft.com/office/drawing/2014/main" id="{5D5924B1-DD8C-4B92-BE1E-EAFC55E789C6}"/>
              </a:ext>
            </a:extLst>
          </p:cNvPr>
          <p:cNvSpPr>
            <a:spLocks noGrp="1"/>
          </p:cNvSpPr>
          <p:nvPr/>
        </p:nvSpPr>
        <p:spPr>
          <a:xfrm>
            <a:off x="637032" y="644652"/>
            <a:ext cx="10904220" cy="240030"/>
          </a:xfrm>
          <a:prstGeom prst="rect">
            <a:avLst/>
          </a:prstGeom>
          <a:noFill/>
          <a:ln w="0">
            <a:noFill/>
          </a:ln>
        </p:spPr>
        <p:txBody>
          <a:bodyPr lIns="0" tIns="0" rIns="0" bIns="0" anchor="ctr">
            <a:noAutofit/>
          </a:bodyPr>
          <a:lstStyle/>
          <a:p>
            <a:pPr algn="l">
              <a:defRPr sz="1650" b="0">
                <a:solidFill>
                  <a:srgbClr val="73808D"/>
                </a:solidFill>
                <a:latin typeface="Times New Roman"/>
                <a:ea typeface="Arial"/>
                <a:cs typeface="Times New Roman"/>
              </a:defRPr>
            </a:pPr>
            <a:r>
              <a:rPr sz="1188" dirty="0">
                <a:solidFill>
                  <a:srgbClr val="73808D"/>
                </a:solidFill>
                <a:latin typeface="Times New Roman"/>
                <a:ea typeface="Arial"/>
                <a:cs typeface="Times New Roman"/>
              </a:rPr>
              <a:t>Equal-weight means across ARKitScenes, CA-1M and ScanNet</a:t>
            </a:r>
          </a:p>
        </p:txBody>
      </p:sp>
      <p:sp>
        <p:nvSpPr>
          <p:cNvPr id="3" name="矩形: 圆角 2">
            <a:extLst>
              <a:ext uri="{FF2B5EF4-FFF2-40B4-BE49-F238E27FC236}">
                <a16:creationId xmlns:a16="http://schemas.microsoft.com/office/drawing/2014/main" id="{DD65635D-53EA-4FA7-A1CC-892CB756BDE4}"/>
              </a:ext>
            </a:extLst>
          </p:cNvPr>
          <p:cNvSpPr>
            <a:spLocks noGrp="1"/>
          </p:cNvSpPr>
          <p:nvPr/>
        </p:nvSpPr>
        <p:spPr>
          <a:xfrm>
            <a:off x="582168" y="1124712"/>
            <a:ext cx="3634740" cy="4443984"/>
          </a:xfrm>
          <a:prstGeom prst="roundRect">
            <a:avLst>
              <a:gd name="adj" fmla="val 2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dirty="0"/>
          </a:p>
        </p:txBody>
      </p:sp>
      <p:sp>
        <p:nvSpPr>
          <p:cNvPr id="5" name="矩形 4">
            <a:extLst>
              <a:ext uri="{FF2B5EF4-FFF2-40B4-BE49-F238E27FC236}">
                <a16:creationId xmlns:a16="http://schemas.microsoft.com/office/drawing/2014/main" id="{3815601E-3DD7-40F6-9B25-1F56C80C436E}"/>
              </a:ext>
            </a:extLst>
          </p:cNvPr>
          <p:cNvSpPr>
            <a:spLocks noGrp="1"/>
          </p:cNvSpPr>
          <p:nvPr/>
        </p:nvSpPr>
        <p:spPr>
          <a:xfrm>
            <a:off x="678180" y="1152144"/>
            <a:ext cx="3442716" cy="301752"/>
          </a:xfrm>
          <a:prstGeom prst="rect">
            <a:avLst/>
          </a:prstGeom>
          <a:noFill/>
          <a:ln w="0">
            <a:noFill/>
          </a:ln>
        </p:spPr>
        <p:txBody>
          <a:bodyPr lIns="0" tIns="0" rIns="0" bIns="0" anchor="ctr">
            <a:noAutofit/>
          </a:bodyPr>
          <a:lstStyle/>
          <a:p>
            <a:pPr algn="ctr">
              <a:defRPr sz="195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(a) Reconstruction Quality</a:t>
            </a:r>
          </a:p>
        </p:txBody>
      </p:sp>
      <p:sp>
        <p:nvSpPr>
          <p:cNvPr id="6" name="矩形 5">
            <a:extLst>
              <a:ext uri="{FF2B5EF4-FFF2-40B4-BE49-F238E27FC236}">
                <a16:creationId xmlns:a16="http://schemas.microsoft.com/office/drawing/2014/main" id="{1EE21374-6C96-4100-B0A1-1CEC682257E3}"/>
              </a:ext>
            </a:extLst>
          </p:cNvPr>
          <p:cNvSpPr>
            <a:spLocks noGrp="1"/>
          </p:cNvSpPr>
          <p:nvPr/>
        </p:nvSpPr>
        <p:spPr>
          <a:xfrm>
            <a:off x="691896" y="1584198"/>
            <a:ext cx="3415284" cy="336042"/>
          </a:xfrm>
          <a:prstGeom prst="rect">
            <a:avLst/>
          </a:prstGeom>
          <a:noFill/>
          <a:ln w="0">
            <a:noFill/>
          </a:ln>
        </p:spPr>
        <p:txBody>
          <a:bodyPr lIns="0" tIns="0" rIns="0" bIns="0" anchor="ctr">
            <a:noAutofit/>
          </a:bodyPr>
          <a:lstStyle/>
          <a:p>
            <a:pPr algn="ctr">
              <a:defRPr sz="2175" b="1">
                <a:solidFill>
                  <a:srgbClr val="398CCD"/>
                </a:solidFill>
                <a:latin typeface="Times New Roman"/>
                <a:ea typeface="Arial"/>
                <a:cs typeface="Times New Roman"/>
              </a:defRPr>
            </a:pPr>
            <a:r>
              <a:rPr sz="1566" b="1" dirty="0">
                <a:solidFill>
                  <a:srgbClr val="398CCD"/>
                </a:solidFill>
                <a:latin typeface="Times New Roman"/>
                <a:ea typeface="Arial"/>
                <a:cs typeface="Times New Roman"/>
              </a:rPr>
              <a:t>92.87% of GPT-sol similarity</a:t>
            </a:r>
          </a:p>
        </p:txBody>
      </p:sp>
      <p:sp>
        <p:nvSpPr>
          <p:cNvPr id="7" name="矩形 6">
            <a:extLst>
              <a:ext uri="{FF2B5EF4-FFF2-40B4-BE49-F238E27FC236}">
                <a16:creationId xmlns:a16="http://schemas.microsoft.com/office/drawing/2014/main" id="{187A1049-7B18-4360-89F5-E78296441288}"/>
              </a:ext>
            </a:extLst>
          </p:cNvPr>
          <p:cNvSpPr>
            <a:spLocks noGrp="1"/>
          </p:cNvSpPr>
          <p:nvPr/>
        </p:nvSpPr>
        <p:spPr>
          <a:xfrm>
            <a:off x="753618" y="2036826"/>
            <a:ext cx="3291840" cy="205740"/>
          </a:xfrm>
          <a:prstGeom prst="rect">
            <a:avLst/>
          </a:prstGeom>
          <a:noFill/>
          <a:ln w="0">
            <a:noFill/>
          </a:ln>
        </p:spPr>
        <p:txBody>
          <a:bodyPr lIns="0" tIns="0" rIns="0" bIns="0" anchor="ctr">
            <a:noAutofit/>
          </a:bodyPr>
          <a:lstStyle/>
          <a:p>
            <a:pPr algn="l">
              <a:defRPr sz="1500" b="0" i="1">
                <a:solidFill>
                  <a:srgbClr val="73808D"/>
                </a:solidFill>
                <a:latin typeface="Times New Roman"/>
                <a:ea typeface="Arial"/>
                <a:cs typeface="Times New Roman"/>
              </a:defRPr>
            </a:pPr>
            <a:r>
              <a:rPr sz="1440" i="1" dirty="0">
                <a:solidFill>
                  <a:srgbClr val="73808D"/>
                </a:solidFill>
                <a:latin typeface="Times New Roman"/>
                <a:ea typeface="Arial"/>
                <a:cs typeface="Times New Roman"/>
              </a:rPr>
              <a:t>DINOv2 Similarity ↑</a:t>
            </a:r>
          </a:p>
        </p:txBody>
      </p:sp>
      <p:grpSp>
        <p:nvGrpSpPr>
          <p:cNvPr id="200" name="Editable chart with rounded bars 1"/>
          <p:cNvGrpSpPr/>
          <p:nvPr/>
        </p:nvGrpSpPr>
        <p:grpSpPr>
          <a:xfrm>
            <a:off x="685038" y="2366010"/>
            <a:ext cx="3429000" cy="2496312"/>
            <a:chOff x="485775" y="3286125"/>
            <a:chExt cx="4762500" cy="3467100"/>
          </a:xfrm>
        </p:grpSpPr>
        <p:graphicFrame>
          <p:nvGraphicFramePr>
            <p:cNvPr id="40" name="Chart"/>
            <p:cNvGraphicFramePr/>
            <p:nvPr/>
          </p:nvGraphicFramePr>
          <p:xfrm>
            <a:off x="485775" y="3286125"/>
            <a:ext cx="4762500" cy="3467100"/>
          </p:xfrm>
          <a:graphic>
            <a:graphicData uri="http://schemas.openxmlformats.org/drawingml/2006/chart">
              <c:chart xmlns:c="http://schemas.openxmlformats.org/drawingml/2006/chart" xmlns:r="http://schemas.openxmlformats.org/officeDocument/2006/relationships" r:id="rId3"/>
            </a:graphicData>
          </a:graphic>
        </p:graphicFrame>
        <p:sp>
          <p:nvSpPr>
            <p:cNvPr id="300" name="Mean rounded bar 1-1">
              <a:extLst>
                <a:ext uri="{FF2B5EF4-FFF2-40B4-BE49-F238E27FC236}">
                  <a16:creationId xmlns:a16="http://schemas.microsoft.com/office/drawing/2014/main" id="{1F370A41-CED4-4109-A277-5FAE3C9EF800}"/>
                </a:ext>
              </a:extLst>
            </p:cNvPr>
            <p:cNvSpPr>
              <a:spLocks noGrp="1"/>
            </p:cNvSpPr>
            <p:nvPr/>
          </p:nvSpPr>
          <p:spPr>
            <a:xfrm>
              <a:off x="1379548" y="5598240"/>
              <a:ext cx="534172" cy="773604"/>
            </a:xfrm>
            <a:prstGeom prst="roundRect">
              <a:avLst>
                <a:gd name="adj" fmla="val 7133"/>
              </a:avLst>
            </a:prstGeom>
            <a:solidFill>
              <a:srgbClr val="6DC8FF">
                <a:alpha val="69804"/>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2016" dirty="0"/>
            </a:p>
          </p:txBody>
        </p:sp>
        <p:sp>
          <p:nvSpPr>
            <p:cNvPr id="301" name="Mean rounded bar 1-2">
              <a:extLst>
                <a:ext uri="{FF2B5EF4-FFF2-40B4-BE49-F238E27FC236}">
                  <a16:creationId xmlns:a16="http://schemas.microsoft.com/office/drawing/2014/main" id="{A51C2B93-C646-4F66-9CBF-89EEBECDE601}"/>
                </a:ext>
              </a:extLst>
            </p:cNvPr>
            <p:cNvSpPr>
              <a:spLocks noGrp="1"/>
            </p:cNvSpPr>
            <p:nvPr/>
          </p:nvSpPr>
          <p:spPr>
            <a:xfrm>
              <a:off x="2367767" y="4923744"/>
              <a:ext cx="534172" cy="1448100"/>
            </a:xfrm>
            <a:prstGeom prst="roundRect">
              <a:avLst>
                <a:gd name="adj" fmla="val 7133"/>
              </a:avLst>
            </a:prstGeom>
            <a:solidFill>
              <a:srgbClr val="FF6B6B">
                <a:alpha val="69804"/>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2016" dirty="0"/>
            </a:p>
          </p:txBody>
        </p:sp>
        <p:sp>
          <p:nvSpPr>
            <p:cNvPr id="302" name="Mean rounded bar 1-3">
              <a:extLst>
                <a:ext uri="{FF2B5EF4-FFF2-40B4-BE49-F238E27FC236}">
                  <a16:creationId xmlns:a16="http://schemas.microsoft.com/office/drawing/2014/main" id="{9C237FC8-D695-4E57-A110-930DDB6C0B75}"/>
                </a:ext>
              </a:extLst>
            </p:cNvPr>
            <p:cNvSpPr>
              <a:spLocks noGrp="1"/>
            </p:cNvSpPr>
            <p:nvPr/>
          </p:nvSpPr>
          <p:spPr>
            <a:xfrm>
              <a:off x="3355986" y="4812650"/>
              <a:ext cx="534172" cy="1559194"/>
            </a:xfrm>
            <a:prstGeom prst="roundRect">
              <a:avLst>
                <a:gd name="adj" fmla="val 7133"/>
              </a:avLst>
            </a:prstGeom>
            <a:solidFill>
              <a:srgbClr val="2EBA9E">
                <a:alpha val="69804"/>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2016" dirty="0"/>
            </a:p>
          </p:txBody>
        </p:sp>
        <p:sp>
          <p:nvSpPr>
            <p:cNvPr id="303" name="Mean rounded bar 1-4">
              <a:extLst>
                <a:ext uri="{FF2B5EF4-FFF2-40B4-BE49-F238E27FC236}">
                  <a16:creationId xmlns:a16="http://schemas.microsoft.com/office/drawing/2014/main" id="{B015FD7B-F1C1-4379-A799-A2B155E3ECB3}"/>
                </a:ext>
              </a:extLst>
            </p:cNvPr>
            <p:cNvSpPr>
              <a:spLocks noGrp="1"/>
            </p:cNvSpPr>
            <p:nvPr/>
          </p:nvSpPr>
          <p:spPr>
            <a:xfrm>
              <a:off x="4344204" y="4200305"/>
              <a:ext cx="534172" cy="2171539"/>
            </a:xfrm>
            <a:prstGeom prst="roundRect">
              <a:avLst>
                <a:gd name="adj" fmla="val 7133"/>
              </a:avLst>
            </a:prstGeom>
            <a:solidFill>
              <a:srgbClr val="785ECE">
                <a:alpha val="69804"/>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2016" dirty="0"/>
            </a:p>
          </p:txBody>
        </p:sp>
      </p:grpSp>
      <p:sp>
        <p:nvSpPr>
          <p:cNvPr id="10" name="矩形: 圆角 9">
            <a:extLst>
              <a:ext uri="{FF2B5EF4-FFF2-40B4-BE49-F238E27FC236}">
                <a16:creationId xmlns:a16="http://schemas.microsoft.com/office/drawing/2014/main" id="{21DDF9A7-6ECA-4205-AF19-979712171F22}"/>
              </a:ext>
            </a:extLst>
          </p:cNvPr>
          <p:cNvSpPr>
            <a:spLocks noGrp="1"/>
          </p:cNvSpPr>
          <p:nvPr/>
        </p:nvSpPr>
        <p:spPr>
          <a:xfrm>
            <a:off x="4340353" y="1124712"/>
            <a:ext cx="3634740" cy="4443984"/>
          </a:xfrm>
          <a:prstGeom prst="roundRect">
            <a:avLst>
              <a:gd name="adj" fmla="val 2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sp>
        <p:nvSpPr>
          <p:cNvPr id="12" name="矩形 11">
            <a:extLst>
              <a:ext uri="{FF2B5EF4-FFF2-40B4-BE49-F238E27FC236}">
                <a16:creationId xmlns:a16="http://schemas.microsoft.com/office/drawing/2014/main" id="{489CDDC8-0DEE-4DE5-93CF-96F943C132E6}"/>
              </a:ext>
            </a:extLst>
          </p:cNvPr>
          <p:cNvSpPr>
            <a:spLocks noGrp="1"/>
          </p:cNvSpPr>
          <p:nvPr/>
        </p:nvSpPr>
        <p:spPr>
          <a:xfrm>
            <a:off x="4450080" y="1152144"/>
            <a:ext cx="3442716" cy="301752"/>
          </a:xfrm>
          <a:prstGeom prst="rect">
            <a:avLst/>
          </a:prstGeom>
          <a:noFill/>
          <a:ln w="0">
            <a:noFill/>
          </a:ln>
        </p:spPr>
        <p:txBody>
          <a:bodyPr lIns="0" tIns="0" rIns="0" bIns="0" anchor="ctr">
            <a:noAutofit/>
          </a:bodyPr>
          <a:lstStyle/>
          <a:p>
            <a:pPr algn="ctr">
              <a:defRPr sz="195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(b) Inference time</a:t>
            </a:r>
          </a:p>
        </p:txBody>
      </p:sp>
      <p:sp>
        <p:nvSpPr>
          <p:cNvPr id="13" name="矩形 12">
            <a:extLst>
              <a:ext uri="{FF2B5EF4-FFF2-40B4-BE49-F238E27FC236}">
                <a16:creationId xmlns:a16="http://schemas.microsoft.com/office/drawing/2014/main" id="{D2E0D7E1-C427-40A2-9751-F1F46E895185}"/>
              </a:ext>
            </a:extLst>
          </p:cNvPr>
          <p:cNvSpPr>
            <a:spLocks noGrp="1"/>
          </p:cNvSpPr>
          <p:nvPr/>
        </p:nvSpPr>
        <p:spPr>
          <a:xfrm>
            <a:off x="4463796" y="1584198"/>
            <a:ext cx="3415284" cy="336042"/>
          </a:xfrm>
          <a:prstGeom prst="rect">
            <a:avLst/>
          </a:prstGeom>
          <a:noFill/>
          <a:ln w="0">
            <a:noFill/>
          </a:ln>
        </p:spPr>
        <p:txBody>
          <a:bodyPr lIns="0" tIns="0" rIns="0" bIns="0" anchor="ctr">
            <a:noAutofit/>
          </a:bodyPr>
          <a:lstStyle/>
          <a:p>
            <a:pPr algn="ctr">
              <a:defRPr sz="2175" b="1">
                <a:solidFill>
                  <a:srgbClr val="398CCD"/>
                </a:solidFill>
                <a:latin typeface="Times New Roman"/>
                <a:ea typeface="Arial"/>
                <a:cs typeface="Times New Roman"/>
              </a:defRPr>
            </a:pPr>
            <a:r>
              <a:rPr sz="1566" b="1" dirty="0">
                <a:solidFill>
                  <a:srgbClr val="398CCD"/>
                </a:solidFill>
                <a:latin typeface="Times New Roman"/>
                <a:ea typeface="Arial"/>
                <a:cs typeface="Times New Roman"/>
              </a:rPr>
              <a:t>47.03% less inference time</a:t>
            </a:r>
          </a:p>
        </p:txBody>
      </p:sp>
      <p:sp>
        <p:nvSpPr>
          <p:cNvPr id="14" name="矩形 13">
            <a:extLst>
              <a:ext uri="{FF2B5EF4-FFF2-40B4-BE49-F238E27FC236}">
                <a16:creationId xmlns:a16="http://schemas.microsoft.com/office/drawing/2014/main" id="{1020295B-505A-4163-B7F9-D0302F802165}"/>
              </a:ext>
            </a:extLst>
          </p:cNvPr>
          <p:cNvSpPr>
            <a:spLocks noGrp="1"/>
          </p:cNvSpPr>
          <p:nvPr/>
        </p:nvSpPr>
        <p:spPr>
          <a:xfrm>
            <a:off x="4525518" y="2036826"/>
            <a:ext cx="3291840" cy="205740"/>
          </a:xfrm>
          <a:prstGeom prst="rect">
            <a:avLst/>
          </a:prstGeom>
          <a:noFill/>
          <a:ln w="0">
            <a:noFill/>
          </a:ln>
        </p:spPr>
        <p:txBody>
          <a:bodyPr lIns="0" tIns="0" rIns="0" bIns="0" anchor="ctr">
            <a:noAutofit/>
          </a:bodyPr>
          <a:lstStyle/>
          <a:p>
            <a:pPr algn="l">
              <a:defRPr sz="1500" b="0" i="1">
                <a:solidFill>
                  <a:srgbClr val="73808D"/>
                </a:solidFill>
                <a:latin typeface="Times New Roman"/>
                <a:ea typeface="Arial"/>
                <a:cs typeface="Times New Roman"/>
              </a:defRPr>
            </a:pPr>
            <a:r>
              <a:rPr sz="1440" i="1" dirty="0">
                <a:solidFill>
                  <a:srgbClr val="73808D"/>
                </a:solidFill>
                <a:latin typeface="Times New Roman"/>
                <a:ea typeface="Arial"/>
                <a:cs typeface="Times New Roman"/>
              </a:rPr>
              <a:t>Time (s / scene) ↓</a:t>
            </a:r>
          </a:p>
        </p:txBody>
      </p:sp>
      <p:grpSp>
        <p:nvGrpSpPr>
          <p:cNvPr id="201" name="Editable chart with rounded bars 2"/>
          <p:cNvGrpSpPr/>
          <p:nvPr/>
        </p:nvGrpSpPr>
        <p:grpSpPr>
          <a:xfrm>
            <a:off x="4463796" y="2366010"/>
            <a:ext cx="3429000" cy="2496312"/>
            <a:chOff x="5724525" y="3286125"/>
            <a:chExt cx="4762500" cy="3467100"/>
          </a:xfrm>
        </p:grpSpPr>
        <p:graphicFrame>
          <p:nvGraphicFramePr>
            <p:cNvPr id="47" name="Chart"/>
            <p:cNvGraphicFramePr/>
            <p:nvPr/>
          </p:nvGraphicFramePr>
          <p:xfrm>
            <a:off x="5724525" y="3286125"/>
            <a:ext cx="4762500" cy="3467100"/>
          </p:xfrm>
          <a:graphic>
            <a:graphicData uri="http://schemas.openxmlformats.org/drawingml/2006/chart">
              <c:chart xmlns:c="http://schemas.openxmlformats.org/drawingml/2006/chart" xmlns:r="http://schemas.openxmlformats.org/officeDocument/2006/relationships" r:id="rId4"/>
            </a:graphicData>
          </a:graphic>
        </p:graphicFrame>
        <p:sp>
          <p:nvSpPr>
            <p:cNvPr id="304" name="Mean rounded bar 2-1">
              <a:extLst>
                <a:ext uri="{FF2B5EF4-FFF2-40B4-BE49-F238E27FC236}">
                  <a16:creationId xmlns:a16="http://schemas.microsoft.com/office/drawing/2014/main" id="{627A4CF7-1A9E-4566-A447-27DE07F5927D}"/>
                </a:ext>
              </a:extLst>
            </p:cNvPr>
            <p:cNvSpPr>
              <a:spLocks noGrp="1"/>
            </p:cNvSpPr>
            <p:nvPr/>
          </p:nvSpPr>
          <p:spPr>
            <a:xfrm>
              <a:off x="7013940" y="4302940"/>
              <a:ext cx="1016858" cy="2068904"/>
            </a:xfrm>
            <a:prstGeom prst="roundRect">
              <a:avLst>
                <a:gd name="adj" fmla="val 3747"/>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1296" dirty="0"/>
            </a:p>
          </p:txBody>
        </p:sp>
        <p:sp>
          <p:nvSpPr>
            <p:cNvPr id="305" name="Mean rounded bar 2-2">
              <a:extLst>
                <a:ext uri="{FF2B5EF4-FFF2-40B4-BE49-F238E27FC236}">
                  <a16:creationId xmlns:a16="http://schemas.microsoft.com/office/drawing/2014/main" id="{348CBDBD-D58D-443A-A3BD-1904A06CC8BF}"/>
                </a:ext>
              </a:extLst>
            </p:cNvPr>
            <p:cNvSpPr>
              <a:spLocks noGrp="1"/>
            </p:cNvSpPr>
            <p:nvPr/>
          </p:nvSpPr>
          <p:spPr>
            <a:xfrm>
              <a:off x="8895127" y="5276021"/>
              <a:ext cx="1016858" cy="1095823"/>
            </a:xfrm>
            <a:prstGeom prst="roundRect">
              <a:avLst>
                <a:gd name="adj" fmla="val 3747"/>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1296" dirty="0"/>
            </a:p>
          </p:txBody>
        </p:sp>
      </p:grpSp>
      <p:sp>
        <p:nvSpPr>
          <p:cNvPr id="17" name="矩形: 圆角 16">
            <a:extLst>
              <a:ext uri="{FF2B5EF4-FFF2-40B4-BE49-F238E27FC236}">
                <a16:creationId xmlns:a16="http://schemas.microsoft.com/office/drawing/2014/main" id="{096DB835-273A-44CA-BB1C-A6784F90BE09}"/>
              </a:ext>
            </a:extLst>
          </p:cNvPr>
          <p:cNvSpPr>
            <a:spLocks noGrp="1"/>
          </p:cNvSpPr>
          <p:nvPr/>
        </p:nvSpPr>
        <p:spPr>
          <a:xfrm>
            <a:off x="8125968" y="1124712"/>
            <a:ext cx="3634740" cy="4443984"/>
          </a:xfrm>
          <a:prstGeom prst="roundRect">
            <a:avLst>
              <a:gd name="adj" fmla="val 2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sp>
        <p:nvSpPr>
          <p:cNvPr id="19" name="矩形 18">
            <a:extLst>
              <a:ext uri="{FF2B5EF4-FFF2-40B4-BE49-F238E27FC236}">
                <a16:creationId xmlns:a16="http://schemas.microsoft.com/office/drawing/2014/main" id="{C6C88A6A-4988-41CB-A1FB-884A53A64EFE}"/>
              </a:ext>
            </a:extLst>
          </p:cNvPr>
          <p:cNvSpPr>
            <a:spLocks noGrp="1"/>
          </p:cNvSpPr>
          <p:nvPr/>
        </p:nvSpPr>
        <p:spPr>
          <a:xfrm>
            <a:off x="8221980" y="1152144"/>
            <a:ext cx="3442716" cy="301752"/>
          </a:xfrm>
          <a:prstGeom prst="rect">
            <a:avLst/>
          </a:prstGeom>
          <a:noFill/>
          <a:ln w="0">
            <a:noFill/>
          </a:ln>
        </p:spPr>
        <p:txBody>
          <a:bodyPr lIns="0" tIns="0" rIns="0" bIns="0" anchor="ctr">
            <a:noAutofit/>
          </a:bodyPr>
          <a:lstStyle/>
          <a:p>
            <a:pPr algn="ctr">
              <a:defRPr sz="195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(c) Equivalent cost</a:t>
            </a:r>
          </a:p>
        </p:txBody>
      </p:sp>
      <p:sp>
        <p:nvSpPr>
          <p:cNvPr id="20" name="矩形 19">
            <a:extLst>
              <a:ext uri="{FF2B5EF4-FFF2-40B4-BE49-F238E27FC236}">
                <a16:creationId xmlns:a16="http://schemas.microsoft.com/office/drawing/2014/main" id="{DCE99CDF-4F0B-4AC5-965A-6C353F4588FF}"/>
              </a:ext>
            </a:extLst>
          </p:cNvPr>
          <p:cNvSpPr>
            <a:spLocks noGrp="1"/>
          </p:cNvSpPr>
          <p:nvPr/>
        </p:nvSpPr>
        <p:spPr>
          <a:xfrm>
            <a:off x="8235696" y="1584198"/>
            <a:ext cx="3415284" cy="336042"/>
          </a:xfrm>
          <a:prstGeom prst="rect">
            <a:avLst/>
          </a:prstGeom>
          <a:noFill/>
          <a:ln w="0">
            <a:noFill/>
          </a:ln>
        </p:spPr>
        <p:txBody>
          <a:bodyPr lIns="0" tIns="0" rIns="0" bIns="0" anchor="ctr">
            <a:noAutofit/>
          </a:bodyPr>
          <a:lstStyle/>
          <a:p>
            <a:pPr algn="ctr">
              <a:defRPr sz="2175" b="1">
                <a:solidFill>
                  <a:srgbClr val="398CCD"/>
                </a:solidFill>
                <a:latin typeface="Times New Roman"/>
                <a:ea typeface="Arial"/>
                <a:cs typeface="Times New Roman"/>
              </a:defRPr>
            </a:pPr>
            <a:r>
              <a:rPr sz="1566" b="1" dirty="0">
                <a:solidFill>
                  <a:srgbClr val="398CCD"/>
                </a:solidFill>
                <a:latin typeface="Times New Roman"/>
                <a:ea typeface="Arial"/>
                <a:cs typeface="Times New Roman"/>
              </a:rPr>
              <a:t>47.45% of GPT-sol cost</a:t>
            </a:r>
          </a:p>
        </p:txBody>
      </p:sp>
      <p:sp>
        <p:nvSpPr>
          <p:cNvPr id="21" name="矩形 20">
            <a:extLst>
              <a:ext uri="{FF2B5EF4-FFF2-40B4-BE49-F238E27FC236}">
                <a16:creationId xmlns:a16="http://schemas.microsoft.com/office/drawing/2014/main" id="{8A44630D-A6CC-45CA-8BAE-076678623902}"/>
              </a:ext>
            </a:extLst>
          </p:cNvPr>
          <p:cNvSpPr>
            <a:spLocks noGrp="1"/>
          </p:cNvSpPr>
          <p:nvPr/>
        </p:nvSpPr>
        <p:spPr>
          <a:xfrm>
            <a:off x="8297418" y="2036826"/>
            <a:ext cx="3291840" cy="205740"/>
          </a:xfrm>
          <a:prstGeom prst="rect">
            <a:avLst/>
          </a:prstGeom>
          <a:noFill/>
          <a:ln w="0">
            <a:noFill/>
          </a:ln>
        </p:spPr>
        <p:txBody>
          <a:bodyPr lIns="0" tIns="0" rIns="0" bIns="0" anchor="ctr">
            <a:noAutofit/>
          </a:bodyPr>
          <a:lstStyle/>
          <a:p>
            <a:pPr algn="l">
              <a:defRPr sz="1500" b="0" i="1">
                <a:solidFill>
                  <a:srgbClr val="73808D"/>
                </a:solidFill>
                <a:latin typeface="Times New Roman"/>
                <a:ea typeface="Arial"/>
                <a:cs typeface="Times New Roman"/>
              </a:defRPr>
            </a:pPr>
            <a:r>
              <a:rPr sz="1440" i="1" dirty="0">
                <a:solidFill>
                  <a:srgbClr val="73808D"/>
                </a:solidFill>
                <a:latin typeface="Times New Roman"/>
                <a:ea typeface="Arial"/>
                <a:cs typeface="Times New Roman"/>
              </a:rPr>
              <a:t>Cost (USD / scene) ↓</a:t>
            </a:r>
          </a:p>
        </p:txBody>
      </p:sp>
      <p:grpSp>
        <p:nvGrpSpPr>
          <p:cNvPr id="202" name="Editable chart with rounded bars 3"/>
          <p:cNvGrpSpPr/>
          <p:nvPr/>
        </p:nvGrpSpPr>
        <p:grpSpPr>
          <a:xfrm>
            <a:off x="8228838" y="2366010"/>
            <a:ext cx="3429000" cy="2496312"/>
            <a:chOff x="10963275" y="3286125"/>
            <a:chExt cx="4762500" cy="3467100"/>
          </a:xfrm>
        </p:grpSpPr>
        <p:graphicFrame>
          <p:nvGraphicFramePr>
            <p:cNvPr id="54" name="Chart"/>
            <p:cNvGraphicFramePr/>
            <p:nvPr/>
          </p:nvGraphicFramePr>
          <p:xfrm>
            <a:off x="10963275" y="3286125"/>
            <a:ext cx="4762500" cy="3467100"/>
          </p:xfrm>
          <a:graphic>
            <a:graphicData uri="http://schemas.openxmlformats.org/drawingml/2006/chart">
              <c:chart xmlns:c="http://schemas.openxmlformats.org/drawingml/2006/chart" xmlns:r="http://schemas.openxmlformats.org/officeDocument/2006/relationships" r:id="rId5"/>
            </a:graphicData>
          </a:graphic>
        </p:graphicFrame>
        <p:sp>
          <p:nvSpPr>
            <p:cNvPr id="308" name="Mean rounded bar 3-1">
              <a:extLst>
                <a:ext uri="{FF2B5EF4-FFF2-40B4-BE49-F238E27FC236}">
                  <a16:creationId xmlns:a16="http://schemas.microsoft.com/office/drawing/2014/main" id="{2EAB0E40-365E-450F-91CE-E8E0F26747F7}"/>
                </a:ext>
              </a:extLst>
            </p:cNvPr>
            <p:cNvSpPr>
              <a:spLocks noGrp="1"/>
            </p:cNvSpPr>
            <p:nvPr/>
          </p:nvSpPr>
          <p:spPr>
            <a:xfrm>
              <a:off x="11857048" y="5805616"/>
              <a:ext cx="534172" cy="566228"/>
            </a:xfrm>
            <a:prstGeom prst="roundRect">
              <a:avLst>
                <a:gd name="adj" fmla="val 7133"/>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1296" dirty="0"/>
            </a:p>
          </p:txBody>
        </p:sp>
        <p:sp>
          <p:nvSpPr>
            <p:cNvPr id="309" name="Mean rounded bar 3-2">
              <a:extLst>
                <a:ext uri="{FF2B5EF4-FFF2-40B4-BE49-F238E27FC236}">
                  <a16:creationId xmlns:a16="http://schemas.microsoft.com/office/drawing/2014/main" id="{40C49704-2C4C-4D7F-A4BF-F855F325860B}"/>
                </a:ext>
              </a:extLst>
            </p:cNvPr>
            <p:cNvSpPr>
              <a:spLocks noGrp="1"/>
            </p:cNvSpPr>
            <p:nvPr/>
          </p:nvSpPr>
          <p:spPr>
            <a:xfrm>
              <a:off x="12845267" y="5835981"/>
              <a:ext cx="534172" cy="535863"/>
            </a:xfrm>
            <a:prstGeom prst="roundRect">
              <a:avLst>
                <a:gd name="adj" fmla="val 7133"/>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a:p>
          </p:txBody>
        </p:sp>
        <p:sp>
          <p:nvSpPr>
            <p:cNvPr id="310" name="Mean rounded bar 3-3">
              <a:extLst>
                <a:ext uri="{FF2B5EF4-FFF2-40B4-BE49-F238E27FC236}">
                  <a16:creationId xmlns:a16="http://schemas.microsoft.com/office/drawing/2014/main" id="{4562C218-D627-4C02-9D91-14AA8C8F732D}"/>
                </a:ext>
              </a:extLst>
            </p:cNvPr>
            <p:cNvSpPr>
              <a:spLocks noGrp="1"/>
            </p:cNvSpPr>
            <p:nvPr/>
          </p:nvSpPr>
          <p:spPr>
            <a:xfrm>
              <a:off x="13833486" y="5242446"/>
              <a:ext cx="534172" cy="1129398"/>
            </a:xfrm>
            <a:prstGeom prst="roundRect">
              <a:avLst>
                <a:gd name="adj" fmla="val 7133"/>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1296" dirty="0"/>
            </a:p>
          </p:txBody>
        </p:sp>
        <p:sp>
          <p:nvSpPr>
            <p:cNvPr id="311" name="Mean rounded bar 3-4">
              <a:extLst>
                <a:ext uri="{FF2B5EF4-FFF2-40B4-BE49-F238E27FC236}">
                  <a16:creationId xmlns:a16="http://schemas.microsoft.com/office/drawing/2014/main" id="{03806A57-73B9-49AC-AFA4-A0503CB2C916}"/>
                </a:ext>
              </a:extLst>
            </p:cNvPr>
            <p:cNvSpPr>
              <a:spLocks noGrp="1"/>
            </p:cNvSpPr>
            <p:nvPr/>
          </p:nvSpPr>
          <p:spPr>
            <a:xfrm>
              <a:off x="14821704" y="4512364"/>
              <a:ext cx="534172" cy="1859480"/>
            </a:xfrm>
            <a:prstGeom prst="roundRect">
              <a:avLst>
                <a:gd name="adj" fmla="val 7133"/>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txBody>
            <a:bodyPr/>
            <a:lstStyle/>
            <a:p>
              <a:endParaRPr lang="zh-CN" altLang="en-US" sz="1296" dirty="0"/>
            </a:p>
          </p:txBody>
        </p:sp>
      </p:grpSp>
      <p:pic>
        <p:nvPicPr>
          <p:cNvPr id="56" name="图形 55"/>
          <p:cNvPicPr>
            <a:picLocks noChangeAspect="1"/>
          </p:cNvPicPr>
          <p:nvPr/>
        </p:nvPicPr>
        <p:blipFill>
          <a:blip>
            <a:extLst>
              <a:ext uri="{96DAC541-7B7A-43D3-8B79-37D633B846F1}">
                <asvg:svgBlip xmlns:asvg="http://schemas.microsoft.com/office/drawing/2016/SVG/main" r:embed="rId6"/>
              </a:ext>
            </a:extLst>
          </a:blip>
          <a:stretch/>
        </p:blipFill>
        <p:spPr>
          <a:xfrm>
            <a:off x="1134238" y="5846446"/>
            <a:ext cx="185166" cy="185166"/>
          </a:xfrm>
          <a:prstGeom prst="rect">
            <a:avLst/>
          </a:prstGeom>
        </p:spPr>
      </p:pic>
      <p:sp>
        <p:nvSpPr>
          <p:cNvPr id="25" name="矩形 24">
            <a:extLst>
              <a:ext uri="{FF2B5EF4-FFF2-40B4-BE49-F238E27FC236}">
                <a16:creationId xmlns:a16="http://schemas.microsoft.com/office/drawing/2014/main" id="{EDB7809F-0C24-4633-AC38-1EF94945A476}"/>
              </a:ext>
            </a:extLst>
          </p:cNvPr>
          <p:cNvSpPr>
            <a:spLocks noGrp="1"/>
          </p:cNvSpPr>
          <p:nvPr/>
        </p:nvSpPr>
        <p:spPr>
          <a:xfrm>
            <a:off x="1391412" y="5815584"/>
            <a:ext cx="2434590" cy="246888"/>
          </a:xfrm>
          <a:prstGeom prst="rect">
            <a:avLst/>
          </a:prstGeom>
          <a:noFill/>
          <a:ln w="0">
            <a:noFill/>
          </a:ln>
        </p:spPr>
        <p:txBody>
          <a:bodyPr lIns="0" tIns="0" rIns="0" bIns="0" anchor="ctr">
            <a:noAutofit/>
          </a:bodyPr>
          <a:lstStyle/>
          <a:p>
            <a:pPr algn="l">
              <a:defRPr sz="1575" b="0">
                <a:solidFill>
                  <a:srgbClr val="8995A2"/>
                </a:solidFill>
                <a:latin typeface="Times New Roman"/>
                <a:ea typeface="Arial"/>
                <a:cs typeface="Times New Roman"/>
              </a:defRPr>
            </a:pPr>
            <a:r>
              <a:rPr sz="1134" dirty="0">
                <a:solidFill>
                  <a:srgbClr val="6DC8FF"/>
                </a:solidFill>
                <a:latin typeface="Times New Roman"/>
                <a:ea typeface="Arial"/>
                <a:cs typeface="Times New Roman"/>
              </a:rPr>
              <a:t>Qwen (xhigh)</a:t>
            </a:r>
          </a:p>
        </p:txBody>
      </p:sp>
      <p:pic>
        <p:nvPicPr>
          <p:cNvPr id="58" name="图形 57"/>
          <p:cNvPicPr>
            <a:picLocks noChangeAspect="1"/>
          </p:cNvPicPr>
          <p:nvPr/>
        </p:nvPicPr>
        <p:blipFill>
          <a:blip>
            <a:extLst>
              <a:ext uri="{96DAC541-7B7A-43D3-8B79-37D633B846F1}">
                <asvg:svgBlip xmlns:asvg="http://schemas.microsoft.com/office/drawing/2016/SVG/main" r:embed="rId7"/>
              </a:ext>
            </a:extLst>
          </a:blip>
          <a:stretch/>
        </p:blipFill>
        <p:spPr>
          <a:xfrm>
            <a:off x="3808858" y="5846446"/>
            <a:ext cx="185166" cy="185166"/>
          </a:xfrm>
          <a:prstGeom prst="rect">
            <a:avLst/>
          </a:prstGeom>
        </p:spPr>
      </p:pic>
      <p:sp>
        <p:nvSpPr>
          <p:cNvPr id="27" name="矩形 26">
            <a:extLst>
              <a:ext uri="{FF2B5EF4-FFF2-40B4-BE49-F238E27FC236}">
                <a16:creationId xmlns:a16="http://schemas.microsoft.com/office/drawing/2014/main" id="{A5979FE1-C4F5-426F-B353-BD77D8481E37}"/>
              </a:ext>
            </a:extLst>
          </p:cNvPr>
          <p:cNvSpPr>
            <a:spLocks noGrp="1"/>
          </p:cNvSpPr>
          <p:nvPr/>
        </p:nvSpPr>
        <p:spPr>
          <a:xfrm>
            <a:off x="4066032" y="5815584"/>
            <a:ext cx="2434590" cy="246888"/>
          </a:xfrm>
          <a:prstGeom prst="rect">
            <a:avLst/>
          </a:prstGeom>
          <a:noFill/>
          <a:ln w="0">
            <a:noFill/>
          </a:ln>
        </p:spPr>
        <p:txBody>
          <a:bodyPr lIns="0" tIns="0" rIns="0" bIns="0" anchor="ctr">
            <a:noAutofit/>
          </a:bodyPr>
          <a:lstStyle/>
          <a:p>
            <a:pPr>
              <a:defRPr sz="1575" b="1">
                <a:solidFill>
                  <a:srgbClr val="398CCD"/>
                </a:solidFill>
                <a:latin typeface="Times New Roman"/>
                <a:ea typeface="Arial"/>
                <a:cs typeface="Times New Roman"/>
              </a:defRPr>
            </a:pPr>
            <a:r>
              <a:rPr sz="1134" b="1" dirty="0">
                <a:solidFill>
                  <a:srgbClr val="FF6B6B"/>
                </a:solidFill>
                <a:latin typeface="Times New Roman"/>
                <a:ea typeface="Arial"/>
                <a:cs typeface="Times New Roman"/>
              </a:rPr>
              <a:t>Qwen</a:t>
            </a:r>
            <a:r>
              <a:rPr lang="en-US" altLang="zh-CN" sz="1134" dirty="0">
                <a:solidFill>
                  <a:srgbClr val="FF6B6B"/>
                </a:solidFill>
                <a:latin typeface="Times New Roman"/>
                <a:ea typeface="Arial"/>
                <a:cs typeface="Times New Roman"/>
              </a:rPr>
              <a:t> (xhigh)</a:t>
            </a:r>
            <a:r>
              <a:rPr sz="1134" b="1" dirty="0">
                <a:solidFill>
                  <a:srgbClr val="FF6B6B"/>
                </a:solidFill>
                <a:latin typeface="Times New Roman"/>
                <a:ea typeface="Arial"/>
                <a:cs typeface="Times New Roman"/>
              </a:rPr>
              <a:t> + Harness</a:t>
            </a:r>
          </a:p>
        </p:txBody>
      </p:sp>
      <p:pic>
        <p:nvPicPr>
          <p:cNvPr id="60" name="图形 59"/>
          <p:cNvPicPr>
            <a:picLocks noChangeAspect="1"/>
          </p:cNvPicPr>
          <p:nvPr/>
        </p:nvPicPr>
        <p:blipFill>
          <a:blip>
            <a:extLst>
              <a:ext uri="{96DAC541-7B7A-43D3-8B79-37D633B846F1}">
                <asvg:svgBlip xmlns:asvg="http://schemas.microsoft.com/office/drawing/2016/SVG/main" r:embed="rId8"/>
              </a:ext>
            </a:extLst>
          </a:blip>
          <a:stretch/>
        </p:blipFill>
        <p:spPr>
          <a:xfrm>
            <a:off x="6483478" y="5846446"/>
            <a:ext cx="185166" cy="185166"/>
          </a:xfrm>
          <a:prstGeom prst="rect">
            <a:avLst/>
          </a:prstGeom>
        </p:spPr>
      </p:pic>
      <p:sp>
        <p:nvSpPr>
          <p:cNvPr id="29" name="矩形 28">
            <a:extLst>
              <a:ext uri="{FF2B5EF4-FFF2-40B4-BE49-F238E27FC236}">
                <a16:creationId xmlns:a16="http://schemas.microsoft.com/office/drawing/2014/main" id="{5AA33129-3FE4-408D-B61D-6DD42BC1B774}"/>
              </a:ext>
            </a:extLst>
          </p:cNvPr>
          <p:cNvSpPr>
            <a:spLocks noGrp="1"/>
          </p:cNvSpPr>
          <p:nvPr/>
        </p:nvSpPr>
        <p:spPr>
          <a:xfrm>
            <a:off x="6740652" y="5815584"/>
            <a:ext cx="2434590" cy="246888"/>
          </a:xfrm>
          <a:prstGeom prst="rect">
            <a:avLst/>
          </a:prstGeom>
          <a:noFill/>
          <a:ln w="0">
            <a:noFill/>
          </a:ln>
        </p:spPr>
        <p:txBody>
          <a:bodyPr lIns="0" tIns="0" rIns="0" bIns="0" anchor="ctr">
            <a:noAutofit/>
          </a:bodyPr>
          <a:lstStyle/>
          <a:p>
            <a:pPr algn="l">
              <a:defRPr sz="1575" b="0">
                <a:solidFill>
                  <a:srgbClr val="D89859"/>
                </a:solidFill>
                <a:latin typeface="Times New Roman"/>
                <a:ea typeface="Arial"/>
                <a:cs typeface="Times New Roman"/>
              </a:defRPr>
            </a:pPr>
            <a:r>
              <a:rPr sz="1134" dirty="0">
                <a:solidFill>
                  <a:srgbClr val="2EBA9E"/>
                </a:solidFill>
                <a:latin typeface="Times New Roman"/>
                <a:ea typeface="Arial"/>
                <a:cs typeface="Times New Roman"/>
              </a:rPr>
              <a:t>GPT-sol (none)</a:t>
            </a:r>
          </a:p>
        </p:txBody>
      </p:sp>
      <p:pic>
        <p:nvPicPr>
          <p:cNvPr id="62" name="图形 61"/>
          <p:cNvPicPr>
            <a:picLocks noChangeAspect="1"/>
          </p:cNvPicPr>
          <p:nvPr/>
        </p:nvPicPr>
        <p:blipFill>
          <a:blip>
            <a:extLst>
              <a:ext uri="{96DAC541-7B7A-43D3-8B79-37D633B846F1}">
                <asvg:svgBlip xmlns:asvg="http://schemas.microsoft.com/office/drawing/2016/SVG/main" r:embed="rId9"/>
              </a:ext>
            </a:extLst>
          </a:blip>
          <a:stretch/>
        </p:blipFill>
        <p:spPr>
          <a:xfrm>
            <a:off x="9158098" y="5846446"/>
            <a:ext cx="185166" cy="185166"/>
          </a:xfrm>
          <a:prstGeom prst="rect">
            <a:avLst/>
          </a:prstGeom>
        </p:spPr>
      </p:pic>
      <p:sp>
        <p:nvSpPr>
          <p:cNvPr id="31" name="矩形 30">
            <a:extLst>
              <a:ext uri="{FF2B5EF4-FFF2-40B4-BE49-F238E27FC236}">
                <a16:creationId xmlns:a16="http://schemas.microsoft.com/office/drawing/2014/main" id="{30F93D85-A9D3-4F78-A2E4-FE47851E248E}"/>
              </a:ext>
            </a:extLst>
          </p:cNvPr>
          <p:cNvSpPr>
            <a:spLocks noGrp="1"/>
          </p:cNvSpPr>
          <p:nvPr/>
        </p:nvSpPr>
        <p:spPr>
          <a:xfrm>
            <a:off x="9415272" y="5815584"/>
            <a:ext cx="2434590" cy="246888"/>
          </a:xfrm>
          <a:prstGeom prst="rect">
            <a:avLst/>
          </a:prstGeom>
          <a:noFill/>
          <a:ln w="0">
            <a:noFill/>
          </a:ln>
        </p:spPr>
        <p:txBody>
          <a:bodyPr lIns="0" tIns="0" rIns="0" bIns="0" anchor="ctr">
            <a:noAutofit/>
          </a:bodyPr>
          <a:lstStyle/>
          <a:p>
            <a:pPr algn="l">
              <a:defRPr sz="1575" b="0">
                <a:solidFill>
                  <a:srgbClr val="A38BC9"/>
                </a:solidFill>
                <a:latin typeface="Times New Roman"/>
                <a:ea typeface="Arial"/>
                <a:cs typeface="Times New Roman"/>
              </a:defRPr>
            </a:pPr>
            <a:r>
              <a:rPr sz="1134" dirty="0">
                <a:solidFill>
                  <a:srgbClr val="785ECE"/>
                </a:solidFill>
                <a:latin typeface="Times New Roman"/>
                <a:ea typeface="Arial"/>
                <a:cs typeface="Times New Roman"/>
              </a:rPr>
              <a:t>GPT-astra (none)</a:t>
            </a:r>
          </a:p>
        </p:txBody>
      </p:sp>
      <p:sp>
        <p:nvSpPr>
          <p:cNvPr id="32" name="矩形 31">
            <a:extLst>
              <a:ext uri="{FF2B5EF4-FFF2-40B4-BE49-F238E27FC236}">
                <a16:creationId xmlns:a16="http://schemas.microsoft.com/office/drawing/2014/main" id="{8D3BD788-87ED-4483-8372-54D1A8407A20}"/>
              </a:ext>
            </a:extLst>
          </p:cNvPr>
          <p:cNvSpPr>
            <a:spLocks noGrp="1"/>
          </p:cNvSpPr>
          <p:nvPr/>
        </p:nvSpPr>
        <p:spPr>
          <a:xfrm>
            <a:off x="630174" y="6355279"/>
            <a:ext cx="10938510" cy="205740"/>
          </a:xfrm>
          <a:prstGeom prst="rect">
            <a:avLst/>
          </a:prstGeom>
          <a:noFill/>
          <a:ln w="0">
            <a:noFill/>
          </a:ln>
        </p:spPr>
        <p:txBody>
          <a:bodyPr lIns="0" tIns="0" rIns="0" bIns="0" anchor="ctr">
            <a:noAutofit/>
          </a:bodyPr>
          <a:lstStyle/>
          <a:p>
            <a:pPr algn="l">
              <a:defRPr sz="1500" b="0">
                <a:solidFill>
                  <a:srgbClr val="73808D"/>
                </a:solidFill>
                <a:latin typeface="Times New Roman"/>
                <a:ea typeface="Arial"/>
                <a:cs typeface="Times New Roman"/>
              </a:defRPr>
            </a:pPr>
            <a:r>
              <a:rPr sz="1080" dirty="0">
                <a:solidFill>
                  <a:srgbClr val="73808D"/>
                </a:solidFill>
                <a:latin typeface="Times New Roman"/>
                <a:ea typeface="Arial"/>
                <a:cs typeface="Times New Roman"/>
              </a:rPr>
              <a:t>Means of dataset summaries. Similarity ratios are descriptive; no statistical equivalence claim is implied.</a:t>
            </a:r>
          </a:p>
        </p:txBody>
      </p:sp>
    </p:spTree>
    <p:extLst>
      <p:ext uri="{BB962C8B-B14F-4D97-AF65-F5344CB8AC3E}">
        <p14:creationId xmlns:p14="http://schemas.microsoft.com/office/powerpoint/2010/main" val="60487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ACA519D-AE1D-4C2D-B771-B33ADA01FDB1}"/>
              </a:ext>
            </a:extLst>
          </p:cNvPr>
          <p:cNvSpPr>
            <a:spLocks noGrp="1"/>
          </p:cNvSpPr>
          <p:nvPr/>
        </p:nvSpPr>
        <p:spPr>
          <a:xfrm>
            <a:off x="1730883" y="1097627"/>
            <a:ext cx="3209544" cy="246888"/>
          </a:xfrm>
          <a:prstGeom prst="rect">
            <a:avLst/>
          </a:prstGeom>
          <a:noFill/>
          <a:ln w="0">
            <a:noFill/>
          </a:ln>
        </p:spPr>
        <p:txBody>
          <a:bodyPr lIns="0" tIns="0" rIns="0" bIns="0" anchor="ctr">
            <a:noAutofit/>
          </a:bodyPr>
          <a:lstStyle/>
          <a:p>
            <a:pPr algn="ctr">
              <a:defRPr sz="180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Reconstruction Quality</a:t>
            </a:r>
          </a:p>
        </p:txBody>
      </p:sp>
      <p:sp>
        <p:nvSpPr>
          <p:cNvPr id="4" name="矩形 3">
            <a:extLst>
              <a:ext uri="{FF2B5EF4-FFF2-40B4-BE49-F238E27FC236}">
                <a16:creationId xmlns:a16="http://schemas.microsoft.com/office/drawing/2014/main" id="{46180B67-8311-403A-8F2B-9B19845D9647}"/>
              </a:ext>
            </a:extLst>
          </p:cNvPr>
          <p:cNvSpPr>
            <a:spLocks noGrp="1"/>
          </p:cNvSpPr>
          <p:nvPr/>
        </p:nvSpPr>
        <p:spPr>
          <a:xfrm>
            <a:off x="5060762" y="1096998"/>
            <a:ext cx="3209544" cy="246888"/>
          </a:xfrm>
          <a:prstGeom prst="rect">
            <a:avLst/>
          </a:prstGeom>
          <a:noFill/>
          <a:ln w="0">
            <a:noFill/>
          </a:ln>
        </p:spPr>
        <p:txBody>
          <a:bodyPr lIns="0" tIns="0" rIns="0" bIns="0" anchor="ctr">
            <a:noAutofit/>
          </a:bodyPr>
          <a:lstStyle/>
          <a:p>
            <a:pPr algn="ctr">
              <a:defRPr sz="180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Inference Time</a:t>
            </a:r>
          </a:p>
        </p:txBody>
      </p:sp>
      <p:sp>
        <p:nvSpPr>
          <p:cNvPr id="5" name="矩形 4">
            <a:extLst>
              <a:ext uri="{FF2B5EF4-FFF2-40B4-BE49-F238E27FC236}">
                <a16:creationId xmlns:a16="http://schemas.microsoft.com/office/drawing/2014/main" id="{9D480069-6928-4DBF-BD97-7023E9CEA1C3}"/>
              </a:ext>
            </a:extLst>
          </p:cNvPr>
          <p:cNvSpPr>
            <a:spLocks noGrp="1"/>
          </p:cNvSpPr>
          <p:nvPr/>
        </p:nvSpPr>
        <p:spPr>
          <a:xfrm>
            <a:off x="8451723" y="1097115"/>
            <a:ext cx="3209544" cy="246888"/>
          </a:xfrm>
          <a:prstGeom prst="rect">
            <a:avLst/>
          </a:prstGeom>
          <a:noFill/>
          <a:ln w="0">
            <a:noFill/>
          </a:ln>
        </p:spPr>
        <p:txBody>
          <a:bodyPr lIns="0" tIns="0" rIns="0" bIns="0" anchor="ctr">
            <a:noAutofit/>
          </a:bodyPr>
          <a:lstStyle/>
          <a:p>
            <a:pPr algn="ctr">
              <a:defRPr sz="1800"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Equivalent Cost</a:t>
            </a:r>
          </a:p>
        </p:txBody>
      </p:sp>
      <p:sp>
        <p:nvSpPr>
          <p:cNvPr id="6" name="矩形 5">
            <a:extLst>
              <a:ext uri="{FF2B5EF4-FFF2-40B4-BE49-F238E27FC236}">
                <a16:creationId xmlns:a16="http://schemas.microsoft.com/office/drawing/2014/main" id="{55D03577-CB2D-4118-BA41-697EE58346C4}"/>
              </a:ext>
            </a:extLst>
          </p:cNvPr>
          <p:cNvSpPr>
            <a:spLocks noGrp="1"/>
          </p:cNvSpPr>
          <p:nvPr/>
        </p:nvSpPr>
        <p:spPr>
          <a:xfrm rot="16200000">
            <a:off x="741418" y="4973843"/>
            <a:ext cx="1313705" cy="411480"/>
          </a:xfrm>
          <a:prstGeom prst="rect">
            <a:avLst/>
          </a:prstGeom>
          <a:noFill/>
          <a:ln w="0">
            <a:noFill/>
          </a:ln>
        </p:spPr>
        <p:txBody>
          <a:bodyPr lIns="0" tIns="0" rIns="0" bIns="0" anchor="ctr">
            <a:noAutofit/>
          </a:bodyPr>
          <a:lstStyle/>
          <a:p>
            <a:pPr algn="ctr">
              <a:defRPr sz="1725"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ARKitScenes</a:t>
            </a:r>
          </a:p>
        </p:txBody>
      </p:sp>
      <p:sp>
        <p:nvSpPr>
          <p:cNvPr id="7" name="矩形: 圆角 6">
            <a:extLst>
              <a:ext uri="{FF2B5EF4-FFF2-40B4-BE49-F238E27FC236}">
                <a16:creationId xmlns:a16="http://schemas.microsoft.com/office/drawing/2014/main" id="{7E6F7D63-6D73-4730-804A-36EDBE41116C}"/>
              </a:ext>
            </a:extLst>
          </p:cNvPr>
          <p:cNvSpPr>
            <a:spLocks noGrp="1"/>
          </p:cNvSpPr>
          <p:nvPr/>
        </p:nvSpPr>
        <p:spPr>
          <a:xfrm>
            <a:off x="1604010" y="1378458"/>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0" name="Editable chart with rounded bars 1"/>
          <p:cNvGrpSpPr/>
          <p:nvPr/>
        </p:nvGrpSpPr>
        <p:grpSpPr>
          <a:xfrm>
            <a:off x="1652016" y="1563624"/>
            <a:ext cx="3113532" cy="1179576"/>
            <a:chOff x="1828800" y="2171700"/>
            <a:chExt cx="4324350" cy="1638300"/>
          </a:xfrm>
        </p:grpSpPr>
        <p:graphicFrame>
          <p:nvGraphicFramePr>
            <p:cNvPr id="43" name="Chart"/>
            <p:cNvGraphicFramePr/>
            <p:nvPr/>
          </p:nvGraphicFramePr>
          <p:xfrm>
            <a:off x="1828800" y="2171700"/>
            <a:ext cx="4324350" cy="1638300"/>
          </p:xfrm>
          <a:graphic>
            <a:graphicData uri="http://schemas.openxmlformats.org/drawingml/2006/chart">
              <c:chart xmlns:c="http://schemas.openxmlformats.org/drawingml/2006/chart" xmlns:r="http://schemas.openxmlformats.org/officeDocument/2006/relationships" r:id="rId3"/>
            </a:graphicData>
          </a:graphic>
        </p:graphicFrame>
        <p:sp>
          <p:nvSpPr>
            <p:cNvPr id="300" name="Rounded bar 1-1">
              <a:extLst>
                <a:ext uri="{FF2B5EF4-FFF2-40B4-BE49-F238E27FC236}">
                  <a16:creationId xmlns:a16="http://schemas.microsoft.com/office/drawing/2014/main" id="{3742D37C-DF39-4427-B807-7C5BD3B460C8}"/>
                </a:ext>
              </a:extLst>
            </p:cNvPr>
            <p:cNvSpPr>
              <a:spLocks noGrp="1"/>
            </p:cNvSpPr>
            <p:nvPr/>
          </p:nvSpPr>
          <p:spPr>
            <a:xfrm>
              <a:off x="2599586" y="3200034"/>
              <a:ext cx="490872" cy="364221"/>
            </a:xfrm>
            <a:prstGeom prst="roundRect">
              <a:avLst>
                <a:gd name="adj" fmla="val 10461"/>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01" name="Rounded bar 1-2">
              <a:extLst>
                <a:ext uri="{FF2B5EF4-FFF2-40B4-BE49-F238E27FC236}">
                  <a16:creationId xmlns:a16="http://schemas.microsoft.com/office/drawing/2014/main" id="{23E40310-B8BF-4DD6-A537-EA3CB317D4B7}"/>
                </a:ext>
              </a:extLst>
            </p:cNvPr>
            <p:cNvSpPr>
              <a:spLocks noGrp="1"/>
            </p:cNvSpPr>
            <p:nvPr/>
          </p:nvSpPr>
          <p:spPr>
            <a:xfrm>
              <a:off x="3507700" y="3002271"/>
              <a:ext cx="490872" cy="561984"/>
            </a:xfrm>
            <a:prstGeom prst="roundRect">
              <a:avLst>
                <a:gd name="adj" fmla="val 7762"/>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02" name="Rounded bar 1-3">
              <a:extLst>
                <a:ext uri="{FF2B5EF4-FFF2-40B4-BE49-F238E27FC236}">
                  <a16:creationId xmlns:a16="http://schemas.microsoft.com/office/drawing/2014/main" id="{913B1457-78A2-4F78-A0CD-D2EA8B845FE2}"/>
                </a:ext>
              </a:extLst>
            </p:cNvPr>
            <p:cNvSpPr>
              <a:spLocks noGrp="1"/>
            </p:cNvSpPr>
            <p:nvPr/>
          </p:nvSpPr>
          <p:spPr>
            <a:xfrm>
              <a:off x="4415813" y="2964993"/>
              <a:ext cx="490872" cy="599262"/>
            </a:xfrm>
            <a:prstGeom prst="roundRect">
              <a:avLst>
                <a:gd name="adj" fmla="val 7762"/>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03" name="Rounded bar 1-4">
              <a:extLst>
                <a:ext uri="{FF2B5EF4-FFF2-40B4-BE49-F238E27FC236}">
                  <a16:creationId xmlns:a16="http://schemas.microsoft.com/office/drawing/2014/main" id="{DBED217E-4A1D-4284-AE48-9966342E6BC4}"/>
                </a:ext>
              </a:extLst>
            </p:cNvPr>
            <p:cNvSpPr>
              <a:spLocks noGrp="1"/>
            </p:cNvSpPr>
            <p:nvPr/>
          </p:nvSpPr>
          <p:spPr>
            <a:xfrm>
              <a:off x="5323927" y="2702507"/>
              <a:ext cx="490872" cy="861748"/>
            </a:xfrm>
            <a:prstGeom prst="roundRect">
              <a:avLst>
                <a:gd name="adj" fmla="val 7762"/>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9" name="矩形: 圆角 8">
            <a:extLst>
              <a:ext uri="{FF2B5EF4-FFF2-40B4-BE49-F238E27FC236}">
                <a16:creationId xmlns:a16="http://schemas.microsoft.com/office/drawing/2014/main" id="{C308C53D-E5CB-46CF-A23D-DF1BDDC0B77B}"/>
              </a:ext>
            </a:extLst>
          </p:cNvPr>
          <p:cNvSpPr>
            <a:spLocks noGrp="1"/>
          </p:cNvSpPr>
          <p:nvPr/>
        </p:nvSpPr>
        <p:spPr>
          <a:xfrm>
            <a:off x="4964430" y="1378458"/>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1" name="Editable chart with rounded bars 2"/>
          <p:cNvGrpSpPr/>
          <p:nvPr/>
        </p:nvGrpSpPr>
        <p:grpSpPr>
          <a:xfrm>
            <a:off x="5012436" y="1563624"/>
            <a:ext cx="3113532" cy="1179576"/>
            <a:chOff x="6496050" y="2171700"/>
            <a:chExt cx="4324350" cy="1638300"/>
          </a:xfrm>
        </p:grpSpPr>
        <p:graphicFrame>
          <p:nvGraphicFramePr>
            <p:cNvPr id="45" name="Chart"/>
            <p:cNvGraphicFramePr/>
            <p:nvPr/>
          </p:nvGraphicFramePr>
          <p:xfrm>
            <a:off x="6496050" y="2171700"/>
            <a:ext cx="4324350" cy="1638300"/>
          </p:xfrm>
          <a:graphic>
            <a:graphicData uri="http://schemas.openxmlformats.org/drawingml/2006/chart">
              <c:chart xmlns:c="http://schemas.openxmlformats.org/drawingml/2006/chart" xmlns:r="http://schemas.openxmlformats.org/officeDocument/2006/relationships" r:id="rId4"/>
            </a:graphicData>
          </a:graphic>
        </p:graphicFrame>
        <p:sp>
          <p:nvSpPr>
            <p:cNvPr id="304" name="Rounded bar 2-1">
              <a:extLst>
                <a:ext uri="{FF2B5EF4-FFF2-40B4-BE49-F238E27FC236}">
                  <a16:creationId xmlns:a16="http://schemas.microsoft.com/office/drawing/2014/main" id="{6EFCFF19-7D87-4BA9-8421-BF5FA7443BC8}"/>
                </a:ext>
              </a:extLst>
            </p:cNvPr>
            <p:cNvSpPr>
              <a:spLocks noGrp="1"/>
            </p:cNvSpPr>
            <p:nvPr/>
          </p:nvSpPr>
          <p:spPr>
            <a:xfrm>
              <a:off x="7429876" y="2690822"/>
              <a:ext cx="467497" cy="873433"/>
            </a:xfrm>
            <a:prstGeom prst="roundRect">
              <a:avLst>
                <a:gd name="adj" fmla="val 8150"/>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05" name="Rounded bar 2-2">
              <a:extLst>
                <a:ext uri="{FF2B5EF4-FFF2-40B4-BE49-F238E27FC236}">
                  <a16:creationId xmlns:a16="http://schemas.microsoft.com/office/drawing/2014/main" id="{2D88C31E-761C-4A24-A8FA-0D1496A206E0}"/>
                </a:ext>
              </a:extLst>
            </p:cNvPr>
            <p:cNvSpPr>
              <a:spLocks noGrp="1"/>
            </p:cNvSpPr>
            <p:nvPr/>
          </p:nvSpPr>
          <p:spPr>
            <a:xfrm>
              <a:off x="8294746" y="3099584"/>
              <a:ext cx="467497" cy="464671"/>
            </a:xfrm>
            <a:prstGeom prst="roundRect">
              <a:avLst>
                <a:gd name="adj" fmla="val 8199"/>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06" name="Rounded bar 2-3">
              <a:extLst>
                <a:ext uri="{FF2B5EF4-FFF2-40B4-BE49-F238E27FC236}">
                  <a16:creationId xmlns:a16="http://schemas.microsoft.com/office/drawing/2014/main" id="{5F40D370-9F8C-4CB8-819F-0350D3F46BAE}"/>
                </a:ext>
              </a:extLst>
            </p:cNvPr>
            <p:cNvSpPr>
              <a:spLocks noGrp="1"/>
            </p:cNvSpPr>
            <p:nvPr/>
          </p:nvSpPr>
          <p:spPr>
            <a:xfrm>
              <a:off x="9159616" y="3360804"/>
              <a:ext cx="467497" cy="203451"/>
            </a:xfrm>
            <a:prstGeom prst="roundRect">
              <a:avLst>
                <a:gd name="adj" fmla="val 18727"/>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07" name="Rounded bar 2-4">
              <a:extLst>
                <a:ext uri="{FF2B5EF4-FFF2-40B4-BE49-F238E27FC236}">
                  <a16:creationId xmlns:a16="http://schemas.microsoft.com/office/drawing/2014/main" id="{9D098D91-16A4-428A-BA3E-378202FDF3C4}"/>
                </a:ext>
              </a:extLst>
            </p:cNvPr>
            <p:cNvSpPr>
              <a:spLocks noGrp="1"/>
            </p:cNvSpPr>
            <p:nvPr/>
          </p:nvSpPr>
          <p:spPr>
            <a:xfrm>
              <a:off x="10024486" y="3271155"/>
              <a:ext cx="467497" cy="293100"/>
            </a:xfrm>
            <a:prstGeom prst="roundRect">
              <a:avLst>
                <a:gd name="adj" fmla="val 12999"/>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11" name="矩形: 圆角 10">
            <a:extLst>
              <a:ext uri="{FF2B5EF4-FFF2-40B4-BE49-F238E27FC236}">
                <a16:creationId xmlns:a16="http://schemas.microsoft.com/office/drawing/2014/main" id="{D698A06A-00C3-4F4E-8273-B1FD6317C604}"/>
              </a:ext>
            </a:extLst>
          </p:cNvPr>
          <p:cNvSpPr>
            <a:spLocks noGrp="1"/>
          </p:cNvSpPr>
          <p:nvPr/>
        </p:nvSpPr>
        <p:spPr>
          <a:xfrm>
            <a:off x="8324850" y="1378458"/>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2" name="Editable chart with rounded bars 3"/>
          <p:cNvGrpSpPr/>
          <p:nvPr/>
        </p:nvGrpSpPr>
        <p:grpSpPr>
          <a:xfrm>
            <a:off x="8372856" y="1563624"/>
            <a:ext cx="3113532" cy="1179576"/>
            <a:chOff x="11163300" y="2171700"/>
            <a:chExt cx="4324350" cy="1638300"/>
          </a:xfrm>
        </p:grpSpPr>
        <p:graphicFrame>
          <p:nvGraphicFramePr>
            <p:cNvPr id="47" name="Chart"/>
            <p:cNvGraphicFramePr/>
            <p:nvPr/>
          </p:nvGraphicFramePr>
          <p:xfrm>
            <a:off x="11163300" y="2171700"/>
            <a:ext cx="4324350" cy="1638300"/>
          </p:xfrm>
          <a:graphic>
            <a:graphicData uri="http://schemas.openxmlformats.org/drawingml/2006/chart">
              <c:chart xmlns:c="http://schemas.openxmlformats.org/drawingml/2006/chart" xmlns:r="http://schemas.openxmlformats.org/officeDocument/2006/relationships" r:id="rId5"/>
            </a:graphicData>
          </a:graphic>
        </p:graphicFrame>
        <p:sp>
          <p:nvSpPr>
            <p:cNvPr id="308" name="Rounded bar 3-1">
              <a:extLst>
                <a:ext uri="{FF2B5EF4-FFF2-40B4-BE49-F238E27FC236}">
                  <a16:creationId xmlns:a16="http://schemas.microsoft.com/office/drawing/2014/main" id="{813A025F-8DBB-42A0-9411-C1E654B024FE}"/>
                </a:ext>
              </a:extLst>
            </p:cNvPr>
            <p:cNvSpPr>
              <a:spLocks noGrp="1"/>
            </p:cNvSpPr>
            <p:nvPr/>
          </p:nvSpPr>
          <p:spPr>
            <a:xfrm>
              <a:off x="11934086" y="3384360"/>
              <a:ext cx="490872" cy="179895"/>
            </a:xfrm>
            <a:prstGeom prst="roundRect">
              <a:avLst>
                <a:gd name="adj" fmla="val 21179"/>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09" name="Rounded bar 3-2">
              <a:extLst>
                <a:ext uri="{FF2B5EF4-FFF2-40B4-BE49-F238E27FC236}">
                  <a16:creationId xmlns:a16="http://schemas.microsoft.com/office/drawing/2014/main" id="{1B7F120E-D048-4224-9BF8-D99820352D6C}"/>
                </a:ext>
              </a:extLst>
            </p:cNvPr>
            <p:cNvSpPr>
              <a:spLocks noGrp="1"/>
            </p:cNvSpPr>
            <p:nvPr/>
          </p:nvSpPr>
          <p:spPr>
            <a:xfrm>
              <a:off x="12842200" y="3300163"/>
              <a:ext cx="490872" cy="264092"/>
            </a:xfrm>
            <a:prstGeom prst="roundRect">
              <a:avLst>
                <a:gd name="adj" fmla="val 14427"/>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0" name="Rounded bar 3-3">
              <a:extLst>
                <a:ext uri="{FF2B5EF4-FFF2-40B4-BE49-F238E27FC236}">
                  <a16:creationId xmlns:a16="http://schemas.microsoft.com/office/drawing/2014/main" id="{3B90E2F9-87CC-483A-811B-9D5A34598506}"/>
                </a:ext>
              </a:extLst>
            </p:cNvPr>
            <p:cNvSpPr>
              <a:spLocks noGrp="1"/>
            </p:cNvSpPr>
            <p:nvPr/>
          </p:nvSpPr>
          <p:spPr>
            <a:xfrm>
              <a:off x="13750313" y="3123864"/>
              <a:ext cx="490872" cy="440391"/>
            </a:xfrm>
            <a:prstGeom prst="roundRect">
              <a:avLst>
                <a:gd name="adj" fmla="val 8651"/>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1" name="Rounded bar 3-4">
              <a:extLst>
                <a:ext uri="{FF2B5EF4-FFF2-40B4-BE49-F238E27FC236}">
                  <a16:creationId xmlns:a16="http://schemas.microsoft.com/office/drawing/2014/main" id="{B14ECA1B-9018-4846-9F10-53399663E0B6}"/>
                </a:ext>
              </a:extLst>
            </p:cNvPr>
            <p:cNvSpPr>
              <a:spLocks noGrp="1"/>
            </p:cNvSpPr>
            <p:nvPr/>
          </p:nvSpPr>
          <p:spPr>
            <a:xfrm>
              <a:off x="14658427" y="2744275"/>
              <a:ext cx="490872" cy="819980"/>
            </a:xfrm>
            <a:prstGeom prst="roundRect">
              <a:avLst>
                <a:gd name="adj" fmla="val 7762"/>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grpSp>
      <p:sp>
        <p:nvSpPr>
          <p:cNvPr id="13" name="矩形 12">
            <a:extLst>
              <a:ext uri="{FF2B5EF4-FFF2-40B4-BE49-F238E27FC236}">
                <a16:creationId xmlns:a16="http://schemas.microsoft.com/office/drawing/2014/main" id="{0D968F51-F187-4323-A4B7-A78F72BCDD0C}"/>
              </a:ext>
            </a:extLst>
          </p:cNvPr>
          <p:cNvSpPr>
            <a:spLocks noGrp="1"/>
          </p:cNvSpPr>
          <p:nvPr/>
        </p:nvSpPr>
        <p:spPr>
          <a:xfrm rot="16200000">
            <a:off x="877062" y="3387852"/>
            <a:ext cx="1042416" cy="411480"/>
          </a:xfrm>
          <a:prstGeom prst="rect">
            <a:avLst/>
          </a:prstGeom>
          <a:noFill/>
          <a:ln w="0">
            <a:noFill/>
          </a:ln>
        </p:spPr>
        <p:txBody>
          <a:bodyPr lIns="0" tIns="0" rIns="0" bIns="0" anchor="ctr">
            <a:noAutofit/>
          </a:bodyPr>
          <a:lstStyle/>
          <a:p>
            <a:pPr algn="ctr">
              <a:defRPr sz="1725"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CA-1M</a:t>
            </a:r>
          </a:p>
        </p:txBody>
      </p:sp>
      <p:sp>
        <p:nvSpPr>
          <p:cNvPr id="14" name="矩形: 圆角 13">
            <a:extLst>
              <a:ext uri="{FF2B5EF4-FFF2-40B4-BE49-F238E27FC236}">
                <a16:creationId xmlns:a16="http://schemas.microsoft.com/office/drawing/2014/main" id="{8269D832-15C8-4496-AFC5-5D799726AD38}"/>
              </a:ext>
            </a:extLst>
          </p:cNvPr>
          <p:cNvSpPr>
            <a:spLocks noGrp="1"/>
          </p:cNvSpPr>
          <p:nvPr/>
        </p:nvSpPr>
        <p:spPr>
          <a:xfrm>
            <a:off x="1604010" y="2914650"/>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3" name="Editable chart with rounded bars 4"/>
          <p:cNvGrpSpPr/>
          <p:nvPr/>
        </p:nvGrpSpPr>
        <p:grpSpPr>
          <a:xfrm>
            <a:off x="1657486" y="3099816"/>
            <a:ext cx="3113532" cy="1179576"/>
            <a:chOff x="1828800" y="4305300"/>
            <a:chExt cx="4324350" cy="1638300"/>
          </a:xfrm>
        </p:grpSpPr>
        <p:graphicFrame>
          <p:nvGraphicFramePr>
            <p:cNvPr id="50" name="Chart"/>
            <p:cNvGraphicFramePr/>
            <p:nvPr/>
          </p:nvGraphicFramePr>
          <p:xfrm>
            <a:off x="1828800" y="4305300"/>
            <a:ext cx="4324350" cy="1638300"/>
          </p:xfrm>
          <a:graphic>
            <a:graphicData uri="http://schemas.openxmlformats.org/drawingml/2006/chart">
              <c:chart xmlns:c="http://schemas.openxmlformats.org/drawingml/2006/chart" xmlns:r="http://schemas.openxmlformats.org/officeDocument/2006/relationships" r:id="rId6"/>
            </a:graphicData>
          </a:graphic>
        </p:graphicFrame>
        <p:sp>
          <p:nvSpPr>
            <p:cNvPr id="312" name="Rounded bar 4-1">
              <a:extLst>
                <a:ext uri="{FF2B5EF4-FFF2-40B4-BE49-F238E27FC236}">
                  <a16:creationId xmlns:a16="http://schemas.microsoft.com/office/drawing/2014/main" id="{5EF4B2DD-F4D0-406A-90EC-4B3F5281A806}"/>
                </a:ext>
              </a:extLst>
            </p:cNvPr>
            <p:cNvSpPr>
              <a:spLocks noGrp="1"/>
            </p:cNvSpPr>
            <p:nvPr/>
          </p:nvSpPr>
          <p:spPr>
            <a:xfrm>
              <a:off x="2599586" y="5475837"/>
              <a:ext cx="490872" cy="222018"/>
            </a:xfrm>
            <a:prstGeom prst="roundRect">
              <a:avLst>
                <a:gd name="adj" fmla="val 17161"/>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3" name="Rounded bar 4-2">
              <a:extLst>
                <a:ext uri="{FF2B5EF4-FFF2-40B4-BE49-F238E27FC236}">
                  <a16:creationId xmlns:a16="http://schemas.microsoft.com/office/drawing/2014/main" id="{74635A13-78A3-47A0-8574-C9BD7BC3CD50}"/>
                </a:ext>
              </a:extLst>
            </p:cNvPr>
            <p:cNvSpPr>
              <a:spLocks noGrp="1"/>
            </p:cNvSpPr>
            <p:nvPr/>
          </p:nvSpPr>
          <p:spPr>
            <a:xfrm>
              <a:off x="3507700" y="5047242"/>
              <a:ext cx="490872" cy="650613"/>
            </a:xfrm>
            <a:prstGeom prst="roundRect">
              <a:avLst>
                <a:gd name="adj" fmla="val 7762"/>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14" name="Rounded bar 4-3">
              <a:extLst>
                <a:ext uri="{FF2B5EF4-FFF2-40B4-BE49-F238E27FC236}">
                  <a16:creationId xmlns:a16="http://schemas.microsoft.com/office/drawing/2014/main" id="{B63DAEE7-9BF2-420C-A369-27E281FFB6DC}"/>
                </a:ext>
              </a:extLst>
            </p:cNvPr>
            <p:cNvSpPr>
              <a:spLocks noGrp="1"/>
            </p:cNvSpPr>
            <p:nvPr/>
          </p:nvSpPr>
          <p:spPr>
            <a:xfrm>
              <a:off x="4415813" y="5054179"/>
              <a:ext cx="490872" cy="643676"/>
            </a:xfrm>
            <a:prstGeom prst="roundRect">
              <a:avLst>
                <a:gd name="adj" fmla="val 7762"/>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5" name="Rounded bar 4-4">
              <a:extLst>
                <a:ext uri="{FF2B5EF4-FFF2-40B4-BE49-F238E27FC236}">
                  <a16:creationId xmlns:a16="http://schemas.microsoft.com/office/drawing/2014/main" id="{7B16B2C7-6CA2-4227-9657-03A45422C17F}"/>
                </a:ext>
              </a:extLst>
            </p:cNvPr>
            <p:cNvSpPr>
              <a:spLocks noGrp="1"/>
            </p:cNvSpPr>
            <p:nvPr/>
          </p:nvSpPr>
          <p:spPr>
            <a:xfrm>
              <a:off x="5323927" y="4773992"/>
              <a:ext cx="490872" cy="923863"/>
            </a:xfrm>
            <a:prstGeom prst="roundRect">
              <a:avLst>
                <a:gd name="adj" fmla="val 7762"/>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16" name="矩形: 圆角 15">
            <a:extLst>
              <a:ext uri="{FF2B5EF4-FFF2-40B4-BE49-F238E27FC236}">
                <a16:creationId xmlns:a16="http://schemas.microsoft.com/office/drawing/2014/main" id="{2CF27F3A-DF96-4830-90AF-166922DBA84D}"/>
              </a:ext>
            </a:extLst>
          </p:cNvPr>
          <p:cNvSpPr>
            <a:spLocks noGrp="1"/>
          </p:cNvSpPr>
          <p:nvPr/>
        </p:nvSpPr>
        <p:spPr>
          <a:xfrm>
            <a:off x="4964430" y="2914650"/>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4" name="Editable chart with rounded bars 5"/>
          <p:cNvGrpSpPr/>
          <p:nvPr/>
        </p:nvGrpSpPr>
        <p:grpSpPr>
          <a:xfrm>
            <a:off x="5012436" y="3099816"/>
            <a:ext cx="3113532" cy="1179576"/>
            <a:chOff x="6496050" y="4305300"/>
            <a:chExt cx="4324350" cy="1638300"/>
          </a:xfrm>
        </p:grpSpPr>
        <p:graphicFrame>
          <p:nvGraphicFramePr>
            <p:cNvPr id="52" name="Chart"/>
            <p:cNvGraphicFramePr/>
            <p:nvPr/>
          </p:nvGraphicFramePr>
          <p:xfrm>
            <a:off x="6496050" y="4305300"/>
            <a:ext cx="4324350" cy="1638300"/>
          </p:xfrm>
          <a:graphic>
            <a:graphicData uri="http://schemas.openxmlformats.org/drawingml/2006/chart">
              <c:chart xmlns:c="http://schemas.openxmlformats.org/drawingml/2006/chart" xmlns:r="http://schemas.openxmlformats.org/officeDocument/2006/relationships" r:id="rId7"/>
            </a:graphicData>
          </a:graphic>
        </p:graphicFrame>
        <p:sp>
          <p:nvSpPr>
            <p:cNvPr id="316" name="Rounded bar 5-1">
              <a:extLst>
                <a:ext uri="{FF2B5EF4-FFF2-40B4-BE49-F238E27FC236}">
                  <a16:creationId xmlns:a16="http://schemas.microsoft.com/office/drawing/2014/main" id="{5A532CE6-8B5F-4CFA-8E06-D2F5A1CBC15D}"/>
                </a:ext>
              </a:extLst>
            </p:cNvPr>
            <p:cNvSpPr>
              <a:spLocks noGrp="1"/>
            </p:cNvSpPr>
            <p:nvPr/>
          </p:nvSpPr>
          <p:spPr>
            <a:xfrm>
              <a:off x="7429876" y="4730520"/>
              <a:ext cx="467497" cy="967335"/>
            </a:xfrm>
            <a:prstGeom prst="roundRect">
              <a:avLst>
                <a:gd name="adj" fmla="val 8150"/>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17" name="Rounded bar 5-2">
              <a:extLst>
                <a:ext uri="{FF2B5EF4-FFF2-40B4-BE49-F238E27FC236}">
                  <a16:creationId xmlns:a16="http://schemas.microsoft.com/office/drawing/2014/main" id="{4A1FDC08-65BC-4BF6-9B55-E25EEDC17097}"/>
                </a:ext>
              </a:extLst>
            </p:cNvPr>
            <p:cNvSpPr>
              <a:spLocks noGrp="1"/>
            </p:cNvSpPr>
            <p:nvPr/>
          </p:nvSpPr>
          <p:spPr>
            <a:xfrm>
              <a:off x="8294746" y="5263455"/>
              <a:ext cx="467497" cy="434400"/>
            </a:xfrm>
            <a:prstGeom prst="roundRect">
              <a:avLst>
                <a:gd name="adj" fmla="val 8771"/>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8" name="Rounded bar 5-3">
              <a:extLst>
                <a:ext uri="{FF2B5EF4-FFF2-40B4-BE49-F238E27FC236}">
                  <a16:creationId xmlns:a16="http://schemas.microsoft.com/office/drawing/2014/main" id="{CB04E07A-4223-406E-A529-A0A4DC79A1DD}"/>
                </a:ext>
              </a:extLst>
            </p:cNvPr>
            <p:cNvSpPr>
              <a:spLocks noGrp="1"/>
            </p:cNvSpPr>
            <p:nvPr/>
          </p:nvSpPr>
          <p:spPr>
            <a:xfrm>
              <a:off x="9159616" y="5466926"/>
              <a:ext cx="467497" cy="230929"/>
            </a:xfrm>
            <a:prstGeom prst="roundRect">
              <a:avLst>
                <a:gd name="adj" fmla="val 16499"/>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19" name="Rounded bar 5-4">
              <a:extLst>
                <a:ext uri="{FF2B5EF4-FFF2-40B4-BE49-F238E27FC236}">
                  <a16:creationId xmlns:a16="http://schemas.microsoft.com/office/drawing/2014/main" id="{71F8083F-F62A-4037-93F7-D878D89940AC}"/>
                </a:ext>
              </a:extLst>
            </p:cNvPr>
            <p:cNvSpPr>
              <a:spLocks noGrp="1"/>
            </p:cNvSpPr>
            <p:nvPr/>
          </p:nvSpPr>
          <p:spPr>
            <a:xfrm>
              <a:off x="10024486" y="5295035"/>
              <a:ext cx="467497" cy="402820"/>
            </a:xfrm>
            <a:prstGeom prst="roundRect">
              <a:avLst>
                <a:gd name="adj" fmla="val 9458"/>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grpSp>
      <p:sp>
        <p:nvSpPr>
          <p:cNvPr id="18" name="矩形: 圆角 17">
            <a:extLst>
              <a:ext uri="{FF2B5EF4-FFF2-40B4-BE49-F238E27FC236}">
                <a16:creationId xmlns:a16="http://schemas.microsoft.com/office/drawing/2014/main" id="{97D65F8F-09B0-451F-A2A7-6D0FC1BB4E46}"/>
              </a:ext>
            </a:extLst>
          </p:cNvPr>
          <p:cNvSpPr>
            <a:spLocks noGrp="1"/>
          </p:cNvSpPr>
          <p:nvPr/>
        </p:nvSpPr>
        <p:spPr>
          <a:xfrm>
            <a:off x="8324850" y="2914650"/>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5" name="Editable chart with rounded bars 6"/>
          <p:cNvGrpSpPr/>
          <p:nvPr/>
        </p:nvGrpSpPr>
        <p:grpSpPr>
          <a:xfrm>
            <a:off x="8378326" y="3099816"/>
            <a:ext cx="3113532" cy="1179576"/>
            <a:chOff x="11163300" y="4305300"/>
            <a:chExt cx="4324350" cy="1638300"/>
          </a:xfrm>
        </p:grpSpPr>
        <p:graphicFrame>
          <p:nvGraphicFramePr>
            <p:cNvPr id="54" name="Chart"/>
            <p:cNvGraphicFramePr/>
            <p:nvPr/>
          </p:nvGraphicFramePr>
          <p:xfrm>
            <a:off x="11163300" y="4305300"/>
            <a:ext cx="4324350" cy="1638300"/>
          </p:xfrm>
          <a:graphic>
            <a:graphicData uri="http://schemas.openxmlformats.org/drawingml/2006/chart">
              <c:chart xmlns:c="http://schemas.openxmlformats.org/drawingml/2006/chart" xmlns:r="http://schemas.openxmlformats.org/officeDocument/2006/relationships" r:id="rId8"/>
            </a:graphicData>
          </a:graphic>
        </p:graphicFrame>
        <p:sp>
          <p:nvSpPr>
            <p:cNvPr id="320" name="Rounded bar 6-1">
              <a:extLst>
                <a:ext uri="{FF2B5EF4-FFF2-40B4-BE49-F238E27FC236}">
                  <a16:creationId xmlns:a16="http://schemas.microsoft.com/office/drawing/2014/main" id="{DC79C4B5-2017-4C10-BA5A-CA88D6914D45}"/>
                </a:ext>
              </a:extLst>
            </p:cNvPr>
            <p:cNvSpPr>
              <a:spLocks noGrp="1"/>
            </p:cNvSpPr>
            <p:nvPr/>
          </p:nvSpPr>
          <p:spPr>
            <a:xfrm>
              <a:off x="11934086" y="5399412"/>
              <a:ext cx="490872" cy="298443"/>
            </a:xfrm>
            <a:prstGeom prst="roundRect">
              <a:avLst>
                <a:gd name="adj" fmla="val 12766"/>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21" name="Rounded bar 6-2">
              <a:extLst>
                <a:ext uri="{FF2B5EF4-FFF2-40B4-BE49-F238E27FC236}">
                  <a16:creationId xmlns:a16="http://schemas.microsoft.com/office/drawing/2014/main" id="{BB002547-B888-4B76-A2C4-17D2F3FEB75D}"/>
                </a:ext>
              </a:extLst>
            </p:cNvPr>
            <p:cNvSpPr>
              <a:spLocks noGrp="1"/>
            </p:cNvSpPr>
            <p:nvPr/>
          </p:nvSpPr>
          <p:spPr>
            <a:xfrm>
              <a:off x="12842200" y="5467170"/>
              <a:ext cx="490872" cy="230685"/>
            </a:xfrm>
            <a:prstGeom prst="roundRect">
              <a:avLst>
                <a:gd name="adj" fmla="val 16516"/>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22" name="Rounded bar 6-3">
              <a:extLst>
                <a:ext uri="{FF2B5EF4-FFF2-40B4-BE49-F238E27FC236}">
                  <a16:creationId xmlns:a16="http://schemas.microsoft.com/office/drawing/2014/main" id="{227D737C-E475-4842-95ED-E27EA1824823}"/>
                </a:ext>
              </a:extLst>
            </p:cNvPr>
            <p:cNvSpPr>
              <a:spLocks noGrp="1"/>
            </p:cNvSpPr>
            <p:nvPr/>
          </p:nvSpPr>
          <p:spPr>
            <a:xfrm>
              <a:off x="13750313" y="5179399"/>
              <a:ext cx="490872" cy="518456"/>
            </a:xfrm>
            <a:prstGeom prst="roundRect">
              <a:avLst>
                <a:gd name="adj" fmla="val 7762"/>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23" name="Rounded bar 6-4">
              <a:extLst>
                <a:ext uri="{FF2B5EF4-FFF2-40B4-BE49-F238E27FC236}">
                  <a16:creationId xmlns:a16="http://schemas.microsoft.com/office/drawing/2014/main" id="{7CDB7F63-C541-4616-BAD3-7332F248153E}"/>
                </a:ext>
              </a:extLst>
            </p:cNvPr>
            <p:cNvSpPr>
              <a:spLocks noGrp="1"/>
            </p:cNvSpPr>
            <p:nvPr/>
          </p:nvSpPr>
          <p:spPr>
            <a:xfrm>
              <a:off x="14658427" y="4768077"/>
              <a:ext cx="490872" cy="929778"/>
            </a:xfrm>
            <a:prstGeom prst="roundRect">
              <a:avLst>
                <a:gd name="adj" fmla="val 7762"/>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20" name="矩形 19">
            <a:extLst>
              <a:ext uri="{FF2B5EF4-FFF2-40B4-BE49-F238E27FC236}">
                <a16:creationId xmlns:a16="http://schemas.microsoft.com/office/drawing/2014/main" id="{30150150-61E3-4603-BF6B-7585C54F3DAC}"/>
              </a:ext>
            </a:extLst>
          </p:cNvPr>
          <p:cNvSpPr>
            <a:spLocks noGrp="1"/>
          </p:cNvSpPr>
          <p:nvPr/>
        </p:nvSpPr>
        <p:spPr>
          <a:xfrm rot="16200000">
            <a:off x="877062" y="1818796"/>
            <a:ext cx="1042416" cy="411480"/>
          </a:xfrm>
          <a:prstGeom prst="rect">
            <a:avLst/>
          </a:prstGeom>
          <a:noFill/>
          <a:ln w="0">
            <a:noFill/>
          </a:ln>
        </p:spPr>
        <p:txBody>
          <a:bodyPr lIns="0" tIns="0" rIns="0" bIns="0" anchor="ctr">
            <a:noAutofit/>
          </a:bodyPr>
          <a:lstStyle/>
          <a:p>
            <a:pPr algn="ctr">
              <a:defRPr sz="1725" b="1">
                <a:solidFill>
                  <a:srgbClr val="263441"/>
                </a:solidFill>
                <a:latin typeface="Times New Roman"/>
                <a:ea typeface="Arial"/>
                <a:cs typeface="Times New Roman"/>
              </a:defRPr>
            </a:pPr>
            <a:r>
              <a:rPr sz="1728" b="1" dirty="0">
                <a:solidFill>
                  <a:srgbClr val="263441"/>
                </a:solidFill>
                <a:latin typeface="Times New Roman"/>
                <a:ea typeface="Arial"/>
                <a:cs typeface="Times New Roman"/>
              </a:rPr>
              <a:t>ScanNet</a:t>
            </a:r>
          </a:p>
        </p:txBody>
      </p:sp>
      <p:sp>
        <p:nvSpPr>
          <p:cNvPr id="21" name="矩形: 圆角 20">
            <a:extLst>
              <a:ext uri="{FF2B5EF4-FFF2-40B4-BE49-F238E27FC236}">
                <a16:creationId xmlns:a16="http://schemas.microsoft.com/office/drawing/2014/main" id="{76A30122-C3C9-4177-B95D-D3B83441FE7F}"/>
              </a:ext>
            </a:extLst>
          </p:cNvPr>
          <p:cNvSpPr>
            <a:spLocks noGrp="1"/>
          </p:cNvSpPr>
          <p:nvPr/>
        </p:nvSpPr>
        <p:spPr>
          <a:xfrm>
            <a:off x="1604010" y="4450842"/>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6" name="Editable chart with rounded bars 7"/>
          <p:cNvGrpSpPr/>
          <p:nvPr/>
        </p:nvGrpSpPr>
        <p:grpSpPr>
          <a:xfrm>
            <a:off x="1652016" y="4636008"/>
            <a:ext cx="3113532" cy="1179576"/>
            <a:chOff x="1828800" y="6438900"/>
            <a:chExt cx="4324350" cy="1638300"/>
          </a:xfrm>
        </p:grpSpPr>
        <p:graphicFrame>
          <p:nvGraphicFramePr>
            <p:cNvPr id="57" name="Chart"/>
            <p:cNvGraphicFramePr/>
            <p:nvPr/>
          </p:nvGraphicFramePr>
          <p:xfrm>
            <a:off x="1828800" y="6438900"/>
            <a:ext cx="4324350" cy="1638300"/>
          </p:xfrm>
          <a:graphic>
            <a:graphicData uri="http://schemas.openxmlformats.org/drawingml/2006/chart">
              <c:chart xmlns:c="http://schemas.openxmlformats.org/drawingml/2006/chart" xmlns:r="http://schemas.openxmlformats.org/officeDocument/2006/relationships" r:id="rId9"/>
            </a:graphicData>
          </a:graphic>
        </p:graphicFrame>
        <p:sp>
          <p:nvSpPr>
            <p:cNvPr id="324" name="Rounded bar 7-1">
              <a:extLst>
                <a:ext uri="{FF2B5EF4-FFF2-40B4-BE49-F238E27FC236}">
                  <a16:creationId xmlns:a16="http://schemas.microsoft.com/office/drawing/2014/main" id="{6C5C6A3A-37F2-43DE-BD71-AE1D05AFEEFD}"/>
                </a:ext>
              </a:extLst>
            </p:cNvPr>
            <p:cNvSpPr>
              <a:spLocks noGrp="1"/>
            </p:cNvSpPr>
            <p:nvPr/>
          </p:nvSpPr>
          <p:spPr>
            <a:xfrm>
              <a:off x="2599586" y="7432100"/>
              <a:ext cx="490872" cy="399355"/>
            </a:xfrm>
            <a:prstGeom prst="roundRect">
              <a:avLst>
                <a:gd name="adj" fmla="val 9540"/>
              </a:avLst>
            </a:prstGeom>
            <a:solidFill>
              <a:srgbClr val="6DC8FF">
                <a:alpha val="69804"/>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25" name="Rounded bar 7-2">
              <a:extLst>
                <a:ext uri="{FF2B5EF4-FFF2-40B4-BE49-F238E27FC236}">
                  <a16:creationId xmlns:a16="http://schemas.microsoft.com/office/drawing/2014/main" id="{C043491F-1565-4082-8800-D3C92C4669F4}"/>
                </a:ext>
              </a:extLst>
            </p:cNvPr>
            <p:cNvSpPr>
              <a:spLocks noGrp="1"/>
            </p:cNvSpPr>
            <p:nvPr/>
          </p:nvSpPr>
          <p:spPr>
            <a:xfrm>
              <a:off x="3507700" y="7199130"/>
              <a:ext cx="490872" cy="632325"/>
            </a:xfrm>
            <a:prstGeom prst="roundRect">
              <a:avLst>
                <a:gd name="adj" fmla="val 7762"/>
              </a:avLst>
            </a:prstGeom>
            <a:solidFill>
              <a:srgbClr val="FF6B6B">
                <a:alpha val="69804"/>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26" name="Rounded bar 7-3">
              <a:extLst>
                <a:ext uri="{FF2B5EF4-FFF2-40B4-BE49-F238E27FC236}">
                  <a16:creationId xmlns:a16="http://schemas.microsoft.com/office/drawing/2014/main" id="{AA2CEBF8-C604-4286-AB2D-F9EE3DFD3A07}"/>
                </a:ext>
              </a:extLst>
            </p:cNvPr>
            <p:cNvSpPr>
              <a:spLocks noGrp="1"/>
            </p:cNvSpPr>
            <p:nvPr/>
          </p:nvSpPr>
          <p:spPr>
            <a:xfrm>
              <a:off x="4415813" y="7087934"/>
              <a:ext cx="490872" cy="743521"/>
            </a:xfrm>
            <a:prstGeom prst="roundRect">
              <a:avLst>
                <a:gd name="adj" fmla="val 7762"/>
              </a:avLst>
            </a:prstGeom>
            <a:solidFill>
              <a:srgbClr val="2EBA9E">
                <a:alpha val="69804"/>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27" name="Rounded bar 7-4">
              <a:extLst>
                <a:ext uri="{FF2B5EF4-FFF2-40B4-BE49-F238E27FC236}">
                  <a16:creationId xmlns:a16="http://schemas.microsoft.com/office/drawing/2014/main" id="{D11B9EF3-6BF1-4710-A8EA-434C945C8E4F}"/>
                </a:ext>
              </a:extLst>
            </p:cNvPr>
            <p:cNvSpPr>
              <a:spLocks noGrp="1"/>
            </p:cNvSpPr>
            <p:nvPr/>
          </p:nvSpPr>
          <p:spPr>
            <a:xfrm>
              <a:off x="5323927" y="6850460"/>
              <a:ext cx="490872" cy="980995"/>
            </a:xfrm>
            <a:prstGeom prst="roundRect">
              <a:avLst>
                <a:gd name="adj" fmla="val 7762"/>
              </a:avLst>
            </a:prstGeom>
            <a:solidFill>
              <a:srgbClr val="785ECE">
                <a:alpha val="69804"/>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23" name="矩形: 圆角 22">
            <a:extLst>
              <a:ext uri="{FF2B5EF4-FFF2-40B4-BE49-F238E27FC236}">
                <a16:creationId xmlns:a16="http://schemas.microsoft.com/office/drawing/2014/main" id="{932C42BB-7205-46CE-A1FB-B896A170E511}"/>
              </a:ext>
            </a:extLst>
          </p:cNvPr>
          <p:cNvSpPr>
            <a:spLocks noGrp="1"/>
          </p:cNvSpPr>
          <p:nvPr/>
        </p:nvSpPr>
        <p:spPr>
          <a:xfrm>
            <a:off x="4964430" y="4450842"/>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7" name="Editable chart with rounded bars 8"/>
          <p:cNvGrpSpPr/>
          <p:nvPr/>
        </p:nvGrpSpPr>
        <p:grpSpPr>
          <a:xfrm>
            <a:off x="5012436" y="4636008"/>
            <a:ext cx="3113532" cy="1179576"/>
            <a:chOff x="6496050" y="6438900"/>
            <a:chExt cx="4324350" cy="1638300"/>
          </a:xfrm>
        </p:grpSpPr>
        <p:graphicFrame>
          <p:nvGraphicFramePr>
            <p:cNvPr id="59" name="Chart"/>
            <p:cNvGraphicFramePr/>
            <p:nvPr/>
          </p:nvGraphicFramePr>
          <p:xfrm>
            <a:off x="6496050" y="6438900"/>
            <a:ext cx="4324350" cy="1638300"/>
          </p:xfrm>
          <a:graphic>
            <a:graphicData uri="http://schemas.openxmlformats.org/drawingml/2006/chart">
              <c:chart xmlns:c="http://schemas.openxmlformats.org/drawingml/2006/chart" xmlns:r="http://schemas.openxmlformats.org/officeDocument/2006/relationships" r:id="rId10"/>
            </a:graphicData>
          </a:graphic>
        </p:graphicFrame>
        <p:sp>
          <p:nvSpPr>
            <p:cNvPr id="328" name="Rounded bar 8-1">
              <a:extLst>
                <a:ext uri="{FF2B5EF4-FFF2-40B4-BE49-F238E27FC236}">
                  <a16:creationId xmlns:a16="http://schemas.microsoft.com/office/drawing/2014/main" id="{0A5DE800-7ADB-42D2-8999-6116AE1BF9CB}"/>
                </a:ext>
              </a:extLst>
            </p:cNvPr>
            <p:cNvSpPr>
              <a:spLocks noGrp="1"/>
            </p:cNvSpPr>
            <p:nvPr/>
          </p:nvSpPr>
          <p:spPr>
            <a:xfrm>
              <a:off x="7429876" y="7036378"/>
              <a:ext cx="467497" cy="795077"/>
            </a:xfrm>
            <a:prstGeom prst="roundRect">
              <a:avLst>
                <a:gd name="adj" fmla="val 8150"/>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29" name="Rounded bar 8-2">
              <a:extLst>
                <a:ext uri="{FF2B5EF4-FFF2-40B4-BE49-F238E27FC236}">
                  <a16:creationId xmlns:a16="http://schemas.microsoft.com/office/drawing/2014/main" id="{A28CAE51-ABBC-4BFE-874D-4AE2E312D662}"/>
                </a:ext>
              </a:extLst>
            </p:cNvPr>
            <p:cNvSpPr>
              <a:spLocks noGrp="1"/>
            </p:cNvSpPr>
            <p:nvPr/>
          </p:nvSpPr>
          <p:spPr>
            <a:xfrm>
              <a:off x="8294746" y="7334415"/>
              <a:ext cx="467497" cy="497040"/>
            </a:xfrm>
            <a:prstGeom prst="roundRect">
              <a:avLst>
                <a:gd name="adj" fmla="val 8150"/>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30" name="Rounded bar 8-3">
              <a:extLst>
                <a:ext uri="{FF2B5EF4-FFF2-40B4-BE49-F238E27FC236}">
                  <a16:creationId xmlns:a16="http://schemas.microsoft.com/office/drawing/2014/main" id="{86C26B91-A769-4568-BE9D-0AF8DC470FF3}"/>
                </a:ext>
              </a:extLst>
            </p:cNvPr>
            <p:cNvSpPr>
              <a:spLocks noGrp="1"/>
            </p:cNvSpPr>
            <p:nvPr/>
          </p:nvSpPr>
          <p:spPr>
            <a:xfrm>
              <a:off x="9159616" y="7620646"/>
              <a:ext cx="467497" cy="210809"/>
            </a:xfrm>
            <a:prstGeom prst="roundRect">
              <a:avLst>
                <a:gd name="adj" fmla="val 18073"/>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31" name="Rounded bar 8-4">
              <a:extLst>
                <a:ext uri="{FF2B5EF4-FFF2-40B4-BE49-F238E27FC236}">
                  <a16:creationId xmlns:a16="http://schemas.microsoft.com/office/drawing/2014/main" id="{B1798251-88AD-4EEA-9801-A53037B1F7C2}"/>
                </a:ext>
              </a:extLst>
            </p:cNvPr>
            <p:cNvSpPr>
              <a:spLocks noGrp="1"/>
            </p:cNvSpPr>
            <p:nvPr/>
          </p:nvSpPr>
          <p:spPr>
            <a:xfrm>
              <a:off x="10024486" y="7594974"/>
              <a:ext cx="467497" cy="236481"/>
            </a:xfrm>
            <a:prstGeom prst="roundRect">
              <a:avLst>
                <a:gd name="adj" fmla="val 16111"/>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grpSp>
      <p:sp>
        <p:nvSpPr>
          <p:cNvPr id="25" name="矩形: 圆角 24">
            <a:extLst>
              <a:ext uri="{FF2B5EF4-FFF2-40B4-BE49-F238E27FC236}">
                <a16:creationId xmlns:a16="http://schemas.microsoft.com/office/drawing/2014/main" id="{82432DA4-8F99-4682-B779-0FDA5EB25E29}"/>
              </a:ext>
            </a:extLst>
          </p:cNvPr>
          <p:cNvSpPr>
            <a:spLocks noGrp="1"/>
          </p:cNvSpPr>
          <p:nvPr/>
        </p:nvSpPr>
        <p:spPr>
          <a:xfrm>
            <a:off x="8324850" y="4450842"/>
            <a:ext cx="3209544" cy="1426464"/>
          </a:xfrm>
          <a:prstGeom prst="roundRect">
            <a:avLst>
              <a:gd name="adj" fmla="val 5500"/>
            </a:avLst>
          </a:prstGeom>
          <a:solidFill>
            <a:srgbClr val="F5F8FB"/>
          </a:solidFill>
          <a:ln w="0">
            <a:noFill/>
          </a:ln>
          <a:effectLst>
            <a:outerShdw blurRad="50800" dist="38100" dir="2700000" algn="tl" rotWithShape="0">
              <a:prstClr val="black">
                <a:alpha val="40000"/>
              </a:prstClr>
            </a:outerShdw>
          </a:effectLst>
        </p:spPr>
        <p:txBody>
          <a:bodyPr/>
          <a:lstStyle/>
          <a:p>
            <a:endParaRPr lang="zh-CN" altLang="en-US" sz="1296"/>
          </a:p>
        </p:txBody>
      </p:sp>
      <p:grpSp>
        <p:nvGrpSpPr>
          <p:cNvPr id="208" name="Editable chart with rounded bars 9"/>
          <p:cNvGrpSpPr/>
          <p:nvPr/>
        </p:nvGrpSpPr>
        <p:grpSpPr>
          <a:xfrm>
            <a:off x="8372856" y="4636008"/>
            <a:ext cx="3113532" cy="1179576"/>
            <a:chOff x="11163300" y="6438900"/>
            <a:chExt cx="4324350" cy="1638300"/>
          </a:xfrm>
        </p:grpSpPr>
        <p:graphicFrame>
          <p:nvGraphicFramePr>
            <p:cNvPr id="61" name="Chart"/>
            <p:cNvGraphicFramePr/>
            <p:nvPr/>
          </p:nvGraphicFramePr>
          <p:xfrm>
            <a:off x="11163300" y="6438900"/>
            <a:ext cx="4324350" cy="1638300"/>
          </p:xfrm>
          <a:graphic>
            <a:graphicData uri="http://schemas.openxmlformats.org/drawingml/2006/chart">
              <c:chart xmlns:c="http://schemas.openxmlformats.org/drawingml/2006/chart" xmlns:r="http://schemas.openxmlformats.org/officeDocument/2006/relationships" r:id="rId11"/>
            </a:graphicData>
          </a:graphic>
        </p:graphicFrame>
        <p:sp>
          <p:nvSpPr>
            <p:cNvPr id="332" name="Rounded bar 9-1">
              <a:extLst>
                <a:ext uri="{FF2B5EF4-FFF2-40B4-BE49-F238E27FC236}">
                  <a16:creationId xmlns:a16="http://schemas.microsoft.com/office/drawing/2014/main" id="{53F3A596-2791-4C9A-B345-7D4139D3DA64}"/>
                </a:ext>
              </a:extLst>
            </p:cNvPr>
            <p:cNvSpPr>
              <a:spLocks noGrp="1"/>
            </p:cNvSpPr>
            <p:nvPr/>
          </p:nvSpPr>
          <p:spPr>
            <a:xfrm>
              <a:off x="11934086" y="7588401"/>
              <a:ext cx="490872" cy="243054"/>
            </a:xfrm>
            <a:prstGeom prst="roundRect">
              <a:avLst>
                <a:gd name="adj" fmla="val 15676"/>
              </a:avLst>
            </a:prstGeom>
            <a:solidFill>
              <a:srgbClr val="6DC8FF">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sp>
          <p:nvSpPr>
            <p:cNvPr id="333" name="Rounded bar 9-2">
              <a:extLst>
                <a:ext uri="{FF2B5EF4-FFF2-40B4-BE49-F238E27FC236}">
                  <a16:creationId xmlns:a16="http://schemas.microsoft.com/office/drawing/2014/main" id="{DBFE765D-6BAE-43C7-A1C1-354747B5FDB8}"/>
                </a:ext>
              </a:extLst>
            </p:cNvPr>
            <p:cNvSpPr>
              <a:spLocks noGrp="1"/>
            </p:cNvSpPr>
            <p:nvPr/>
          </p:nvSpPr>
          <p:spPr>
            <a:xfrm>
              <a:off x="12842200" y="7643526"/>
              <a:ext cx="490872" cy="187929"/>
            </a:xfrm>
            <a:prstGeom prst="roundRect">
              <a:avLst>
                <a:gd name="adj" fmla="val 20274"/>
              </a:avLst>
            </a:prstGeom>
            <a:solidFill>
              <a:srgbClr val="FF6B6B">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34" name="Rounded bar 9-3">
              <a:extLst>
                <a:ext uri="{FF2B5EF4-FFF2-40B4-BE49-F238E27FC236}">
                  <a16:creationId xmlns:a16="http://schemas.microsoft.com/office/drawing/2014/main" id="{B5262467-5695-4363-9822-E9D019B89CE3}"/>
                </a:ext>
              </a:extLst>
            </p:cNvPr>
            <p:cNvSpPr>
              <a:spLocks noGrp="1"/>
            </p:cNvSpPr>
            <p:nvPr/>
          </p:nvSpPr>
          <p:spPr>
            <a:xfrm>
              <a:off x="13750313" y="7351414"/>
              <a:ext cx="490872" cy="480041"/>
            </a:xfrm>
            <a:prstGeom prst="roundRect">
              <a:avLst>
                <a:gd name="adj" fmla="val 7937"/>
              </a:avLst>
            </a:prstGeom>
            <a:solidFill>
              <a:srgbClr val="2EBA9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dirty="0"/>
            </a:p>
          </p:txBody>
        </p:sp>
        <p:sp>
          <p:nvSpPr>
            <p:cNvPr id="335" name="Rounded bar 9-4">
              <a:extLst>
                <a:ext uri="{FF2B5EF4-FFF2-40B4-BE49-F238E27FC236}">
                  <a16:creationId xmlns:a16="http://schemas.microsoft.com/office/drawing/2014/main" id="{5FED73BA-2FC9-42CD-8169-FEB7C2AA227B}"/>
                </a:ext>
              </a:extLst>
            </p:cNvPr>
            <p:cNvSpPr>
              <a:spLocks noGrp="1"/>
            </p:cNvSpPr>
            <p:nvPr/>
          </p:nvSpPr>
          <p:spPr>
            <a:xfrm>
              <a:off x="14658427" y="7212180"/>
              <a:ext cx="490872" cy="619275"/>
            </a:xfrm>
            <a:prstGeom prst="roundRect">
              <a:avLst>
                <a:gd name="adj" fmla="val 7762"/>
              </a:avLst>
            </a:prstGeom>
            <a:solidFill>
              <a:srgbClr val="785ECE">
                <a:alpha val="70000"/>
              </a:srgbClr>
            </a:solidFill>
            <a:ln w="19050">
              <a:solidFill>
                <a:srgbClr val="BFBFBF"/>
              </a:solidFill>
            </a:ln>
            <a:effectLst>
              <a:outerShdw blurRad="50800" dist="38100" dir="2700000" algn="tl" rotWithShape="0">
                <a:prstClr val="black">
                  <a:alpha val="40000"/>
                </a:prstClr>
              </a:outerShdw>
            </a:effectLst>
          </p:spPr>
          <p:style>
            <a:lnRef idx="0">
              <a:scrgbClr r="0" g="0" b="0"/>
            </a:lnRef>
            <a:fillRef idx="0">
              <a:scrgbClr r="0" g="0" b="0"/>
            </a:fillRef>
            <a:effectRef idx="10">
              <a:scrgbClr r="0" g="0" b="0"/>
            </a:effectRef>
            <a:fontRef idx="major"/>
          </p:style>
          <p:txBody>
            <a:bodyPr/>
            <a:lstStyle/>
            <a:p>
              <a:endParaRPr lang="zh-CN" altLang="en-US" sz="1296"/>
            </a:p>
          </p:txBody>
        </p:sp>
      </p:grpSp>
      <p:sp>
        <p:nvSpPr>
          <p:cNvPr id="100" name="Metric direction 1">
            <a:extLst>
              <a:ext uri="{FF2B5EF4-FFF2-40B4-BE49-F238E27FC236}">
                <a16:creationId xmlns:a16="http://schemas.microsoft.com/office/drawing/2014/main" id="{95C33718-3782-4D7C-9AE6-AC5AD9E88178}"/>
              </a:ext>
            </a:extLst>
          </p:cNvPr>
          <p:cNvSpPr txBox="1"/>
          <p:nvPr/>
        </p:nvSpPr>
        <p:spPr>
          <a:xfrm>
            <a:off x="2036064" y="1441742"/>
            <a:ext cx="2503170" cy="313932"/>
          </a:xfrm>
          <a:prstGeom prst="rect">
            <a:avLst/>
          </a:prstGeom>
          <a:noFill/>
        </p:spPr>
        <p:txBody>
          <a:bodyPr wrap="square" rtlCol="0">
            <a:spAutoFit/>
          </a:bodyPr>
          <a:lstStyle/>
          <a:p>
            <a:pPr algn="ctr"/>
            <a:r>
              <a:rPr sz="1440" i="1" dirty="0">
                <a:latin typeface="Times New Roman"/>
              </a:rPr>
              <a:t>DINOv2 Similarity ↑</a:t>
            </a:r>
          </a:p>
        </p:txBody>
      </p:sp>
      <p:sp>
        <p:nvSpPr>
          <p:cNvPr id="101" name="Metric direction 2">
            <a:extLst>
              <a:ext uri="{FF2B5EF4-FFF2-40B4-BE49-F238E27FC236}">
                <a16:creationId xmlns:a16="http://schemas.microsoft.com/office/drawing/2014/main" id="{95C33718-3782-4D7C-9AE6-AC5AD9E88178}"/>
              </a:ext>
            </a:extLst>
          </p:cNvPr>
          <p:cNvSpPr txBox="1"/>
          <p:nvPr/>
        </p:nvSpPr>
        <p:spPr>
          <a:xfrm>
            <a:off x="5386338" y="1435332"/>
            <a:ext cx="2503170" cy="313932"/>
          </a:xfrm>
          <a:prstGeom prst="rect">
            <a:avLst/>
          </a:prstGeom>
          <a:noFill/>
        </p:spPr>
        <p:txBody>
          <a:bodyPr wrap="square" rtlCol="0">
            <a:spAutoFit/>
          </a:bodyPr>
          <a:lstStyle/>
          <a:p>
            <a:pPr algn="ctr"/>
            <a:r>
              <a:rPr lang="en-US" altLang="zh-CN" sz="1440" i="1" dirty="0">
                <a:latin typeface="Times New Roman"/>
              </a:rPr>
              <a:t>Seconds</a:t>
            </a:r>
            <a:r>
              <a:rPr sz="1440" i="1" dirty="0">
                <a:latin typeface="Times New Roman"/>
              </a:rPr>
              <a:t> / </a:t>
            </a:r>
            <a:r>
              <a:rPr lang="en-US" altLang="zh-CN" sz="1440" i="1" dirty="0">
                <a:latin typeface="Times New Roman"/>
              </a:rPr>
              <a:t>S</a:t>
            </a:r>
            <a:r>
              <a:rPr sz="1440" i="1" dirty="0">
                <a:latin typeface="Times New Roman"/>
              </a:rPr>
              <a:t>cene ↓</a:t>
            </a:r>
          </a:p>
        </p:txBody>
      </p:sp>
      <p:sp>
        <p:nvSpPr>
          <p:cNvPr id="102" name="Metric direction 3">
            <a:extLst>
              <a:ext uri="{FF2B5EF4-FFF2-40B4-BE49-F238E27FC236}">
                <a16:creationId xmlns:a16="http://schemas.microsoft.com/office/drawing/2014/main" id="{95C33718-3782-4D7C-9AE6-AC5AD9E88178}"/>
              </a:ext>
            </a:extLst>
          </p:cNvPr>
          <p:cNvSpPr txBox="1"/>
          <p:nvPr/>
        </p:nvSpPr>
        <p:spPr>
          <a:xfrm>
            <a:off x="8801931" y="1452824"/>
            <a:ext cx="2503170" cy="313932"/>
          </a:xfrm>
          <a:prstGeom prst="rect">
            <a:avLst/>
          </a:prstGeom>
          <a:noFill/>
        </p:spPr>
        <p:txBody>
          <a:bodyPr wrap="square" rtlCol="0">
            <a:spAutoFit/>
          </a:bodyPr>
          <a:lstStyle/>
          <a:p>
            <a:pPr algn="ctr"/>
            <a:r>
              <a:rPr sz="1440" i="1" dirty="0">
                <a:latin typeface="Times New Roman"/>
              </a:rPr>
              <a:t>USD / </a:t>
            </a:r>
            <a:r>
              <a:rPr lang="en-US" altLang="zh-CN" sz="1440" i="1" dirty="0">
                <a:latin typeface="Times New Roman"/>
              </a:rPr>
              <a:t>S</a:t>
            </a:r>
            <a:r>
              <a:rPr sz="1440" i="1" dirty="0">
                <a:latin typeface="Times New Roman"/>
              </a:rPr>
              <a:t>cene ↓</a:t>
            </a:r>
          </a:p>
        </p:txBody>
      </p:sp>
      <p:sp>
        <p:nvSpPr>
          <p:cNvPr id="103" name="Metric direction 4">
            <a:extLst>
              <a:ext uri="{FF2B5EF4-FFF2-40B4-BE49-F238E27FC236}">
                <a16:creationId xmlns:a16="http://schemas.microsoft.com/office/drawing/2014/main" id="{95C33718-3782-4D7C-9AE6-AC5AD9E88178}"/>
              </a:ext>
            </a:extLst>
          </p:cNvPr>
          <p:cNvSpPr txBox="1"/>
          <p:nvPr/>
        </p:nvSpPr>
        <p:spPr>
          <a:xfrm>
            <a:off x="2036064" y="2990088"/>
            <a:ext cx="2503170" cy="313932"/>
          </a:xfrm>
          <a:prstGeom prst="rect">
            <a:avLst/>
          </a:prstGeom>
          <a:noFill/>
        </p:spPr>
        <p:txBody>
          <a:bodyPr wrap="square" rtlCol="0">
            <a:spAutoFit/>
          </a:bodyPr>
          <a:lstStyle/>
          <a:p>
            <a:pPr algn="ctr"/>
            <a:r>
              <a:rPr sz="1440" i="1" dirty="0">
                <a:latin typeface="Times New Roman"/>
              </a:rPr>
              <a:t>DINOv2 Similarity ↑</a:t>
            </a:r>
          </a:p>
        </p:txBody>
      </p:sp>
      <p:sp>
        <p:nvSpPr>
          <p:cNvPr id="104" name="Metric direction 5">
            <a:extLst>
              <a:ext uri="{FF2B5EF4-FFF2-40B4-BE49-F238E27FC236}">
                <a16:creationId xmlns:a16="http://schemas.microsoft.com/office/drawing/2014/main" id="{95C33718-3782-4D7C-9AE6-AC5AD9E88178}"/>
              </a:ext>
            </a:extLst>
          </p:cNvPr>
          <p:cNvSpPr txBox="1"/>
          <p:nvPr/>
        </p:nvSpPr>
        <p:spPr>
          <a:xfrm>
            <a:off x="5413949" y="2961016"/>
            <a:ext cx="2503170" cy="313932"/>
          </a:xfrm>
          <a:prstGeom prst="rect">
            <a:avLst/>
          </a:prstGeom>
          <a:noFill/>
        </p:spPr>
        <p:txBody>
          <a:bodyPr wrap="square" rtlCol="0">
            <a:spAutoFit/>
          </a:bodyPr>
          <a:lstStyle/>
          <a:p>
            <a:pPr algn="ctr"/>
            <a:r>
              <a:rPr lang="en-US" altLang="zh-CN" sz="1440" i="1" dirty="0">
                <a:latin typeface="Times New Roman"/>
              </a:rPr>
              <a:t>Seconds</a:t>
            </a:r>
            <a:r>
              <a:rPr sz="1440" i="1" dirty="0">
                <a:latin typeface="Times New Roman"/>
              </a:rPr>
              <a:t> / </a:t>
            </a:r>
            <a:r>
              <a:rPr lang="en-US" altLang="zh-CN" sz="1440" i="1" dirty="0">
                <a:latin typeface="Times New Roman"/>
              </a:rPr>
              <a:t>S</a:t>
            </a:r>
            <a:r>
              <a:rPr sz="1440" i="1" dirty="0">
                <a:latin typeface="Times New Roman"/>
              </a:rPr>
              <a:t>cene ↓</a:t>
            </a:r>
          </a:p>
        </p:txBody>
      </p:sp>
      <p:sp>
        <p:nvSpPr>
          <p:cNvPr id="105" name="Metric direction 6">
            <a:extLst>
              <a:ext uri="{FF2B5EF4-FFF2-40B4-BE49-F238E27FC236}">
                <a16:creationId xmlns:a16="http://schemas.microsoft.com/office/drawing/2014/main" id="{95C33718-3782-4D7C-9AE6-AC5AD9E88178}"/>
              </a:ext>
            </a:extLst>
          </p:cNvPr>
          <p:cNvSpPr txBox="1"/>
          <p:nvPr/>
        </p:nvSpPr>
        <p:spPr>
          <a:xfrm>
            <a:off x="8801932" y="2961016"/>
            <a:ext cx="2503170" cy="313932"/>
          </a:xfrm>
          <a:prstGeom prst="rect">
            <a:avLst/>
          </a:prstGeom>
          <a:noFill/>
        </p:spPr>
        <p:txBody>
          <a:bodyPr wrap="square" rtlCol="0">
            <a:spAutoFit/>
          </a:bodyPr>
          <a:lstStyle/>
          <a:p>
            <a:pPr algn="ctr"/>
            <a:r>
              <a:rPr sz="1440" i="1" dirty="0">
                <a:latin typeface="Times New Roman"/>
              </a:rPr>
              <a:t>USD / </a:t>
            </a:r>
            <a:r>
              <a:rPr lang="en-US" altLang="zh-CN" sz="1440" i="1" dirty="0">
                <a:latin typeface="Times New Roman"/>
              </a:rPr>
              <a:t>S</a:t>
            </a:r>
            <a:r>
              <a:rPr sz="1440" i="1" dirty="0">
                <a:latin typeface="Times New Roman"/>
              </a:rPr>
              <a:t>cene ↓</a:t>
            </a:r>
          </a:p>
        </p:txBody>
      </p:sp>
      <p:sp>
        <p:nvSpPr>
          <p:cNvPr id="106" name="Metric direction 7">
            <a:extLst>
              <a:ext uri="{FF2B5EF4-FFF2-40B4-BE49-F238E27FC236}">
                <a16:creationId xmlns:a16="http://schemas.microsoft.com/office/drawing/2014/main" id="{95C33718-3782-4D7C-9AE6-AC5AD9E88178}"/>
              </a:ext>
            </a:extLst>
          </p:cNvPr>
          <p:cNvSpPr txBox="1"/>
          <p:nvPr/>
        </p:nvSpPr>
        <p:spPr>
          <a:xfrm>
            <a:off x="2015490" y="4526280"/>
            <a:ext cx="2503170" cy="313932"/>
          </a:xfrm>
          <a:prstGeom prst="rect">
            <a:avLst/>
          </a:prstGeom>
          <a:noFill/>
        </p:spPr>
        <p:txBody>
          <a:bodyPr wrap="square" rtlCol="0">
            <a:spAutoFit/>
          </a:bodyPr>
          <a:lstStyle/>
          <a:p>
            <a:pPr algn="ctr"/>
            <a:r>
              <a:rPr sz="1440" i="1" dirty="0">
                <a:latin typeface="Times New Roman"/>
              </a:rPr>
              <a:t>DINOv2 Similarity ↑</a:t>
            </a:r>
          </a:p>
        </p:txBody>
      </p:sp>
      <p:sp>
        <p:nvSpPr>
          <p:cNvPr id="107" name="Metric direction 8">
            <a:extLst>
              <a:ext uri="{FF2B5EF4-FFF2-40B4-BE49-F238E27FC236}">
                <a16:creationId xmlns:a16="http://schemas.microsoft.com/office/drawing/2014/main" id="{95C33718-3782-4D7C-9AE6-AC5AD9E88178}"/>
              </a:ext>
            </a:extLst>
          </p:cNvPr>
          <p:cNvSpPr txBox="1"/>
          <p:nvPr/>
        </p:nvSpPr>
        <p:spPr>
          <a:xfrm>
            <a:off x="5415787" y="4507258"/>
            <a:ext cx="2503170" cy="313932"/>
          </a:xfrm>
          <a:prstGeom prst="rect">
            <a:avLst/>
          </a:prstGeom>
          <a:noFill/>
        </p:spPr>
        <p:txBody>
          <a:bodyPr wrap="square" rtlCol="0">
            <a:spAutoFit/>
          </a:bodyPr>
          <a:lstStyle/>
          <a:p>
            <a:pPr algn="ctr"/>
            <a:r>
              <a:rPr lang="en-US" altLang="zh-CN" sz="1440" i="1" dirty="0">
                <a:latin typeface="Times New Roman"/>
              </a:rPr>
              <a:t>Seconds</a:t>
            </a:r>
            <a:r>
              <a:rPr sz="1440" i="1" dirty="0">
                <a:latin typeface="Times New Roman"/>
              </a:rPr>
              <a:t> / </a:t>
            </a:r>
            <a:r>
              <a:rPr lang="en-US" altLang="zh-CN" sz="1440" i="1" dirty="0">
                <a:latin typeface="Times New Roman"/>
              </a:rPr>
              <a:t>S</a:t>
            </a:r>
            <a:r>
              <a:rPr sz="1440" i="1" dirty="0">
                <a:latin typeface="Times New Roman"/>
              </a:rPr>
              <a:t>cene</a:t>
            </a:r>
            <a:r>
              <a:rPr lang="zh-CN" altLang="en-US" sz="1440" i="1" dirty="0">
                <a:latin typeface="Times New Roman"/>
              </a:rPr>
              <a:t> ↓</a:t>
            </a:r>
            <a:endParaRPr sz="1440" i="1" dirty="0">
              <a:latin typeface="Times New Roman"/>
            </a:endParaRPr>
          </a:p>
        </p:txBody>
      </p:sp>
      <p:sp>
        <p:nvSpPr>
          <p:cNvPr id="108" name="Metric direction 9">
            <a:extLst>
              <a:ext uri="{FF2B5EF4-FFF2-40B4-BE49-F238E27FC236}">
                <a16:creationId xmlns:a16="http://schemas.microsoft.com/office/drawing/2014/main" id="{95C33718-3782-4D7C-9AE6-AC5AD9E88178}"/>
              </a:ext>
            </a:extLst>
          </p:cNvPr>
          <p:cNvSpPr txBox="1"/>
          <p:nvPr/>
        </p:nvSpPr>
        <p:spPr>
          <a:xfrm>
            <a:off x="8804910" y="4513057"/>
            <a:ext cx="2503170" cy="313932"/>
          </a:xfrm>
          <a:prstGeom prst="rect">
            <a:avLst/>
          </a:prstGeom>
          <a:noFill/>
        </p:spPr>
        <p:txBody>
          <a:bodyPr wrap="square" rtlCol="0">
            <a:spAutoFit/>
          </a:bodyPr>
          <a:lstStyle/>
          <a:p>
            <a:pPr algn="ctr"/>
            <a:r>
              <a:rPr sz="1440" i="1" dirty="0">
                <a:latin typeface="Times New Roman"/>
              </a:rPr>
              <a:t>USD / </a:t>
            </a:r>
            <a:r>
              <a:rPr lang="en-US" altLang="zh-CN" sz="1440" i="1" dirty="0">
                <a:latin typeface="Times New Roman"/>
              </a:rPr>
              <a:t>S</a:t>
            </a:r>
            <a:r>
              <a:rPr sz="1440" i="1" dirty="0">
                <a:latin typeface="Times New Roman"/>
              </a:rPr>
              <a:t>cene ↓</a:t>
            </a:r>
          </a:p>
        </p:txBody>
      </p:sp>
    </p:spTree>
    <p:extLst>
      <p:ext uri="{BB962C8B-B14F-4D97-AF65-F5344CB8AC3E}">
        <p14:creationId xmlns:p14="http://schemas.microsoft.com/office/powerpoint/2010/main" val="3334899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a:extLst>
              <a:ext uri="{FF2B5EF4-FFF2-40B4-BE49-F238E27FC236}">
                <a16:creationId xmlns:a16="http://schemas.microsoft.com/office/drawing/2014/main" id="{902496E6-E766-2A1C-ABD4-08C1E544A778}"/>
              </a:ext>
            </a:extLst>
          </p:cNvPr>
          <p:cNvSpPr>
            <a:spLocks noGrp="1"/>
          </p:cNvSpPr>
          <p:nvPr/>
        </p:nvSpPr>
        <p:spPr>
          <a:xfrm>
            <a:off x="589026" y="1138428"/>
            <a:ext cx="5527548" cy="4385292"/>
          </a:xfrm>
          <a:prstGeom prst="roundRect">
            <a:avLst>
              <a:gd name="adj" fmla="val 1203"/>
            </a:avLst>
          </a:prstGeom>
          <a:solidFill>
            <a:srgbClr val="F5F8FB"/>
          </a:solidFill>
          <a:ln w="0">
            <a:noFill/>
          </a:ln>
        </p:spPr>
        <p:txBody>
          <a:bodyPr/>
          <a:lstStyle/>
          <a:p>
            <a:pPr defTabSz="658368">
              <a:defRPr/>
            </a:pPr>
            <a:endParaRPr lang="zh-CN" altLang="en-US" sz="1440" dirty="0">
              <a:solidFill>
                <a:srgbClr val="00000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A0E0DAF3-0933-4759-927F-2378827E5C01}"/>
              </a:ext>
            </a:extLst>
          </p:cNvPr>
          <p:cNvSpPr>
            <a:spLocks noGrp="1"/>
          </p:cNvSpPr>
          <p:nvPr/>
        </p:nvSpPr>
        <p:spPr>
          <a:xfrm>
            <a:off x="582168" y="1138428"/>
            <a:ext cx="5527548" cy="356616"/>
          </a:xfrm>
          <a:prstGeom prst="rect">
            <a:avLst/>
          </a:prstGeom>
          <a:solidFill>
            <a:srgbClr val="E6EDF4"/>
          </a:solidFill>
          <a:ln w="0">
            <a:noFill/>
          </a:ln>
        </p:spPr>
        <p:txBody>
          <a:bodyPr/>
          <a:lstStyle/>
          <a:p>
            <a:pPr defTabSz="658368">
              <a:defRPr/>
            </a:pPr>
            <a:endParaRPr lang="zh-CN" altLang="en-US" sz="1440">
              <a:solidFill>
                <a:srgbClr val="000000"/>
              </a:solidFill>
              <a:latin typeface="Aptos"/>
            </a:endParaRPr>
          </a:p>
        </p:txBody>
      </p:sp>
      <p:sp>
        <p:nvSpPr>
          <p:cNvPr id="5" name="矩形 4">
            <a:extLst>
              <a:ext uri="{FF2B5EF4-FFF2-40B4-BE49-F238E27FC236}">
                <a16:creationId xmlns:a16="http://schemas.microsoft.com/office/drawing/2014/main" id="{21B855F3-E9FE-4CF3-9037-C6AA5AD8B240}"/>
              </a:ext>
            </a:extLst>
          </p:cNvPr>
          <p:cNvSpPr>
            <a:spLocks noGrp="1"/>
          </p:cNvSpPr>
          <p:nvPr/>
        </p:nvSpPr>
        <p:spPr>
          <a:xfrm>
            <a:off x="678180" y="1165860"/>
            <a:ext cx="5335524" cy="301752"/>
          </a:xfrm>
          <a:prstGeom prst="rect">
            <a:avLst/>
          </a:prstGeom>
          <a:noFill/>
          <a:ln w="0">
            <a:noFill/>
          </a:ln>
        </p:spPr>
        <p:txBody>
          <a:bodyPr lIns="0" tIns="0" rIns="0" bIns="0" anchor="ctr">
            <a:noAutofit/>
          </a:bodyPr>
          <a:lstStyle/>
          <a:p>
            <a:pPr algn="ctr" defTabSz="658368">
              <a:defRPr sz="1950" b="1">
                <a:solidFill>
                  <a:srgbClr val="263441"/>
                </a:solidFill>
                <a:latin typeface="Arial"/>
                <a:ea typeface="Arial"/>
                <a:cs typeface="Arial"/>
              </a:defRPr>
            </a:pPr>
            <a:r>
              <a:rPr sz="1728" b="1" dirty="0">
                <a:solidFill>
                  <a:srgbClr val="263441"/>
                </a:solidFill>
                <a:latin typeface="Times New Roman" panose="02020603050405020304" pitchFamily="18" charset="0"/>
                <a:ea typeface="Arial"/>
                <a:cs typeface="Times New Roman" panose="02020603050405020304" pitchFamily="18" charset="0"/>
              </a:rPr>
              <a:t>(a) </a:t>
            </a:r>
            <a:r>
              <a:rPr lang="en-US" sz="1728" b="1" dirty="0">
                <a:solidFill>
                  <a:srgbClr val="263441"/>
                </a:solidFill>
                <a:latin typeface="Times New Roman" panose="02020603050405020304" pitchFamily="18" charset="0"/>
                <a:ea typeface="Arial"/>
                <a:cs typeface="Times New Roman" panose="02020603050405020304" pitchFamily="18" charset="0"/>
              </a:rPr>
              <a:t>Capacity-Efficiency Trade-off</a:t>
            </a:r>
            <a:endParaRPr sz="1728" b="1" dirty="0">
              <a:solidFill>
                <a:srgbClr val="263441"/>
              </a:solidFill>
              <a:latin typeface="Times New Roman" panose="02020603050405020304" pitchFamily="18" charset="0"/>
              <a:ea typeface="Arial"/>
              <a:cs typeface="Times New Roman" panose="02020603050405020304" pitchFamily="18" charset="0"/>
            </a:endParaRPr>
          </a:p>
        </p:txBody>
      </p:sp>
      <p:sp>
        <p:nvSpPr>
          <p:cNvPr id="6" name="矩形 5">
            <a:extLst>
              <a:ext uri="{FF2B5EF4-FFF2-40B4-BE49-F238E27FC236}">
                <a16:creationId xmlns:a16="http://schemas.microsoft.com/office/drawing/2014/main" id="{11837D41-AFC0-489A-8C7B-D146EEAB34DF}"/>
              </a:ext>
            </a:extLst>
          </p:cNvPr>
          <p:cNvSpPr>
            <a:spLocks noGrp="1"/>
          </p:cNvSpPr>
          <p:nvPr/>
        </p:nvSpPr>
        <p:spPr>
          <a:xfrm>
            <a:off x="822198" y="1625346"/>
            <a:ext cx="3840480" cy="240030"/>
          </a:xfrm>
          <a:prstGeom prst="rect">
            <a:avLst/>
          </a:prstGeom>
          <a:noFill/>
          <a:ln w="0">
            <a:noFill/>
          </a:ln>
        </p:spPr>
        <p:txBody>
          <a:bodyPr lIns="0" tIns="0" rIns="0" bIns="0" anchor="ctr">
            <a:noAutofit/>
          </a:bodyPr>
          <a:lstStyle/>
          <a:p>
            <a:pPr defTabSz="658368">
              <a:defRPr sz="1575" b="0">
                <a:solidFill>
                  <a:srgbClr val="73808D"/>
                </a:solidFill>
                <a:latin typeface="Arial"/>
                <a:ea typeface="Arial"/>
                <a:cs typeface="Arial"/>
              </a:defRPr>
            </a:pPr>
            <a:r>
              <a:rPr sz="1440" i="1" dirty="0">
                <a:solidFill>
                  <a:srgbClr val="73808D"/>
                </a:solidFill>
                <a:latin typeface="Times New Roman" panose="02020603050405020304" pitchFamily="18" charset="0"/>
                <a:ea typeface="Arial"/>
                <a:cs typeface="Times New Roman" panose="02020603050405020304" pitchFamily="18" charset="0"/>
              </a:rPr>
              <a:t>DINOv2 </a:t>
            </a:r>
            <a:r>
              <a:rPr lang="en-US" altLang="zh-CN" sz="1440" i="1" dirty="0">
                <a:solidFill>
                  <a:srgbClr val="73808D"/>
                </a:solidFill>
                <a:latin typeface="Times New Roman" panose="02020603050405020304" pitchFamily="18" charset="0"/>
                <a:ea typeface="Arial"/>
                <a:cs typeface="Times New Roman" panose="02020603050405020304" pitchFamily="18" charset="0"/>
              </a:rPr>
              <a:t>S</a:t>
            </a:r>
            <a:r>
              <a:rPr sz="1440" i="1" dirty="0">
                <a:solidFill>
                  <a:srgbClr val="73808D"/>
                </a:solidFill>
                <a:latin typeface="Times New Roman" panose="02020603050405020304" pitchFamily="18" charset="0"/>
                <a:ea typeface="Arial"/>
                <a:cs typeface="Times New Roman" panose="02020603050405020304" pitchFamily="18" charset="0"/>
              </a:rPr>
              <a:t>imilarity </a:t>
            </a:r>
            <a:r>
              <a:rPr lang="zh-CN" altLang="en-US" sz="1440" i="1" dirty="0">
                <a:solidFill>
                  <a:srgbClr val="73808D"/>
                </a:solidFill>
                <a:latin typeface="Times New Roman" panose="02020603050405020304" pitchFamily="18" charset="0"/>
                <a:ea typeface="Arial"/>
                <a:cs typeface="Times New Roman" panose="02020603050405020304" pitchFamily="18" charset="0"/>
              </a:rPr>
              <a:t>↑</a:t>
            </a:r>
            <a:endParaRPr sz="1440" i="1" dirty="0">
              <a:solidFill>
                <a:srgbClr val="73808D"/>
              </a:solidFill>
              <a:latin typeface="Times New Roman" panose="02020603050405020304" pitchFamily="18" charset="0"/>
              <a:ea typeface="Arial"/>
              <a:cs typeface="Times New Roman" panose="02020603050405020304" pitchFamily="18" charset="0"/>
            </a:endParaRPr>
          </a:p>
        </p:txBody>
      </p:sp>
      <p:sp>
        <p:nvSpPr>
          <p:cNvPr id="7" name="矩形 6">
            <a:extLst>
              <a:ext uri="{FF2B5EF4-FFF2-40B4-BE49-F238E27FC236}">
                <a16:creationId xmlns:a16="http://schemas.microsoft.com/office/drawing/2014/main" id="{B3D80850-3C37-4DA5-A191-E361E8149397}"/>
              </a:ext>
            </a:extLst>
          </p:cNvPr>
          <p:cNvSpPr>
            <a:spLocks noGrp="1"/>
          </p:cNvSpPr>
          <p:nvPr/>
        </p:nvSpPr>
        <p:spPr>
          <a:xfrm>
            <a:off x="1233678" y="4869180"/>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8" name="矩形 7">
            <a:extLst>
              <a:ext uri="{FF2B5EF4-FFF2-40B4-BE49-F238E27FC236}">
                <a16:creationId xmlns:a16="http://schemas.microsoft.com/office/drawing/2014/main" id="{280D97E8-474C-4799-B317-1F6F642569D9}"/>
              </a:ext>
            </a:extLst>
          </p:cNvPr>
          <p:cNvSpPr>
            <a:spLocks noGrp="1"/>
          </p:cNvSpPr>
          <p:nvPr/>
        </p:nvSpPr>
        <p:spPr>
          <a:xfrm>
            <a:off x="842772" y="4766310"/>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0.0</a:t>
            </a:r>
          </a:p>
        </p:txBody>
      </p:sp>
      <p:sp>
        <p:nvSpPr>
          <p:cNvPr id="9" name="矩形 8">
            <a:extLst>
              <a:ext uri="{FF2B5EF4-FFF2-40B4-BE49-F238E27FC236}">
                <a16:creationId xmlns:a16="http://schemas.microsoft.com/office/drawing/2014/main" id="{F478AF4E-F9DF-475E-9591-95124BA4FA21}"/>
              </a:ext>
            </a:extLst>
          </p:cNvPr>
          <p:cNvSpPr>
            <a:spLocks noGrp="1"/>
          </p:cNvSpPr>
          <p:nvPr/>
        </p:nvSpPr>
        <p:spPr>
          <a:xfrm>
            <a:off x="1233678" y="4391406"/>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10" name="矩形 9">
            <a:extLst>
              <a:ext uri="{FF2B5EF4-FFF2-40B4-BE49-F238E27FC236}">
                <a16:creationId xmlns:a16="http://schemas.microsoft.com/office/drawing/2014/main" id="{A66F235E-1178-42F5-B7D1-C3250E2DCAD3}"/>
              </a:ext>
            </a:extLst>
          </p:cNvPr>
          <p:cNvSpPr>
            <a:spLocks noGrp="1"/>
          </p:cNvSpPr>
          <p:nvPr/>
        </p:nvSpPr>
        <p:spPr>
          <a:xfrm>
            <a:off x="842772" y="4288536"/>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0.1</a:t>
            </a:r>
          </a:p>
        </p:txBody>
      </p:sp>
      <p:sp>
        <p:nvSpPr>
          <p:cNvPr id="11" name="矩形 10">
            <a:extLst>
              <a:ext uri="{FF2B5EF4-FFF2-40B4-BE49-F238E27FC236}">
                <a16:creationId xmlns:a16="http://schemas.microsoft.com/office/drawing/2014/main" id="{EAAB6C2A-4CD9-4B09-8CBE-9CA85428CC46}"/>
              </a:ext>
            </a:extLst>
          </p:cNvPr>
          <p:cNvSpPr>
            <a:spLocks noGrp="1"/>
          </p:cNvSpPr>
          <p:nvPr/>
        </p:nvSpPr>
        <p:spPr>
          <a:xfrm>
            <a:off x="1233678" y="3913632"/>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12" name="矩形 11">
            <a:extLst>
              <a:ext uri="{FF2B5EF4-FFF2-40B4-BE49-F238E27FC236}">
                <a16:creationId xmlns:a16="http://schemas.microsoft.com/office/drawing/2014/main" id="{468D311A-A647-4198-AB3F-D93D733C3060}"/>
              </a:ext>
            </a:extLst>
          </p:cNvPr>
          <p:cNvSpPr>
            <a:spLocks noGrp="1"/>
          </p:cNvSpPr>
          <p:nvPr/>
        </p:nvSpPr>
        <p:spPr>
          <a:xfrm>
            <a:off x="842772" y="3810762"/>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0.2</a:t>
            </a:r>
          </a:p>
        </p:txBody>
      </p:sp>
      <p:sp>
        <p:nvSpPr>
          <p:cNvPr id="13" name="矩形 12">
            <a:extLst>
              <a:ext uri="{FF2B5EF4-FFF2-40B4-BE49-F238E27FC236}">
                <a16:creationId xmlns:a16="http://schemas.microsoft.com/office/drawing/2014/main" id="{8C6A44E9-473B-4804-B360-23C0E274238E}"/>
              </a:ext>
            </a:extLst>
          </p:cNvPr>
          <p:cNvSpPr>
            <a:spLocks noGrp="1"/>
          </p:cNvSpPr>
          <p:nvPr/>
        </p:nvSpPr>
        <p:spPr>
          <a:xfrm>
            <a:off x="1233678" y="3435858"/>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14" name="矩形 13">
            <a:extLst>
              <a:ext uri="{FF2B5EF4-FFF2-40B4-BE49-F238E27FC236}">
                <a16:creationId xmlns:a16="http://schemas.microsoft.com/office/drawing/2014/main" id="{18073DBE-C99B-43B0-AC09-40F7B3ACEC29}"/>
              </a:ext>
            </a:extLst>
          </p:cNvPr>
          <p:cNvSpPr>
            <a:spLocks noGrp="1"/>
          </p:cNvSpPr>
          <p:nvPr/>
        </p:nvSpPr>
        <p:spPr>
          <a:xfrm>
            <a:off x="842772" y="3332988"/>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0.3</a:t>
            </a:r>
          </a:p>
        </p:txBody>
      </p:sp>
      <p:sp>
        <p:nvSpPr>
          <p:cNvPr id="15" name="矩形 14">
            <a:extLst>
              <a:ext uri="{FF2B5EF4-FFF2-40B4-BE49-F238E27FC236}">
                <a16:creationId xmlns:a16="http://schemas.microsoft.com/office/drawing/2014/main" id="{E6755D55-E08A-4B68-9FCE-63C82899D043}"/>
              </a:ext>
            </a:extLst>
          </p:cNvPr>
          <p:cNvSpPr>
            <a:spLocks noGrp="1"/>
          </p:cNvSpPr>
          <p:nvPr/>
        </p:nvSpPr>
        <p:spPr>
          <a:xfrm>
            <a:off x="1233678" y="2958084"/>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16" name="矩形 15">
            <a:extLst>
              <a:ext uri="{FF2B5EF4-FFF2-40B4-BE49-F238E27FC236}">
                <a16:creationId xmlns:a16="http://schemas.microsoft.com/office/drawing/2014/main" id="{35D7A210-AECE-490A-813A-8BA704077B34}"/>
              </a:ext>
            </a:extLst>
          </p:cNvPr>
          <p:cNvSpPr>
            <a:spLocks noGrp="1"/>
          </p:cNvSpPr>
          <p:nvPr/>
        </p:nvSpPr>
        <p:spPr>
          <a:xfrm>
            <a:off x="842772" y="2855214"/>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0.4</a:t>
            </a:r>
          </a:p>
        </p:txBody>
      </p:sp>
      <p:sp>
        <p:nvSpPr>
          <p:cNvPr id="17" name="矩形 16">
            <a:extLst>
              <a:ext uri="{FF2B5EF4-FFF2-40B4-BE49-F238E27FC236}">
                <a16:creationId xmlns:a16="http://schemas.microsoft.com/office/drawing/2014/main" id="{9B8E4F7C-3BA0-41CF-8D7E-9C43994CAE6C}"/>
              </a:ext>
            </a:extLst>
          </p:cNvPr>
          <p:cNvSpPr>
            <a:spLocks noGrp="1"/>
          </p:cNvSpPr>
          <p:nvPr/>
        </p:nvSpPr>
        <p:spPr>
          <a:xfrm>
            <a:off x="1233678" y="2480310"/>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18" name="矩形 17">
            <a:extLst>
              <a:ext uri="{FF2B5EF4-FFF2-40B4-BE49-F238E27FC236}">
                <a16:creationId xmlns:a16="http://schemas.microsoft.com/office/drawing/2014/main" id="{6BF61E40-95B3-4DE6-AE48-70387CC9BDCC}"/>
              </a:ext>
            </a:extLst>
          </p:cNvPr>
          <p:cNvSpPr>
            <a:spLocks noGrp="1"/>
          </p:cNvSpPr>
          <p:nvPr/>
        </p:nvSpPr>
        <p:spPr>
          <a:xfrm>
            <a:off x="842772" y="2377440"/>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0.5</a:t>
            </a:r>
          </a:p>
        </p:txBody>
      </p:sp>
      <p:sp>
        <p:nvSpPr>
          <p:cNvPr id="19" name="矩形 18">
            <a:extLst>
              <a:ext uri="{FF2B5EF4-FFF2-40B4-BE49-F238E27FC236}">
                <a16:creationId xmlns:a16="http://schemas.microsoft.com/office/drawing/2014/main" id="{7D46EFFF-0C66-44E6-B3A9-9919195443C8}"/>
              </a:ext>
            </a:extLst>
          </p:cNvPr>
          <p:cNvSpPr>
            <a:spLocks noGrp="1"/>
          </p:cNvSpPr>
          <p:nvPr/>
        </p:nvSpPr>
        <p:spPr>
          <a:xfrm>
            <a:off x="1233678" y="2002536"/>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20" name="矩形 19">
            <a:extLst>
              <a:ext uri="{FF2B5EF4-FFF2-40B4-BE49-F238E27FC236}">
                <a16:creationId xmlns:a16="http://schemas.microsoft.com/office/drawing/2014/main" id="{F389AC72-5737-4271-B7C7-80D7E3128FFA}"/>
              </a:ext>
            </a:extLst>
          </p:cNvPr>
          <p:cNvSpPr>
            <a:spLocks noGrp="1"/>
          </p:cNvSpPr>
          <p:nvPr/>
        </p:nvSpPr>
        <p:spPr>
          <a:xfrm>
            <a:off x="842772" y="1899666"/>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0.6</a:t>
            </a:r>
          </a:p>
        </p:txBody>
      </p:sp>
      <p:sp>
        <p:nvSpPr>
          <p:cNvPr id="21" name="矩形 20">
            <a:extLst>
              <a:ext uri="{FF2B5EF4-FFF2-40B4-BE49-F238E27FC236}">
                <a16:creationId xmlns:a16="http://schemas.microsoft.com/office/drawing/2014/main" id="{6A288420-9129-4B3C-BBC0-C4F1580B3B1F}"/>
              </a:ext>
            </a:extLst>
          </p:cNvPr>
          <p:cNvSpPr>
            <a:spLocks noGrp="1"/>
          </p:cNvSpPr>
          <p:nvPr/>
        </p:nvSpPr>
        <p:spPr>
          <a:xfrm>
            <a:off x="123367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22" name="矩形 21">
            <a:extLst>
              <a:ext uri="{FF2B5EF4-FFF2-40B4-BE49-F238E27FC236}">
                <a16:creationId xmlns:a16="http://schemas.microsoft.com/office/drawing/2014/main" id="{4DFA6AFB-CD8B-4FBC-8179-0D784619A905}"/>
              </a:ext>
            </a:extLst>
          </p:cNvPr>
          <p:cNvSpPr>
            <a:spLocks noGrp="1"/>
          </p:cNvSpPr>
          <p:nvPr/>
        </p:nvSpPr>
        <p:spPr>
          <a:xfrm>
            <a:off x="90449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a:t>
            </a:r>
          </a:p>
        </p:txBody>
      </p:sp>
      <p:sp>
        <p:nvSpPr>
          <p:cNvPr id="23" name="矩形 22">
            <a:extLst>
              <a:ext uri="{FF2B5EF4-FFF2-40B4-BE49-F238E27FC236}">
                <a16:creationId xmlns:a16="http://schemas.microsoft.com/office/drawing/2014/main" id="{506BEE03-454C-4F03-85BA-954BA98E3265}"/>
              </a:ext>
            </a:extLst>
          </p:cNvPr>
          <p:cNvSpPr>
            <a:spLocks noGrp="1"/>
          </p:cNvSpPr>
          <p:nvPr/>
        </p:nvSpPr>
        <p:spPr>
          <a:xfrm>
            <a:off x="271957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24" name="矩形 23">
            <a:extLst>
              <a:ext uri="{FF2B5EF4-FFF2-40B4-BE49-F238E27FC236}">
                <a16:creationId xmlns:a16="http://schemas.microsoft.com/office/drawing/2014/main" id="{8D493923-C92F-4572-8642-C479D311E008}"/>
              </a:ext>
            </a:extLst>
          </p:cNvPr>
          <p:cNvSpPr>
            <a:spLocks noGrp="1"/>
          </p:cNvSpPr>
          <p:nvPr/>
        </p:nvSpPr>
        <p:spPr>
          <a:xfrm>
            <a:off x="239039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600</a:t>
            </a:r>
          </a:p>
        </p:txBody>
      </p:sp>
      <p:sp>
        <p:nvSpPr>
          <p:cNvPr id="25" name="矩形 24">
            <a:extLst>
              <a:ext uri="{FF2B5EF4-FFF2-40B4-BE49-F238E27FC236}">
                <a16:creationId xmlns:a16="http://schemas.microsoft.com/office/drawing/2014/main" id="{BD82779D-FF21-412A-B55C-8882B43D4B2D}"/>
              </a:ext>
            </a:extLst>
          </p:cNvPr>
          <p:cNvSpPr>
            <a:spLocks noGrp="1"/>
          </p:cNvSpPr>
          <p:nvPr/>
        </p:nvSpPr>
        <p:spPr>
          <a:xfrm>
            <a:off x="420547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26" name="矩形 25">
            <a:extLst>
              <a:ext uri="{FF2B5EF4-FFF2-40B4-BE49-F238E27FC236}">
                <a16:creationId xmlns:a16="http://schemas.microsoft.com/office/drawing/2014/main" id="{EECD0D6C-F62C-44F2-BCDE-6687ABE6434D}"/>
              </a:ext>
            </a:extLst>
          </p:cNvPr>
          <p:cNvSpPr>
            <a:spLocks noGrp="1"/>
          </p:cNvSpPr>
          <p:nvPr/>
        </p:nvSpPr>
        <p:spPr>
          <a:xfrm>
            <a:off x="387629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1200</a:t>
            </a:r>
          </a:p>
        </p:txBody>
      </p:sp>
      <p:sp>
        <p:nvSpPr>
          <p:cNvPr id="27" name="矩形 26">
            <a:extLst>
              <a:ext uri="{FF2B5EF4-FFF2-40B4-BE49-F238E27FC236}">
                <a16:creationId xmlns:a16="http://schemas.microsoft.com/office/drawing/2014/main" id="{1D12A649-36E8-4709-87A2-539AB0DF84D8}"/>
              </a:ext>
            </a:extLst>
          </p:cNvPr>
          <p:cNvSpPr>
            <a:spLocks noGrp="1"/>
          </p:cNvSpPr>
          <p:nvPr/>
        </p:nvSpPr>
        <p:spPr>
          <a:xfrm>
            <a:off x="569137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28" name="矩形 27">
            <a:extLst>
              <a:ext uri="{FF2B5EF4-FFF2-40B4-BE49-F238E27FC236}">
                <a16:creationId xmlns:a16="http://schemas.microsoft.com/office/drawing/2014/main" id="{9DBA7863-BB2F-4AE9-A7D9-3153E300296F}"/>
              </a:ext>
            </a:extLst>
          </p:cNvPr>
          <p:cNvSpPr>
            <a:spLocks noGrp="1"/>
          </p:cNvSpPr>
          <p:nvPr/>
        </p:nvSpPr>
        <p:spPr>
          <a:xfrm>
            <a:off x="536219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1800</a:t>
            </a:r>
          </a:p>
        </p:txBody>
      </p:sp>
      <p:sp>
        <p:nvSpPr>
          <p:cNvPr id="29" name="矩形 28">
            <a:extLst>
              <a:ext uri="{FF2B5EF4-FFF2-40B4-BE49-F238E27FC236}">
                <a16:creationId xmlns:a16="http://schemas.microsoft.com/office/drawing/2014/main" id="{EA275970-61CC-40B7-AF61-36923042C66F}"/>
              </a:ext>
            </a:extLst>
          </p:cNvPr>
          <p:cNvSpPr>
            <a:spLocks noGrp="1"/>
          </p:cNvSpPr>
          <p:nvPr/>
        </p:nvSpPr>
        <p:spPr>
          <a:xfrm>
            <a:off x="1336548" y="5152689"/>
            <a:ext cx="4128516" cy="240030"/>
          </a:xfrm>
          <a:prstGeom prst="rect">
            <a:avLst/>
          </a:prstGeom>
          <a:noFill/>
          <a:ln w="0">
            <a:noFill/>
          </a:ln>
        </p:spPr>
        <p:txBody>
          <a:bodyPr lIns="0" tIns="0" rIns="0" bIns="0" anchor="ctr">
            <a:noAutofit/>
          </a:bodyPr>
          <a:lstStyle/>
          <a:p>
            <a:pPr algn="ctr" defTabSz="658368">
              <a:defRPr sz="1725" b="0">
                <a:solidFill>
                  <a:srgbClr val="263441"/>
                </a:solidFill>
                <a:latin typeface="Arial"/>
                <a:ea typeface="Arial"/>
                <a:cs typeface="Arial"/>
              </a:defRPr>
            </a:pPr>
            <a:r>
              <a:rPr sz="1728" dirty="0">
                <a:solidFill>
                  <a:srgbClr val="263441"/>
                </a:solidFill>
                <a:latin typeface="Times New Roman" panose="02020603050405020304" pitchFamily="18" charset="0"/>
                <a:ea typeface="Arial"/>
                <a:cs typeface="Times New Roman" panose="02020603050405020304" pitchFamily="18" charset="0"/>
              </a:rPr>
              <a:t>Inference </a:t>
            </a:r>
            <a:r>
              <a:rPr lang="en-US" altLang="zh-CN" sz="1728" dirty="0">
                <a:solidFill>
                  <a:srgbClr val="263441"/>
                </a:solidFill>
                <a:latin typeface="Times New Roman" panose="02020603050405020304" pitchFamily="18" charset="0"/>
                <a:ea typeface="Arial"/>
                <a:cs typeface="Times New Roman" panose="02020603050405020304" pitchFamily="18" charset="0"/>
              </a:rPr>
              <a:t>T</a:t>
            </a:r>
            <a:r>
              <a:rPr sz="1728" dirty="0">
                <a:solidFill>
                  <a:srgbClr val="263441"/>
                </a:solidFill>
                <a:latin typeface="Times New Roman" panose="02020603050405020304" pitchFamily="18" charset="0"/>
                <a:ea typeface="Arial"/>
                <a:cs typeface="Times New Roman" panose="02020603050405020304" pitchFamily="18" charset="0"/>
              </a:rPr>
              <a:t>ime </a:t>
            </a:r>
          </a:p>
        </p:txBody>
      </p:sp>
      <p:pic>
        <p:nvPicPr>
          <p:cNvPr id="119" name="图形 118"/>
          <p:cNvPicPr>
            <a:picLocks noChangeAspect="1"/>
          </p:cNvPicPr>
          <p:nvPr/>
        </p:nvPicPr>
        <p:blipFill>
          <a:blip>
            <a:extLst>
              <a:ext uri="{96DAC541-7B7A-43D3-8B79-37D633B846F1}">
                <asvg:svgBlip xmlns:asvg="http://schemas.microsoft.com/office/drawing/2016/SVG/main" r:embed="rId3"/>
              </a:ext>
            </a:extLst>
          </a:blip>
          <a:stretch/>
        </p:blipFill>
        <p:spPr>
          <a:xfrm>
            <a:off x="4803913" y="3753583"/>
            <a:ext cx="342004" cy="342004"/>
          </a:xfrm>
          <a:prstGeom prst="rect">
            <a:avLst/>
          </a:prstGeom>
        </p:spPr>
      </p:pic>
      <p:sp>
        <p:nvSpPr>
          <p:cNvPr id="31" name="矩形 30">
            <a:extLst>
              <a:ext uri="{FF2B5EF4-FFF2-40B4-BE49-F238E27FC236}">
                <a16:creationId xmlns:a16="http://schemas.microsoft.com/office/drawing/2014/main" id="{85EFB4E7-D08F-4DBB-AE59-A3A106F70078}"/>
              </a:ext>
            </a:extLst>
          </p:cNvPr>
          <p:cNvSpPr>
            <a:spLocks noGrp="1"/>
          </p:cNvSpPr>
          <p:nvPr/>
        </p:nvSpPr>
        <p:spPr>
          <a:xfrm>
            <a:off x="4157745" y="4095587"/>
            <a:ext cx="1462031" cy="211974"/>
          </a:xfrm>
          <a:prstGeom prst="rect">
            <a:avLst/>
          </a:prstGeom>
          <a:noFill/>
          <a:ln w="0">
            <a:noFill/>
          </a:ln>
        </p:spPr>
        <p:txBody>
          <a:bodyPr lIns="0" tIns="0" rIns="0" bIns="0" anchor="ctr">
            <a:noAutofit/>
          </a:bodyPr>
          <a:lstStyle/>
          <a:p>
            <a:pPr defTabSz="658368">
              <a:defRPr sz="1650" b="0">
                <a:solidFill>
                  <a:srgbClr val="8995A2"/>
                </a:solidFill>
                <a:latin typeface="Arial"/>
                <a:ea typeface="Arial"/>
                <a:cs typeface="Arial"/>
              </a:defRPr>
            </a:pPr>
            <a:r>
              <a:rPr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Qwen</a:t>
            </a:r>
            <a:r>
              <a:rPr lang="en-US"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-3.8-27B</a:t>
            </a:r>
            <a:r>
              <a:rPr lang="en-US" altLang="zh-CN"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-x</a:t>
            </a:r>
            <a:r>
              <a:rPr lang="en-US"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High</a:t>
            </a:r>
            <a:endParaRPr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endParaRPr>
          </a:p>
        </p:txBody>
      </p:sp>
      <p:pic>
        <p:nvPicPr>
          <p:cNvPr id="125" name="图形 124"/>
          <p:cNvPicPr>
            <a:picLocks noChangeAspect="1"/>
          </p:cNvPicPr>
          <p:nvPr/>
        </p:nvPicPr>
        <p:blipFill>
          <a:blip>
            <a:extLst>
              <a:ext uri="{96DAC541-7B7A-43D3-8B79-37D633B846F1}">
                <asvg:svgBlip xmlns:asvg="http://schemas.microsoft.com/office/drawing/2016/SVG/main" r:embed="rId4"/>
              </a:ext>
            </a:extLst>
          </a:blip>
          <a:stretch/>
        </p:blipFill>
        <p:spPr>
          <a:xfrm>
            <a:off x="1988031" y="2803947"/>
            <a:ext cx="322815" cy="322815"/>
          </a:xfrm>
          <a:prstGeom prst="rect">
            <a:avLst/>
          </a:prstGeom>
        </p:spPr>
      </p:pic>
      <p:sp>
        <p:nvSpPr>
          <p:cNvPr id="37" name="矩形 36">
            <a:extLst>
              <a:ext uri="{FF2B5EF4-FFF2-40B4-BE49-F238E27FC236}">
                <a16:creationId xmlns:a16="http://schemas.microsoft.com/office/drawing/2014/main" id="{DCB0A197-B9A1-428C-AEC8-DB9611F1D7C9}"/>
              </a:ext>
            </a:extLst>
          </p:cNvPr>
          <p:cNvSpPr>
            <a:spLocks noGrp="1"/>
          </p:cNvSpPr>
          <p:nvPr/>
        </p:nvSpPr>
        <p:spPr>
          <a:xfrm>
            <a:off x="1486501" y="2583366"/>
            <a:ext cx="665369" cy="205740"/>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4DA2A7"/>
                </a:solidFill>
                <a:latin typeface="Times New Roman" panose="02020603050405020304" pitchFamily="18" charset="0"/>
                <a:ea typeface="Arial"/>
                <a:cs typeface="Times New Roman" panose="02020603050405020304" pitchFamily="18" charset="0"/>
              </a:rPr>
              <a:t>S</a:t>
            </a:r>
            <a:r>
              <a:rPr sz="1008" b="1" i="1" dirty="0">
                <a:solidFill>
                  <a:srgbClr val="4DA2A7"/>
                </a:solidFill>
                <a:latin typeface="Times New Roman" panose="02020603050405020304" pitchFamily="18" charset="0"/>
                <a:ea typeface="Arial"/>
                <a:cs typeface="Times New Roman" panose="02020603050405020304" pitchFamily="18" charset="0"/>
              </a:rPr>
              <a:t>ol</a:t>
            </a:r>
            <a:r>
              <a:rPr lang="en-US" altLang="zh-CN" sz="1008" b="1" i="1" dirty="0">
                <a:solidFill>
                  <a:srgbClr val="4DA2A7"/>
                </a:solidFill>
                <a:latin typeface="Times New Roman" panose="02020603050405020304" pitchFamily="18" charset="0"/>
                <a:ea typeface="Arial"/>
                <a:cs typeface="Times New Roman" panose="02020603050405020304" pitchFamily="18" charset="0"/>
              </a:rPr>
              <a:t>-High</a:t>
            </a:r>
            <a:endParaRPr sz="1008" b="1" i="1" dirty="0">
              <a:solidFill>
                <a:srgbClr val="4DA2A7"/>
              </a:solidFill>
              <a:latin typeface="Times New Roman" panose="02020603050405020304" pitchFamily="18" charset="0"/>
              <a:ea typeface="Arial"/>
              <a:cs typeface="Times New Roman" panose="02020603050405020304" pitchFamily="18" charset="0"/>
            </a:endParaRPr>
          </a:p>
        </p:txBody>
      </p:sp>
      <p:pic>
        <p:nvPicPr>
          <p:cNvPr id="128" name="图形 127"/>
          <p:cNvPicPr>
            <a:picLocks noChangeAspect="1"/>
          </p:cNvPicPr>
          <p:nvPr/>
        </p:nvPicPr>
        <p:blipFill>
          <a:blip>
            <a:extLst>
              <a:ext uri="{96DAC541-7B7A-43D3-8B79-37D633B846F1}">
                <asvg:svgBlip xmlns:asvg="http://schemas.microsoft.com/office/drawing/2016/SVG/main" r:embed="rId5"/>
              </a:ext>
            </a:extLst>
          </a:blip>
          <a:stretch/>
        </p:blipFill>
        <p:spPr>
          <a:xfrm>
            <a:off x="2404665" y="2085234"/>
            <a:ext cx="267327" cy="267327"/>
          </a:xfrm>
          <a:prstGeom prst="rect">
            <a:avLst/>
          </a:prstGeom>
        </p:spPr>
      </p:pic>
      <p:sp>
        <p:nvSpPr>
          <p:cNvPr id="40" name="矩形 39">
            <a:extLst>
              <a:ext uri="{FF2B5EF4-FFF2-40B4-BE49-F238E27FC236}">
                <a16:creationId xmlns:a16="http://schemas.microsoft.com/office/drawing/2014/main" id="{1413D11E-0D35-4B15-B608-4B50C8DCB045}"/>
              </a:ext>
            </a:extLst>
          </p:cNvPr>
          <p:cNvSpPr>
            <a:spLocks noGrp="1"/>
          </p:cNvSpPr>
          <p:nvPr/>
        </p:nvSpPr>
        <p:spPr>
          <a:xfrm>
            <a:off x="2734287" y="1995678"/>
            <a:ext cx="772668" cy="205740"/>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7030A0"/>
                </a:solidFill>
                <a:latin typeface="Times New Roman" panose="02020603050405020304" pitchFamily="18" charset="0"/>
                <a:ea typeface="Arial"/>
                <a:cs typeface="Times New Roman" panose="02020603050405020304" pitchFamily="18" charset="0"/>
              </a:rPr>
              <a:t>A</a:t>
            </a:r>
            <a:r>
              <a:rPr sz="1008" b="1" i="1" dirty="0">
                <a:solidFill>
                  <a:srgbClr val="7030A0"/>
                </a:solidFill>
                <a:latin typeface="Times New Roman" panose="02020603050405020304" pitchFamily="18" charset="0"/>
                <a:ea typeface="Arial"/>
                <a:cs typeface="Times New Roman" panose="02020603050405020304" pitchFamily="18" charset="0"/>
              </a:rPr>
              <a:t>stra</a:t>
            </a:r>
            <a:r>
              <a:rPr lang="en-US" sz="1008" b="1" i="1" dirty="0">
                <a:solidFill>
                  <a:srgbClr val="7030A0"/>
                </a:solidFill>
                <a:latin typeface="Times New Roman" panose="02020603050405020304" pitchFamily="18" charset="0"/>
                <a:ea typeface="Arial"/>
                <a:cs typeface="Times New Roman" panose="02020603050405020304" pitchFamily="18" charset="0"/>
              </a:rPr>
              <a:t>-High</a:t>
            </a:r>
            <a:endParaRPr sz="1008" b="1" i="1" dirty="0">
              <a:solidFill>
                <a:srgbClr val="7030A0"/>
              </a:solidFill>
              <a:latin typeface="Times New Roman" panose="02020603050405020304" pitchFamily="18" charset="0"/>
              <a:ea typeface="Arial"/>
              <a:cs typeface="Times New Roman" panose="02020603050405020304" pitchFamily="18" charset="0"/>
            </a:endParaRPr>
          </a:p>
        </p:txBody>
      </p:sp>
      <p:sp>
        <p:nvSpPr>
          <p:cNvPr id="42" name="矩形: 圆角 41">
            <a:extLst>
              <a:ext uri="{FF2B5EF4-FFF2-40B4-BE49-F238E27FC236}">
                <a16:creationId xmlns:a16="http://schemas.microsoft.com/office/drawing/2014/main" id="{23BED023-E238-43B7-BDD2-42CB609CC6BE}"/>
              </a:ext>
            </a:extLst>
          </p:cNvPr>
          <p:cNvSpPr>
            <a:spLocks noGrp="1"/>
          </p:cNvSpPr>
          <p:nvPr/>
        </p:nvSpPr>
        <p:spPr>
          <a:xfrm>
            <a:off x="6274308" y="1138429"/>
            <a:ext cx="5527548" cy="4385292"/>
          </a:xfrm>
          <a:prstGeom prst="roundRect">
            <a:avLst>
              <a:gd name="adj" fmla="val 1203"/>
            </a:avLst>
          </a:prstGeom>
          <a:solidFill>
            <a:srgbClr val="F5F8FB"/>
          </a:solidFill>
          <a:ln w="0">
            <a:noFill/>
          </a:ln>
        </p:spPr>
        <p:txBody>
          <a:bodyPr/>
          <a:lstStyle/>
          <a:p>
            <a:pPr defTabSz="658368">
              <a:defRPr/>
            </a:pPr>
            <a:endParaRPr lang="zh-CN" altLang="en-US" sz="1440" dirty="0">
              <a:solidFill>
                <a:srgbClr val="000000"/>
              </a:solidFill>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5BDAFC83-139E-4335-80EE-68E6A6EC21FE}"/>
              </a:ext>
            </a:extLst>
          </p:cNvPr>
          <p:cNvSpPr>
            <a:spLocks noGrp="1"/>
          </p:cNvSpPr>
          <p:nvPr/>
        </p:nvSpPr>
        <p:spPr>
          <a:xfrm>
            <a:off x="6274308" y="1138428"/>
            <a:ext cx="5527548" cy="356616"/>
          </a:xfrm>
          <a:prstGeom prst="rect">
            <a:avLst/>
          </a:prstGeom>
          <a:solidFill>
            <a:srgbClr val="E6EDF4"/>
          </a:solidFill>
          <a:ln w="0">
            <a:noFill/>
          </a:ln>
        </p:spPr>
        <p:txBody>
          <a:bodyPr/>
          <a:lstStyle/>
          <a:p>
            <a:pPr defTabSz="658368">
              <a:defRPr/>
            </a:pPr>
            <a:endParaRPr lang="zh-CN" altLang="en-US" sz="1440">
              <a:solidFill>
                <a:srgbClr val="000000"/>
              </a:solidFill>
              <a:latin typeface="Aptos"/>
            </a:endParaRPr>
          </a:p>
        </p:txBody>
      </p:sp>
      <p:sp>
        <p:nvSpPr>
          <p:cNvPr id="44" name="矩形 43">
            <a:extLst>
              <a:ext uri="{FF2B5EF4-FFF2-40B4-BE49-F238E27FC236}">
                <a16:creationId xmlns:a16="http://schemas.microsoft.com/office/drawing/2014/main" id="{C6FFC197-E61E-4CA5-9926-738FD855EA77}"/>
              </a:ext>
            </a:extLst>
          </p:cNvPr>
          <p:cNvSpPr>
            <a:spLocks noGrp="1"/>
          </p:cNvSpPr>
          <p:nvPr/>
        </p:nvSpPr>
        <p:spPr>
          <a:xfrm>
            <a:off x="6370320" y="1165860"/>
            <a:ext cx="5335524" cy="301752"/>
          </a:xfrm>
          <a:prstGeom prst="rect">
            <a:avLst/>
          </a:prstGeom>
          <a:noFill/>
          <a:ln w="0">
            <a:noFill/>
          </a:ln>
        </p:spPr>
        <p:txBody>
          <a:bodyPr lIns="0" tIns="0" rIns="0" bIns="0" anchor="ctr">
            <a:noAutofit/>
          </a:bodyPr>
          <a:lstStyle/>
          <a:p>
            <a:pPr algn="ctr" defTabSz="658368">
              <a:defRPr sz="1950" b="1">
                <a:solidFill>
                  <a:srgbClr val="263441"/>
                </a:solidFill>
                <a:latin typeface="Arial"/>
                <a:ea typeface="Arial"/>
                <a:cs typeface="Arial"/>
              </a:defRPr>
            </a:pPr>
            <a:r>
              <a:rPr sz="1728" b="1" dirty="0">
                <a:solidFill>
                  <a:srgbClr val="263441"/>
                </a:solidFill>
                <a:latin typeface="Times New Roman" panose="02020603050405020304" pitchFamily="18" charset="0"/>
                <a:ea typeface="SimHei" panose="02010609060101010101" pitchFamily="49" charset="-122"/>
                <a:cs typeface="Times New Roman" panose="02020603050405020304" pitchFamily="18" charset="0"/>
              </a:rPr>
              <a:t>(b) </a:t>
            </a:r>
            <a:r>
              <a:rPr lang="en-US" sz="1728" b="1" dirty="0">
                <a:solidFill>
                  <a:srgbClr val="263441"/>
                </a:solidFill>
                <a:latin typeface="Times New Roman" panose="02020603050405020304" pitchFamily="18" charset="0"/>
                <a:ea typeface="SimHei" panose="02010609060101010101" pitchFamily="49" charset="-122"/>
                <a:cs typeface="Times New Roman" panose="02020603050405020304" pitchFamily="18" charset="0"/>
              </a:rPr>
              <a:t>Capacity-Cost Trade-off</a:t>
            </a:r>
            <a:endParaRPr sz="1728" b="1" dirty="0">
              <a:solidFill>
                <a:srgbClr val="26344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45" name="矩形 44">
            <a:extLst>
              <a:ext uri="{FF2B5EF4-FFF2-40B4-BE49-F238E27FC236}">
                <a16:creationId xmlns:a16="http://schemas.microsoft.com/office/drawing/2014/main" id="{375FD328-10D6-44AF-A0CD-84D93908151F}"/>
              </a:ext>
            </a:extLst>
          </p:cNvPr>
          <p:cNvSpPr>
            <a:spLocks noGrp="1"/>
          </p:cNvSpPr>
          <p:nvPr/>
        </p:nvSpPr>
        <p:spPr>
          <a:xfrm>
            <a:off x="6514338" y="1625346"/>
            <a:ext cx="3840480" cy="240030"/>
          </a:xfrm>
          <a:prstGeom prst="rect">
            <a:avLst/>
          </a:prstGeom>
          <a:noFill/>
          <a:ln w="0">
            <a:noFill/>
          </a:ln>
        </p:spPr>
        <p:txBody>
          <a:bodyPr lIns="0" tIns="0" rIns="0" bIns="0" anchor="ctr">
            <a:noAutofit/>
          </a:bodyPr>
          <a:lstStyle/>
          <a:p>
            <a:pPr defTabSz="658368">
              <a:defRPr sz="1575" b="0">
                <a:solidFill>
                  <a:srgbClr val="73808D"/>
                </a:solidFill>
                <a:latin typeface="Arial"/>
                <a:ea typeface="Arial"/>
                <a:cs typeface="Arial"/>
              </a:defRPr>
            </a:pPr>
            <a:r>
              <a:rPr sz="1440" i="1" dirty="0">
                <a:solidFill>
                  <a:srgbClr val="73808D"/>
                </a:solidFill>
                <a:latin typeface="Times New Roman" panose="02020603050405020304" pitchFamily="18" charset="0"/>
                <a:ea typeface="Arial"/>
                <a:cs typeface="Times New Roman" panose="02020603050405020304" pitchFamily="18" charset="0"/>
              </a:rPr>
              <a:t>DINOv2</a:t>
            </a:r>
            <a:r>
              <a:rPr lang="en-US" sz="1440" i="1" dirty="0">
                <a:solidFill>
                  <a:srgbClr val="73808D"/>
                </a:solidFill>
                <a:latin typeface="Times New Roman" panose="02020603050405020304" pitchFamily="18" charset="0"/>
                <a:ea typeface="Arial"/>
                <a:cs typeface="Times New Roman" panose="02020603050405020304" pitchFamily="18" charset="0"/>
              </a:rPr>
              <a:t> S</a:t>
            </a:r>
            <a:r>
              <a:rPr sz="1440" i="1" dirty="0">
                <a:solidFill>
                  <a:srgbClr val="73808D"/>
                </a:solidFill>
                <a:latin typeface="Times New Roman" panose="02020603050405020304" pitchFamily="18" charset="0"/>
                <a:ea typeface="Arial"/>
                <a:cs typeface="Times New Roman" panose="02020603050405020304" pitchFamily="18" charset="0"/>
              </a:rPr>
              <a:t>imilarity</a:t>
            </a:r>
            <a:r>
              <a:rPr lang="zh-CN" altLang="en-US" sz="1440" i="1" dirty="0">
                <a:solidFill>
                  <a:srgbClr val="73808D"/>
                </a:solidFill>
                <a:latin typeface="Times New Roman" panose="02020603050405020304" pitchFamily="18" charset="0"/>
                <a:ea typeface="Arial"/>
                <a:cs typeface="Times New Roman" panose="02020603050405020304" pitchFamily="18" charset="0"/>
              </a:rPr>
              <a:t> ↑</a:t>
            </a:r>
            <a:endParaRPr sz="1440" i="1" dirty="0">
              <a:solidFill>
                <a:srgbClr val="73808D"/>
              </a:solidFill>
              <a:latin typeface="Times New Roman" panose="02020603050405020304" pitchFamily="18" charset="0"/>
              <a:ea typeface="Arial"/>
              <a:cs typeface="Times New Roman" panose="02020603050405020304" pitchFamily="18" charset="0"/>
            </a:endParaRPr>
          </a:p>
        </p:txBody>
      </p:sp>
      <p:sp>
        <p:nvSpPr>
          <p:cNvPr id="46" name="矩形 45">
            <a:extLst>
              <a:ext uri="{FF2B5EF4-FFF2-40B4-BE49-F238E27FC236}">
                <a16:creationId xmlns:a16="http://schemas.microsoft.com/office/drawing/2014/main" id="{13911314-4840-40D4-B4BA-ADA8487A5231}"/>
              </a:ext>
            </a:extLst>
          </p:cNvPr>
          <p:cNvSpPr>
            <a:spLocks noGrp="1"/>
          </p:cNvSpPr>
          <p:nvPr/>
        </p:nvSpPr>
        <p:spPr>
          <a:xfrm>
            <a:off x="6925818" y="4869180"/>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47" name="矩形 46">
            <a:extLst>
              <a:ext uri="{FF2B5EF4-FFF2-40B4-BE49-F238E27FC236}">
                <a16:creationId xmlns:a16="http://schemas.microsoft.com/office/drawing/2014/main" id="{B4FB681F-2D98-4795-9695-EF005B63BF0D}"/>
              </a:ext>
            </a:extLst>
          </p:cNvPr>
          <p:cNvSpPr>
            <a:spLocks noGrp="1"/>
          </p:cNvSpPr>
          <p:nvPr/>
        </p:nvSpPr>
        <p:spPr>
          <a:xfrm>
            <a:off x="6534912" y="4766310"/>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0.0</a:t>
            </a:r>
          </a:p>
        </p:txBody>
      </p:sp>
      <p:sp>
        <p:nvSpPr>
          <p:cNvPr id="48" name="矩形 47">
            <a:extLst>
              <a:ext uri="{FF2B5EF4-FFF2-40B4-BE49-F238E27FC236}">
                <a16:creationId xmlns:a16="http://schemas.microsoft.com/office/drawing/2014/main" id="{35BD8A89-FDE1-4A9A-8AED-89B3106360DD}"/>
              </a:ext>
            </a:extLst>
          </p:cNvPr>
          <p:cNvSpPr>
            <a:spLocks noGrp="1"/>
          </p:cNvSpPr>
          <p:nvPr/>
        </p:nvSpPr>
        <p:spPr>
          <a:xfrm>
            <a:off x="6925818" y="4391406"/>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49" name="矩形 48">
            <a:extLst>
              <a:ext uri="{FF2B5EF4-FFF2-40B4-BE49-F238E27FC236}">
                <a16:creationId xmlns:a16="http://schemas.microsoft.com/office/drawing/2014/main" id="{60E708A9-634F-46DF-821F-4BEAC73FECEB}"/>
              </a:ext>
            </a:extLst>
          </p:cNvPr>
          <p:cNvSpPr>
            <a:spLocks noGrp="1"/>
          </p:cNvSpPr>
          <p:nvPr/>
        </p:nvSpPr>
        <p:spPr>
          <a:xfrm>
            <a:off x="6534912" y="4288536"/>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0.1</a:t>
            </a:r>
          </a:p>
        </p:txBody>
      </p:sp>
      <p:sp>
        <p:nvSpPr>
          <p:cNvPr id="50" name="矩形 49">
            <a:extLst>
              <a:ext uri="{FF2B5EF4-FFF2-40B4-BE49-F238E27FC236}">
                <a16:creationId xmlns:a16="http://schemas.microsoft.com/office/drawing/2014/main" id="{37F76B13-D6A5-4EAE-9144-ACB4DA633E0A}"/>
              </a:ext>
            </a:extLst>
          </p:cNvPr>
          <p:cNvSpPr>
            <a:spLocks noGrp="1"/>
          </p:cNvSpPr>
          <p:nvPr/>
        </p:nvSpPr>
        <p:spPr>
          <a:xfrm>
            <a:off x="6925818" y="3913632"/>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51" name="矩形 50">
            <a:extLst>
              <a:ext uri="{FF2B5EF4-FFF2-40B4-BE49-F238E27FC236}">
                <a16:creationId xmlns:a16="http://schemas.microsoft.com/office/drawing/2014/main" id="{3CDC4786-9351-4D28-BE45-EB48B60B120A}"/>
              </a:ext>
            </a:extLst>
          </p:cNvPr>
          <p:cNvSpPr>
            <a:spLocks noGrp="1"/>
          </p:cNvSpPr>
          <p:nvPr/>
        </p:nvSpPr>
        <p:spPr>
          <a:xfrm>
            <a:off x="6534912" y="3810762"/>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0.2</a:t>
            </a:r>
          </a:p>
        </p:txBody>
      </p:sp>
      <p:sp>
        <p:nvSpPr>
          <p:cNvPr id="52" name="矩形 51">
            <a:extLst>
              <a:ext uri="{FF2B5EF4-FFF2-40B4-BE49-F238E27FC236}">
                <a16:creationId xmlns:a16="http://schemas.microsoft.com/office/drawing/2014/main" id="{D2EA9F65-4403-4E0D-AE73-1087A814AAE9}"/>
              </a:ext>
            </a:extLst>
          </p:cNvPr>
          <p:cNvSpPr>
            <a:spLocks noGrp="1"/>
          </p:cNvSpPr>
          <p:nvPr/>
        </p:nvSpPr>
        <p:spPr>
          <a:xfrm>
            <a:off x="6925818" y="3435858"/>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53" name="矩形 52">
            <a:extLst>
              <a:ext uri="{FF2B5EF4-FFF2-40B4-BE49-F238E27FC236}">
                <a16:creationId xmlns:a16="http://schemas.microsoft.com/office/drawing/2014/main" id="{C3BFB1A4-5AD1-42BC-B41A-552D4733EE52}"/>
              </a:ext>
            </a:extLst>
          </p:cNvPr>
          <p:cNvSpPr>
            <a:spLocks noGrp="1"/>
          </p:cNvSpPr>
          <p:nvPr/>
        </p:nvSpPr>
        <p:spPr>
          <a:xfrm>
            <a:off x="6534912" y="3332988"/>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0.3</a:t>
            </a:r>
          </a:p>
        </p:txBody>
      </p:sp>
      <p:sp>
        <p:nvSpPr>
          <p:cNvPr id="54" name="矩形 53">
            <a:extLst>
              <a:ext uri="{FF2B5EF4-FFF2-40B4-BE49-F238E27FC236}">
                <a16:creationId xmlns:a16="http://schemas.microsoft.com/office/drawing/2014/main" id="{EC3A8A7A-379E-4F23-BF74-1ECD02929AFA}"/>
              </a:ext>
            </a:extLst>
          </p:cNvPr>
          <p:cNvSpPr>
            <a:spLocks noGrp="1"/>
          </p:cNvSpPr>
          <p:nvPr/>
        </p:nvSpPr>
        <p:spPr>
          <a:xfrm>
            <a:off x="6925818" y="2958084"/>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55" name="矩形 54">
            <a:extLst>
              <a:ext uri="{FF2B5EF4-FFF2-40B4-BE49-F238E27FC236}">
                <a16:creationId xmlns:a16="http://schemas.microsoft.com/office/drawing/2014/main" id="{067BDD40-3CF2-45BC-8EFD-5602B69D4E76}"/>
              </a:ext>
            </a:extLst>
          </p:cNvPr>
          <p:cNvSpPr>
            <a:spLocks noGrp="1"/>
          </p:cNvSpPr>
          <p:nvPr/>
        </p:nvSpPr>
        <p:spPr>
          <a:xfrm>
            <a:off x="6534912" y="2855214"/>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0.4</a:t>
            </a:r>
          </a:p>
        </p:txBody>
      </p:sp>
      <p:sp>
        <p:nvSpPr>
          <p:cNvPr id="56" name="矩形 55">
            <a:extLst>
              <a:ext uri="{FF2B5EF4-FFF2-40B4-BE49-F238E27FC236}">
                <a16:creationId xmlns:a16="http://schemas.microsoft.com/office/drawing/2014/main" id="{CB939B6E-4A29-4138-906C-5EB0D18378AA}"/>
              </a:ext>
            </a:extLst>
          </p:cNvPr>
          <p:cNvSpPr>
            <a:spLocks noGrp="1"/>
          </p:cNvSpPr>
          <p:nvPr/>
        </p:nvSpPr>
        <p:spPr>
          <a:xfrm>
            <a:off x="6925818" y="2480310"/>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57" name="矩形 56">
            <a:extLst>
              <a:ext uri="{FF2B5EF4-FFF2-40B4-BE49-F238E27FC236}">
                <a16:creationId xmlns:a16="http://schemas.microsoft.com/office/drawing/2014/main" id="{16A1A474-733D-41EE-A8A6-7D43C4E10608}"/>
              </a:ext>
            </a:extLst>
          </p:cNvPr>
          <p:cNvSpPr>
            <a:spLocks noGrp="1"/>
          </p:cNvSpPr>
          <p:nvPr/>
        </p:nvSpPr>
        <p:spPr>
          <a:xfrm>
            <a:off x="6534912" y="2377440"/>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0.5</a:t>
            </a:r>
          </a:p>
        </p:txBody>
      </p:sp>
      <p:sp>
        <p:nvSpPr>
          <p:cNvPr id="58" name="矩形 57">
            <a:extLst>
              <a:ext uri="{FF2B5EF4-FFF2-40B4-BE49-F238E27FC236}">
                <a16:creationId xmlns:a16="http://schemas.microsoft.com/office/drawing/2014/main" id="{02AA7936-1406-4261-8D69-40E7554FC56D}"/>
              </a:ext>
            </a:extLst>
          </p:cNvPr>
          <p:cNvSpPr>
            <a:spLocks noGrp="1"/>
          </p:cNvSpPr>
          <p:nvPr/>
        </p:nvSpPr>
        <p:spPr>
          <a:xfrm>
            <a:off x="6925818" y="2002536"/>
            <a:ext cx="4457700" cy="6858"/>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59" name="矩形 58">
            <a:extLst>
              <a:ext uri="{FF2B5EF4-FFF2-40B4-BE49-F238E27FC236}">
                <a16:creationId xmlns:a16="http://schemas.microsoft.com/office/drawing/2014/main" id="{9388647B-E0C1-4799-B5DF-645C251B2C19}"/>
              </a:ext>
            </a:extLst>
          </p:cNvPr>
          <p:cNvSpPr>
            <a:spLocks noGrp="1"/>
          </p:cNvSpPr>
          <p:nvPr/>
        </p:nvSpPr>
        <p:spPr>
          <a:xfrm>
            <a:off x="6534912" y="1899666"/>
            <a:ext cx="301752" cy="205740"/>
          </a:xfrm>
          <a:prstGeom prst="rect">
            <a:avLst/>
          </a:prstGeom>
          <a:noFill/>
          <a:ln w="0">
            <a:noFill/>
          </a:ln>
        </p:spPr>
        <p:txBody>
          <a:bodyPr lIns="0" tIns="0" rIns="0" bIns="0" anchor="ctr">
            <a:noAutofit/>
          </a:bodyPr>
          <a:lstStyle/>
          <a:p>
            <a:pPr algn="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0.6</a:t>
            </a:r>
          </a:p>
        </p:txBody>
      </p:sp>
      <p:sp>
        <p:nvSpPr>
          <p:cNvPr id="60" name="矩形 59">
            <a:extLst>
              <a:ext uri="{FF2B5EF4-FFF2-40B4-BE49-F238E27FC236}">
                <a16:creationId xmlns:a16="http://schemas.microsoft.com/office/drawing/2014/main" id="{7707D948-FEC6-481B-A942-09BA20900EB6}"/>
              </a:ext>
            </a:extLst>
          </p:cNvPr>
          <p:cNvSpPr>
            <a:spLocks noGrp="1"/>
          </p:cNvSpPr>
          <p:nvPr/>
        </p:nvSpPr>
        <p:spPr>
          <a:xfrm>
            <a:off x="692581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61" name="矩形 60">
            <a:extLst>
              <a:ext uri="{FF2B5EF4-FFF2-40B4-BE49-F238E27FC236}">
                <a16:creationId xmlns:a16="http://schemas.microsoft.com/office/drawing/2014/main" id="{044B1BE9-573D-4019-A293-90D205CCC75C}"/>
              </a:ext>
            </a:extLst>
          </p:cNvPr>
          <p:cNvSpPr>
            <a:spLocks noGrp="1"/>
          </p:cNvSpPr>
          <p:nvPr/>
        </p:nvSpPr>
        <p:spPr>
          <a:xfrm>
            <a:off x="659663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0.0</a:t>
            </a:r>
          </a:p>
        </p:txBody>
      </p:sp>
      <p:sp>
        <p:nvSpPr>
          <p:cNvPr id="62" name="矩形 61">
            <a:extLst>
              <a:ext uri="{FF2B5EF4-FFF2-40B4-BE49-F238E27FC236}">
                <a16:creationId xmlns:a16="http://schemas.microsoft.com/office/drawing/2014/main" id="{CF2475DB-9B03-48B3-9D1F-4CE6CF8D21F3}"/>
              </a:ext>
            </a:extLst>
          </p:cNvPr>
          <p:cNvSpPr>
            <a:spLocks noGrp="1"/>
          </p:cNvSpPr>
          <p:nvPr/>
        </p:nvSpPr>
        <p:spPr>
          <a:xfrm>
            <a:off x="841171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63" name="矩形 62">
            <a:extLst>
              <a:ext uri="{FF2B5EF4-FFF2-40B4-BE49-F238E27FC236}">
                <a16:creationId xmlns:a16="http://schemas.microsoft.com/office/drawing/2014/main" id="{DC3BC24F-DEB4-4B5D-9540-82367D558EC6}"/>
              </a:ext>
            </a:extLst>
          </p:cNvPr>
          <p:cNvSpPr>
            <a:spLocks noGrp="1"/>
          </p:cNvSpPr>
          <p:nvPr/>
        </p:nvSpPr>
        <p:spPr>
          <a:xfrm>
            <a:off x="808253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0.2</a:t>
            </a:r>
          </a:p>
        </p:txBody>
      </p:sp>
      <p:sp>
        <p:nvSpPr>
          <p:cNvPr id="64" name="矩形 63">
            <a:extLst>
              <a:ext uri="{FF2B5EF4-FFF2-40B4-BE49-F238E27FC236}">
                <a16:creationId xmlns:a16="http://schemas.microsoft.com/office/drawing/2014/main" id="{CD3DAF26-34AF-46A5-9010-97653A72A5D8}"/>
              </a:ext>
            </a:extLst>
          </p:cNvPr>
          <p:cNvSpPr>
            <a:spLocks noGrp="1"/>
          </p:cNvSpPr>
          <p:nvPr/>
        </p:nvSpPr>
        <p:spPr>
          <a:xfrm>
            <a:off x="989761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65" name="矩形 64">
            <a:extLst>
              <a:ext uri="{FF2B5EF4-FFF2-40B4-BE49-F238E27FC236}">
                <a16:creationId xmlns:a16="http://schemas.microsoft.com/office/drawing/2014/main" id="{1BDABCE0-C537-4BD6-84B8-E72AF084874A}"/>
              </a:ext>
            </a:extLst>
          </p:cNvPr>
          <p:cNvSpPr>
            <a:spLocks noGrp="1"/>
          </p:cNvSpPr>
          <p:nvPr/>
        </p:nvSpPr>
        <p:spPr>
          <a:xfrm>
            <a:off x="956843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0.4</a:t>
            </a:r>
          </a:p>
        </p:txBody>
      </p:sp>
      <p:sp>
        <p:nvSpPr>
          <p:cNvPr id="66" name="矩形 65">
            <a:extLst>
              <a:ext uri="{FF2B5EF4-FFF2-40B4-BE49-F238E27FC236}">
                <a16:creationId xmlns:a16="http://schemas.microsoft.com/office/drawing/2014/main" id="{890925DC-7516-4E38-AABE-B3E50BCAB321}"/>
              </a:ext>
            </a:extLst>
          </p:cNvPr>
          <p:cNvSpPr>
            <a:spLocks noGrp="1"/>
          </p:cNvSpPr>
          <p:nvPr/>
        </p:nvSpPr>
        <p:spPr>
          <a:xfrm>
            <a:off x="11383518" y="2002536"/>
            <a:ext cx="6858" cy="2866644"/>
          </a:xfrm>
          <a:prstGeom prst="rect">
            <a:avLst/>
          </a:prstGeom>
          <a:solidFill>
            <a:srgbClr val="D8E2EC"/>
          </a:solidFill>
          <a:ln w="0">
            <a:noFill/>
          </a:ln>
        </p:spPr>
        <p:txBody>
          <a:bodyPr/>
          <a:lstStyle/>
          <a:p>
            <a:pPr defTabSz="658368">
              <a:defRPr/>
            </a:pPr>
            <a:endParaRPr lang="zh-CN" altLang="en-US" sz="1440">
              <a:solidFill>
                <a:srgbClr val="000000"/>
              </a:solidFill>
              <a:latin typeface="Aptos"/>
            </a:endParaRPr>
          </a:p>
        </p:txBody>
      </p:sp>
      <p:sp>
        <p:nvSpPr>
          <p:cNvPr id="67" name="矩形 66">
            <a:extLst>
              <a:ext uri="{FF2B5EF4-FFF2-40B4-BE49-F238E27FC236}">
                <a16:creationId xmlns:a16="http://schemas.microsoft.com/office/drawing/2014/main" id="{34F94EA0-D7B3-4A37-B48B-228FDA4E2024}"/>
              </a:ext>
            </a:extLst>
          </p:cNvPr>
          <p:cNvSpPr>
            <a:spLocks noGrp="1"/>
          </p:cNvSpPr>
          <p:nvPr/>
        </p:nvSpPr>
        <p:spPr>
          <a:xfrm>
            <a:off x="11054334" y="4965192"/>
            <a:ext cx="658368" cy="205740"/>
          </a:xfrm>
          <a:prstGeom prst="rect">
            <a:avLst/>
          </a:prstGeom>
          <a:noFill/>
          <a:ln w="0">
            <a:noFill/>
          </a:ln>
        </p:spPr>
        <p:txBody>
          <a:bodyPr lIns="0" tIns="0" rIns="0" bIns="0" anchor="ctr">
            <a:noAutofit/>
          </a:bodyPr>
          <a:lstStyle/>
          <a:p>
            <a:pPr algn="ctr" defTabSz="658368">
              <a:defRPr sz="1425" b="0">
                <a:solidFill>
                  <a:srgbClr val="73808D"/>
                </a:solidFill>
                <a:latin typeface="Arial"/>
                <a:ea typeface="Arial"/>
                <a:cs typeface="Arial"/>
              </a:defRPr>
            </a:pPr>
            <a:r>
              <a:rPr sz="1440" dirty="0">
                <a:solidFill>
                  <a:srgbClr val="73808D"/>
                </a:solidFill>
                <a:latin typeface="Times New Roman" panose="02020603050405020304" pitchFamily="18" charset="0"/>
                <a:ea typeface="Arial"/>
                <a:cs typeface="Times New Roman" panose="02020603050405020304" pitchFamily="18" charset="0"/>
              </a:rPr>
              <a:t>0.6</a:t>
            </a:r>
          </a:p>
        </p:txBody>
      </p:sp>
      <p:sp>
        <p:nvSpPr>
          <p:cNvPr id="68" name="矩形 67">
            <a:extLst>
              <a:ext uri="{FF2B5EF4-FFF2-40B4-BE49-F238E27FC236}">
                <a16:creationId xmlns:a16="http://schemas.microsoft.com/office/drawing/2014/main" id="{39454213-005F-43CF-B711-FD8694E6247F}"/>
              </a:ext>
            </a:extLst>
          </p:cNvPr>
          <p:cNvSpPr>
            <a:spLocks noGrp="1"/>
          </p:cNvSpPr>
          <p:nvPr/>
        </p:nvSpPr>
        <p:spPr>
          <a:xfrm>
            <a:off x="7137312" y="5215554"/>
            <a:ext cx="4128516" cy="240030"/>
          </a:xfrm>
          <a:prstGeom prst="rect">
            <a:avLst/>
          </a:prstGeom>
          <a:noFill/>
          <a:ln w="0">
            <a:noFill/>
          </a:ln>
        </p:spPr>
        <p:txBody>
          <a:bodyPr lIns="0" tIns="0" rIns="0" bIns="0" anchor="ctr">
            <a:noAutofit/>
          </a:bodyPr>
          <a:lstStyle/>
          <a:p>
            <a:pPr algn="ctr" defTabSz="658368">
              <a:defRPr sz="1725" b="0">
                <a:solidFill>
                  <a:srgbClr val="263441"/>
                </a:solidFill>
                <a:latin typeface="Arial"/>
                <a:ea typeface="Arial"/>
                <a:cs typeface="Arial"/>
              </a:defRPr>
            </a:pPr>
            <a:r>
              <a:rPr sz="1728" dirty="0">
                <a:solidFill>
                  <a:srgbClr val="263441"/>
                </a:solidFill>
                <a:latin typeface="Times New Roman" panose="02020603050405020304" pitchFamily="18" charset="0"/>
                <a:ea typeface="Arial"/>
                <a:cs typeface="Times New Roman" panose="02020603050405020304" pitchFamily="18" charset="0"/>
              </a:rPr>
              <a:t>Equivalent </a:t>
            </a:r>
            <a:r>
              <a:rPr lang="en-US" sz="1728" dirty="0">
                <a:solidFill>
                  <a:srgbClr val="263441"/>
                </a:solidFill>
                <a:latin typeface="Times New Roman" panose="02020603050405020304" pitchFamily="18" charset="0"/>
                <a:ea typeface="Arial"/>
                <a:cs typeface="Times New Roman" panose="02020603050405020304" pitchFamily="18" charset="0"/>
              </a:rPr>
              <a:t>C</a:t>
            </a:r>
            <a:r>
              <a:rPr sz="1728" dirty="0">
                <a:solidFill>
                  <a:srgbClr val="263441"/>
                </a:solidFill>
                <a:latin typeface="Times New Roman" panose="02020603050405020304" pitchFamily="18" charset="0"/>
                <a:ea typeface="Arial"/>
                <a:cs typeface="Times New Roman" panose="02020603050405020304" pitchFamily="18" charset="0"/>
              </a:rPr>
              <a:t>ost</a:t>
            </a:r>
          </a:p>
        </p:txBody>
      </p:sp>
      <p:sp>
        <p:nvSpPr>
          <p:cNvPr id="36" name="矩形 35">
            <a:extLst>
              <a:ext uri="{FF2B5EF4-FFF2-40B4-BE49-F238E27FC236}">
                <a16:creationId xmlns:a16="http://schemas.microsoft.com/office/drawing/2014/main" id="{BDC6029D-DEE8-EB21-FBDE-79736C520725}"/>
              </a:ext>
            </a:extLst>
          </p:cNvPr>
          <p:cNvSpPr>
            <a:spLocks noGrp="1"/>
          </p:cNvSpPr>
          <p:nvPr/>
        </p:nvSpPr>
        <p:spPr>
          <a:xfrm rot="16200000">
            <a:off x="-845196" y="3424428"/>
            <a:ext cx="3237946" cy="240030"/>
          </a:xfrm>
          <a:prstGeom prst="rect">
            <a:avLst/>
          </a:prstGeom>
          <a:noFill/>
          <a:ln w="0">
            <a:noFill/>
          </a:ln>
        </p:spPr>
        <p:txBody>
          <a:bodyPr lIns="0" tIns="0" rIns="0" bIns="0" anchor="ctr">
            <a:noAutofit/>
          </a:bodyPr>
          <a:lstStyle/>
          <a:p>
            <a:pPr algn="ctr" defTabSz="658368">
              <a:defRPr sz="1725" b="0">
                <a:solidFill>
                  <a:srgbClr val="263441"/>
                </a:solidFill>
                <a:latin typeface="Arial"/>
                <a:ea typeface="Arial"/>
                <a:cs typeface="Arial"/>
              </a:defRPr>
            </a:pPr>
            <a:r>
              <a:rPr lang="en-US" sz="1728" dirty="0">
                <a:solidFill>
                  <a:srgbClr val="263441"/>
                </a:solidFill>
                <a:latin typeface="Times New Roman" panose="02020603050405020304" pitchFamily="18" charset="0"/>
                <a:ea typeface="Arial"/>
                <a:cs typeface="Times New Roman" panose="02020603050405020304" pitchFamily="18" charset="0"/>
              </a:rPr>
              <a:t>Reconstruction Quality</a:t>
            </a:r>
            <a:endParaRPr sz="1728" dirty="0">
              <a:solidFill>
                <a:srgbClr val="263441"/>
              </a:solidFill>
              <a:latin typeface="Times New Roman" panose="02020603050405020304" pitchFamily="18" charset="0"/>
              <a:ea typeface="Arial"/>
              <a:cs typeface="Times New Roman" panose="02020603050405020304" pitchFamily="18" charset="0"/>
            </a:endParaRPr>
          </a:p>
        </p:txBody>
      </p:sp>
      <p:sp>
        <p:nvSpPr>
          <p:cNvPr id="69" name="矩形 68">
            <a:extLst>
              <a:ext uri="{FF2B5EF4-FFF2-40B4-BE49-F238E27FC236}">
                <a16:creationId xmlns:a16="http://schemas.microsoft.com/office/drawing/2014/main" id="{11B43A11-F27A-766E-6B56-FACDC81C6294}"/>
              </a:ext>
            </a:extLst>
          </p:cNvPr>
          <p:cNvSpPr>
            <a:spLocks noGrp="1"/>
          </p:cNvSpPr>
          <p:nvPr/>
        </p:nvSpPr>
        <p:spPr>
          <a:xfrm rot="16200000">
            <a:off x="4850225" y="3456015"/>
            <a:ext cx="3237946" cy="240030"/>
          </a:xfrm>
          <a:prstGeom prst="rect">
            <a:avLst/>
          </a:prstGeom>
          <a:noFill/>
          <a:ln w="0">
            <a:noFill/>
          </a:ln>
        </p:spPr>
        <p:txBody>
          <a:bodyPr lIns="0" tIns="0" rIns="0" bIns="0" anchor="ctr">
            <a:noAutofit/>
          </a:bodyPr>
          <a:lstStyle/>
          <a:p>
            <a:pPr algn="ctr" defTabSz="658368">
              <a:defRPr sz="1725" b="0">
                <a:solidFill>
                  <a:srgbClr val="263441"/>
                </a:solidFill>
                <a:latin typeface="Arial"/>
                <a:ea typeface="Arial"/>
                <a:cs typeface="Arial"/>
              </a:defRPr>
            </a:pPr>
            <a:r>
              <a:rPr lang="en-US" sz="1728" dirty="0">
                <a:solidFill>
                  <a:srgbClr val="263441"/>
                </a:solidFill>
                <a:latin typeface="Times New Roman" panose="02020603050405020304" pitchFamily="18" charset="0"/>
                <a:ea typeface="Arial"/>
                <a:cs typeface="Times New Roman" panose="02020603050405020304" pitchFamily="18" charset="0"/>
              </a:rPr>
              <a:t>Reconstruction Quality</a:t>
            </a:r>
            <a:endParaRPr sz="1728" dirty="0">
              <a:solidFill>
                <a:srgbClr val="263441"/>
              </a:solidFill>
              <a:latin typeface="Times New Roman" panose="02020603050405020304" pitchFamily="18" charset="0"/>
              <a:ea typeface="Arial"/>
              <a:cs typeface="Times New Roman" panose="02020603050405020304" pitchFamily="18" charset="0"/>
            </a:endParaRPr>
          </a:p>
        </p:txBody>
      </p:sp>
      <p:sp>
        <p:nvSpPr>
          <p:cNvPr id="75" name="矩形 74">
            <a:extLst>
              <a:ext uri="{FF2B5EF4-FFF2-40B4-BE49-F238E27FC236}">
                <a16:creationId xmlns:a16="http://schemas.microsoft.com/office/drawing/2014/main" id="{654C501A-E7E9-8E45-0285-7282662DD1BA}"/>
              </a:ext>
            </a:extLst>
          </p:cNvPr>
          <p:cNvSpPr>
            <a:spLocks noGrp="1"/>
          </p:cNvSpPr>
          <p:nvPr/>
        </p:nvSpPr>
        <p:spPr>
          <a:xfrm>
            <a:off x="4762839" y="5100066"/>
            <a:ext cx="1297767" cy="240030"/>
          </a:xfrm>
          <a:prstGeom prst="rect">
            <a:avLst/>
          </a:prstGeom>
          <a:noFill/>
          <a:ln w="0">
            <a:noFill/>
          </a:ln>
        </p:spPr>
        <p:txBody>
          <a:bodyPr lIns="0" tIns="0" rIns="0" bIns="0" anchor="ctr">
            <a:noAutofit/>
          </a:bodyPr>
          <a:lstStyle/>
          <a:p>
            <a:pPr defTabSz="658368">
              <a:defRPr sz="1575" b="0">
                <a:solidFill>
                  <a:srgbClr val="73808D"/>
                </a:solidFill>
                <a:latin typeface="Arial"/>
                <a:ea typeface="Arial"/>
                <a:cs typeface="Arial"/>
              </a:defRPr>
            </a:pPr>
            <a:r>
              <a:rPr lang="en-US" altLang="zh-CN" sz="1440" i="1" dirty="0">
                <a:solidFill>
                  <a:srgbClr val="73808D"/>
                </a:solidFill>
                <a:latin typeface="Times New Roman" panose="02020603050405020304" pitchFamily="18" charset="0"/>
                <a:ea typeface="Arial"/>
                <a:cs typeface="Times New Roman" panose="02020603050405020304" pitchFamily="18" charset="0"/>
              </a:rPr>
              <a:t>Seconds</a:t>
            </a:r>
            <a:r>
              <a:rPr lang="zh-CN" altLang="en-US" sz="1440" i="1" dirty="0">
                <a:solidFill>
                  <a:srgbClr val="73808D"/>
                </a:solidFill>
                <a:latin typeface="Times New Roman" panose="02020603050405020304" pitchFamily="18" charset="0"/>
                <a:ea typeface="Arial"/>
                <a:cs typeface="Times New Roman" panose="02020603050405020304" pitchFamily="18" charset="0"/>
              </a:rPr>
              <a:t> </a:t>
            </a:r>
            <a:r>
              <a:rPr lang="en-US" altLang="zh-CN" sz="1440" i="1" dirty="0">
                <a:solidFill>
                  <a:srgbClr val="73808D"/>
                </a:solidFill>
                <a:latin typeface="Times New Roman" panose="02020603050405020304" pitchFamily="18" charset="0"/>
                <a:ea typeface="Arial"/>
                <a:cs typeface="Times New Roman" panose="02020603050405020304" pitchFamily="18" charset="0"/>
              </a:rPr>
              <a:t>/</a:t>
            </a:r>
            <a:r>
              <a:rPr lang="zh-CN" altLang="en-US" sz="1440" i="1" dirty="0">
                <a:solidFill>
                  <a:srgbClr val="73808D"/>
                </a:solidFill>
                <a:latin typeface="Times New Roman" panose="02020603050405020304" pitchFamily="18" charset="0"/>
                <a:ea typeface="Arial"/>
                <a:cs typeface="Times New Roman" panose="02020603050405020304" pitchFamily="18" charset="0"/>
              </a:rPr>
              <a:t> </a:t>
            </a:r>
            <a:r>
              <a:rPr lang="en-US" altLang="zh-CN" sz="1440" i="1" dirty="0">
                <a:solidFill>
                  <a:srgbClr val="73808D"/>
                </a:solidFill>
                <a:latin typeface="Times New Roman" panose="02020603050405020304" pitchFamily="18" charset="0"/>
                <a:ea typeface="Arial"/>
                <a:cs typeface="Times New Roman" panose="02020603050405020304" pitchFamily="18" charset="0"/>
              </a:rPr>
              <a:t>Scene</a:t>
            </a:r>
            <a:endParaRPr sz="1440" i="1" dirty="0">
              <a:solidFill>
                <a:srgbClr val="73808D"/>
              </a:solidFill>
              <a:latin typeface="Times New Roman" panose="02020603050405020304" pitchFamily="18" charset="0"/>
              <a:ea typeface="Arial"/>
              <a:cs typeface="Times New Roman" panose="02020603050405020304" pitchFamily="18" charset="0"/>
            </a:endParaRPr>
          </a:p>
        </p:txBody>
      </p:sp>
      <p:pic>
        <p:nvPicPr>
          <p:cNvPr id="78" name="图形 77">
            <a:extLst>
              <a:ext uri="{FF2B5EF4-FFF2-40B4-BE49-F238E27FC236}">
                <a16:creationId xmlns:a16="http://schemas.microsoft.com/office/drawing/2014/main" id="{740BDC84-ABA2-B343-B257-6C2E21F01D67}"/>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2103828" y="2827230"/>
            <a:ext cx="280904" cy="280904"/>
          </a:xfrm>
          <a:prstGeom prst="rect">
            <a:avLst/>
          </a:prstGeom>
        </p:spPr>
      </p:pic>
      <p:pic>
        <p:nvPicPr>
          <p:cNvPr id="95" name="图形 94">
            <a:extLst>
              <a:ext uri="{FF2B5EF4-FFF2-40B4-BE49-F238E27FC236}">
                <a16:creationId xmlns:a16="http://schemas.microsoft.com/office/drawing/2014/main" id="{76AF71E5-2C17-E793-6ED6-F5359BE805B2}"/>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2397836" y="2058399"/>
            <a:ext cx="318524" cy="318524"/>
          </a:xfrm>
          <a:prstGeom prst="rect">
            <a:avLst/>
          </a:prstGeom>
        </p:spPr>
      </p:pic>
      <p:pic>
        <p:nvPicPr>
          <p:cNvPr id="96" name="图形 95">
            <a:extLst>
              <a:ext uri="{FF2B5EF4-FFF2-40B4-BE49-F238E27FC236}">
                <a16:creationId xmlns:a16="http://schemas.microsoft.com/office/drawing/2014/main" id="{4D37746B-2FA4-1C96-A987-3D5001996B8C}"/>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2371476" y="2178719"/>
            <a:ext cx="212178" cy="212178"/>
          </a:xfrm>
          <a:prstGeom prst="rect">
            <a:avLst/>
          </a:prstGeom>
        </p:spPr>
      </p:pic>
      <p:sp>
        <p:nvSpPr>
          <p:cNvPr id="97" name="矩形 96">
            <a:extLst>
              <a:ext uri="{FF2B5EF4-FFF2-40B4-BE49-F238E27FC236}">
                <a16:creationId xmlns:a16="http://schemas.microsoft.com/office/drawing/2014/main" id="{437CC275-921A-F597-BD24-9D0BF14F0A55}"/>
              </a:ext>
            </a:extLst>
          </p:cNvPr>
          <p:cNvSpPr>
            <a:spLocks noGrp="1"/>
          </p:cNvSpPr>
          <p:nvPr/>
        </p:nvSpPr>
        <p:spPr>
          <a:xfrm>
            <a:off x="1993653" y="2318490"/>
            <a:ext cx="808366" cy="211833"/>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898BC0"/>
                </a:solidFill>
                <a:latin typeface="Times New Roman" panose="02020603050405020304" pitchFamily="18" charset="0"/>
                <a:ea typeface="Arial"/>
                <a:cs typeface="Times New Roman" panose="02020603050405020304" pitchFamily="18" charset="0"/>
              </a:rPr>
              <a:t>A</a:t>
            </a:r>
            <a:r>
              <a:rPr sz="1008" b="1" i="1" dirty="0">
                <a:solidFill>
                  <a:srgbClr val="898BC0"/>
                </a:solidFill>
                <a:latin typeface="Times New Roman" panose="02020603050405020304" pitchFamily="18" charset="0"/>
                <a:ea typeface="Arial"/>
                <a:cs typeface="Times New Roman" panose="02020603050405020304" pitchFamily="18" charset="0"/>
              </a:rPr>
              <a:t>stra</a:t>
            </a:r>
            <a:r>
              <a:rPr lang="en-US" altLang="zh-CN" sz="1008" b="1" i="1" dirty="0">
                <a:solidFill>
                  <a:srgbClr val="898BC0"/>
                </a:solidFill>
                <a:latin typeface="Times New Roman" panose="02020603050405020304" pitchFamily="18" charset="0"/>
                <a:ea typeface="Arial"/>
                <a:cs typeface="Times New Roman" panose="02020603050405020304" pitchFamily="18" charset="0"/>
              </a:rPr>
              <a:t>-Low</a:t>
            </a:r>
            <a:endParaRPr sz="1008" b="1" i="1" dirty="0">
              <a:solidFill>
                <a:srgbClr val="898BC0"/>
              </a:solidFill>
              <a:latin typeface="Times New Roman" panose="02020603050405020304" pitchFamily="18" charset="0"/>
              <a:ea typeface="Arial"/>
              <a:cs typeface="Times New Roman" panose="02020603050405020304" pitchFamily="18" charset="0"/>
            </a:endParaRPr>
          </a:p>
        </p:txBody>
      </p:sp>
      <p:sp>
        <p:nvSpPr>
          <p:cNvPr id="98" name="矩形 97">
            <a:extLst>
              <a:ext uri="{FF2B5EF4-FFF2-40B4-BE49-F238E27FC236}">
                <a16:creationId xmlns:a16="http://schemas.microsoft.com/office/drawing/2014/main" id="{67402998-D437-8C6A-6629-2042806FCF90}"/>
              </a:ext>
            </a:extLst>
          </p:cNvPr>
          <p:cNvSpPr>
            <a:spLocks noGrp="1"/>
          </p:cNvSpPr>
          <p:nvPr/>
        </p:nvSpPr>
        <p:spPr>
          <a:xfrm>
            <a:off x="1480850" y="1943034"/>
            <a:ext cx="952618" cy="198994"/>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43649C"/>
                </a:solidFill>
                <a:latin typeface="Times New Roman" panose="02020603050405020304" pitchFamily="18" charset="0"/>
                <a:ea typeface="Arial"/>
                <a:cs typeface="Times New Roman" panose="02020603050405020304" pitchFamily="18" charset="0"/>
              </a:rPr>
              <a:t>A</a:t>
            </a:r>
            <a:r>
              <a:rPr sz="1008" b="1" i="1" dirty="0">
                <a:solidFill>
                  <a:srgbClr val="43649C"/>
                </a:solidFill>
                <a:latin typeface="Times New Roman" panose="02020603050405020304" pitchFamily="18" charset="0"/>
                <a:ea typeface="Arial"/>
                <a:cs typeface="Times New Roman" panose="02020603050405020304" pitchFamily="18" charset="0"/>
              </a:rPr>
              <a:t>stra</a:t>
            </a:r>
            <a:r>
              <a:rPr lang="en-US" altLang="zh-CN" sz="1008" b="1" i="1" dirty="0">
                <a:solidFill>
                  <a:srgbClr val="43649C"/>
                </a:solidFill>
                <a:latin typeface="Times New Roman" panose="02020603050405020304" pitchFamily="18" charset="0"/>
                <a:ea typeface="Arial"/>
                <a:cs typeface="Times New Roman" panose="02020603050405020304" pitchFamily="18" charset="0"/>
              </a:rPr>
              <a:t>-</a:t>
            </a:r>
            <a:r>
              <a:rPr lang="en-US" sz="1008" b="1" i="1" dirty="0">
                <a:solidFill>
                  <a:srgbClr val="43649C"/>
                </a:solidFill>
                <a:latin typeface="Times New Roman" panose="02020603050405020304" pitchFamily="18" charset="0"/>
                <a:ea typeface="Arial"/>
                <a:cs typeface="Times New Roman" panose="02020603050405020304" pitchFamily="18" charset="0"/>
              </a:rPr>
              <a:t>Medium</a:t>
            </a:r>
            <a:endParaRPr sz="1008" b="1" i="1" dirty="0">
              <a:solidFill>
                <a:srgbClr val="43649C"/>
              </a:solidFill>
              <a:latin typeface="Times New Roman" panose="02020603050405020304" pitchFamily="18" charset="0"/>
              <a:ea typeface="Arial"/>
              <a:cs typeface="Times New Roman" panose="02020603050405020304" pitchFamily="18" charset="0"/>
            </a:endParaRPr>
          </a:p>
        </p:txBody>
      </p:sp>
      <p:pic>
        <p:nvPicPr>
          <p:cNvPr id="105" name="图形 104">
            <a:extLst>
              <a:ext uri="{FF2B5EF4-FFF2-40B4-BE49-F238E27FC236}">
                <a16:creationId xmlns:a16="http://schemas.microsoft.com/office/drawing/2014/main" id="{EDFD9C93-1EA9-4FBC-D05A-418BBD99D269}"/>
              </a:ext>
            </a:extLst>
          </p:cNvPr>
          <p:cNvPicPr>
            <a:picLocks noChangeAspect="1"/>
          </p:cNvPicPr>
          <p:nvPr/>
        </p:nvPicPr>
        <p:blipFill>
          <a:blip>
            <a:extLst>
              <a:ext uri="{96DAC541-7B7A-43D3-8B79-37D633B846F1}">
                <asvg:svgBlip xmlns:asvg="http://schemas.microsoft.com/office/drawing/2016/SVG/main" r:embed="rId9"/>
              </a:ext>
            </a:extLst>
          </a:blip>
          <a:stretch/>
        </p:blipFill>
        <p:spPr>
          <a:xfrm>
            <a:off x="1950546" y="2930026"/>
            <a:ext cx="225651" cy="225651"/>
          </a:xfrm>
          <a:prstGeom prst="rect">
            <a:avLst/>
          </a:prstGeom>
        </p:spPr>
      </p:pic>
      <p:sp>
        <p:nvSpPr>
          <p:cNvPr id="106" name="矩形 105">
            <a:extLst>
              <a:ext uri="{FF2B5EF4-FFF2-40B4-BE49-F238E27FC236}">
                <a16:creationId xmlns:a16="http://schemas.microsoft.com/office/drawing/2014/main" id="{5674ACC3-36E1-0B16-6559-7ABAACA3198F}"/>
              </a:ext>
            </a:extLst>
          </p:cNvPr>
          <p:cNvSpPr>
            <a:spLocks noGrp="1"/>
          </p:cNvSpPr>
          <p:nvPr/>
        </p:nvSpPr>
        <p:spPr>
          <a:xfrm>
            <a:off x="2270226" y="2614267"/>
            <a:ext cx="813029" cy="205740"/>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79D5BD"/>
                </a:solidFill>
                <a:latin typeface="Times New Roman" panose="02020603050405020304" pitchFamily="18" charset="0"/>
                <a:ea typeface="Arial"/>
                <a:cs typeface="Times New Roman" panose="02020603050405020304" pitchFamily="18" charset="0"/>
              </a:rPr>
              <a:t>S</a:t>
            </a:r>
            <a:r>
              <a:rPr sz="1008" b="1" i="1" dirty="0">
                <a:solidFill>
                  <a:srgbClr val="79D5BD"/>
                </a:solidFill>
                <a:latin typeface="Times New Roman" panose="02020603050405020304" pitchFamily="18" charset="0"/>
                <a:ea typeface="Arial"/>
                <a:cs typeface="Times New Roman" panose="02020603050405020304" pitchFamily="18" charset="0"/>
              </a:rPr>
              <a:t>ol</a:t>
            </a:r>
            <a:r>
              <a:rPr lang="en-US" altLang="zh-CN" sz="1008" b="1" i="1" dirty="0">
                <a:solidFill>
                  <a:srgbClr val="79D5BD"/>
                </a:solidFill>
                <a:latin typeface="Times New Roman" panose="02020603050405020304" pitchFamily="18" charset="0"/>
                <a:ea typeface="Arial"/>
                <a:cs typeface="Times New Roman" panose="02020603050405020304" pitchFamily="18" charset="0"/>
              </a:rPr>
              <a:t>-Medium</a:t>
            </a:r>
            <a:endParaRPr sz="1008" b="1" i="1" dirty="0">
              <a:solidFill>
                <a:srgbClr val="79D5BD"/>
              </a:solidFill>
              <a:latin typeface="Times New Roman" panose="02020603050405020304" pitchFamily="18" charset="0"/>
              <a:ea typeface="Arial"/>
              <a:cs typeface="Times New Roman" panose="02020603050405020304" pitchFamily="18" charset="0"/>
            </a:endParaRPr>
          </a:p>
        </p:txBody>
      </p:sp>
      <p:sp>
        <p:nvSpPr>
          <p:cNvPr id="107" name="矩形 106">
            <a:extLst>
              <a:ext uri="{FF2B5EF4-FFF2-40B4-BE49-F238E27FC236}">
                <a16:creationId xmlns:a16="http://schemas.microsoft.com/office/drawing/2014/main" id="{7AF0F5B3-E77C-DEB4-5802-E00675E27B7E}"/>
              </a:ext>
            </a:extLst>
          </p:cNvPr>
          <p:cNvSpPr>
            <a:spLocks noGrp="1"/>
          </p:cNvSpPr>
          <p:nvPr/>
        </p:nvSpPr>
        <p:spPr>
          <a:xfrm>
            <a:off x="1384306" y="2894077"/>
            <a:ext cx="548834" cy="238846"/>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ADD8E6"/>
                </a:solidFill>
                <a:latin typeface="Times New Roman" panose="02020603050405020304" pitchFamily="18" charset="0"/>
                <a:ea typeface="Arial"/>
                <a:cs typeface="Times New Roman" panose="02020603050405020304" pitchFamily="18" charset="0"/>
              </a:rPr>
              <a:t>S</a:t>
            </a:r>
            <a:r>
              <a:rPr sz="1008" b="1" i="1" dirty="0">
                <a:solidFill>
                  <a:srgbClr val="ADD8E6"/>
                </a:solidFill>
                <a:latin typeface="Times New Roman" panose="02020603050405020304" pitchFamily="18" charset="0"/>
                <a:ea typeface="Arial"/>
                <a:cs typeface="Times New Roman" panose="02020603050405020304" pitchFamily="18" charset="0"/>
              </a:rPr>
              <a:t>ol</a:t>
            </a:r>
            <a:r>
              <a:rPr lang="en-US" altLang="zh-CN" sz="1008" b="1" i="1" dirty="0">
                <a:solidFill>
                  <a:srgbClr val="ADD8E6"/>
                </a:solidFill>
                <a:latin typeface="Times New Roman" panose="02020603050405020304" pitchFamily="18" charset="0"/>
                <a:ea typeface="Arial"/>
                <a:cs typeface="Times New Roman" panose="02020603050405020304" pitchFamily="18" charset="0"/>
              </a:rPr>
              <a:t>-Low</a:t>
            </a:r>
            <a:endParaRPr sz="1008" b="1" i="1" dirty="0">
              <a:solidFill>
                <a:srgbClr val="ADD8E6"/>
              </a:solidFill>
              <a:latin typeface="Times New Roman" panose="02020603050405020304" pitchFamily="18" charset="0"/>
              <a:ea typeface="Arial"/>
              <a:cs typeface="Times New Roman" panose="02020603050405020304" pitchFamily="18" charset="0"/>
            </a:endParaRPr>
          </a:p>
        </p:txBody>
      </p:sp>
      <p:sp>
        <p:nvSpPr>
          <p:cNvPr id="34" name="矩形 33">
            <a:extLst>
              <a:ext uri="{FF2B5EF4-FFF2-40B4-BE49-F238E27FC236}">
                <a16:creationId xmlns:a16="http://schemas.microsoft.com/office/drawing/2014/main" id="{DF990D01-9D52-441C-BC65-4DF0056BE872}"/>
              </a:ext>
            </a:extLst>
          </p:cNvPr>
          <p:cNvSpPr>
            <a:spLocks noGrp="1"/>
          </p:cNvSpPr>
          <p:nvPr/>
        </p:nvSpPr>
        <p:spPr>
          <a:xfrm>
            <a:off x="2752740" y="3264408"/>
            <a:ext cx="1234440" cy="205740"/>
          </a:xfrm>
          <a:prstGeom prst="rect">
            <a:avLst/>
          </a:prstGeom>
          <a:noFill/>
          <a:ln w="0">
            <a:noFill/>
          </a:ln>
        </p:spPr>
        <p:txBody>
          <a:bodyPr lIns="0" tIns="0" rIns="0" bIns="0" anchor="ctr">
            <a:noAutofit/>
          </a:bodyPr>
          <a:lstStyle/>
          <a:p>
            <a:pPr defTabSz="658368">
              <a:defRPr sz="1650" b="1">
                <a:solidFill>
                  <a:srgbClr val="398CCD"/>
                </a:solidFill>
                <a:latin typeface="Arial"/>
                <a:ea typeface="Arial"/>
                <a:cs typeface="Arial"/>
              </a:defRPr>
            </a:pPr>
            <a:r>
              <a:rPr lang="en-US" sz="1440" b="1" i="1" dirty="0" err="1">
                <a:solidFill>
                  <a:srgbClr val="C00000"/>
                </a:solidFill>
                <a:latin typeface="Times New Roman" panose="02020603050405020304" pitchFamily="18" charset="0"/>
                <a:ea typeface="Arial"/>
                <a:cs typeface="Times New Roman" panose="02020603050405020304" pitchFamily="18" charset="0"/>
              </a:rPr>
              <a:t>Scene</a:t>
            </a:r>
            <a:r>
              <a:rPr lang="en-US" altLang="zh-CN" sz="1440" b="1" i="1" dirty="0" err="1">
                <a:solidFill>
                  <a:srgbClr val="C00000"/>
                </a:solidFill>
                <a:latin typeface="Times New Roman" panose="02020603050405020304" pitchFamily="18" charset="0"/>
                <a:ea typeface="Arial"/>
                <a:cs typeface="Times New Roman" panose="02020603050405020304" pitchFamily="18" charset="0"/>
              </a:rPr>
              <a:t>Evolve</a:t>
            </a:r>
            <a:endParaRPr sz="1440" b="1" i="1" dirty="0">
              <a:solidFill>
                <a:srgbClr val="C00000"/>
              </a:solidFill>
              <a:latin typeface="Times New Roman" panose="02020603050405020304" pitchFamily="18" charset="0"/>
              <a:ea typeface="Arial"/>
              <a:cs typeface="Times New Roman" panose="02020603050405020304" pitchFamily="18" charset="0"/>
            </a:endParaRPr>
          </a:p>
        </p:txBody>
      </p:sp>
      <p:sp>
        <p:nvSpPr>
          <p:cNvPr id="113" name="矩形 112">
            <a:extLst>
              <a:ext uri="{FF2B5EF4-FFF2-40B4-BE49-F238E27FC236}">
                <a16:creationId xmlns:a16="http://schemas.microsoft.com/office/drawing/2014/main" id="{567A9905-B61F-74C1-3EB3-E074CD5F8D0E}"/>
              </a:ext>
            </a:extLst>
          </p:cNvPr>
          <p:cNvSpPr>
            <a:spLocks noGrp="1"/>
          </p:cNvSpPr>
          <p:nvPr/>
        </p:nvSpPr>
        <p:spPr>
          <a:xfrm>
            <a:off x="10693404" y="5106924"/>
            <a:ext cx="1012440" cy="240030"/>
          </a:xfrm>
          <a:prstGeom prst="rect">
            <a:avLst/>
          </a:prstGeom>
          <a:noFill/>
          <a:ln w="0">
            <a:noFill/>
          </a:ln>
        </p:spPr>
        <p:txBody>
          <a:bodyPr lIns="0" tIns="0" rIns="0" bIns="0" anchor="ctr">
            <a:noAutofit/>
          </a:bodyPr>
          <a:lstStyle/>
          <a:p>
            <a:pPr defTabSz="658368">
              <a:defRPr sz="1575" b="0">
                <a:solidFill>
                  <a:srgbClr val="73808D"/>
                </a:solidFill>
                <a:latin typeface="Arial"/>
                <a:ea typeface="Arial"/>
                <a:cs typeface="Arial"/>
              </a:defRPr>
            </a:pPr>
            <a:r>
              <a:rPr lang="en-US" altLang="zh-CN" sz="1440" i="1" dirty="0">
                <a:solidFill>
                  <a:srgbClr val="73808D"/>
                </a:solidFill>
                <a:latin typeface="Times New Roman" panose="02020603050405020304" pitchFamily="18" charset="0"/>
                <a:ea typeface="Arial"/>
                <a:cs typeface="Times New Roman" panose="02020603050405020304" pitchFamily="18" charset="0"/>
              </a:rPr>
              <a:t>USD</a:t>
            </a:r>
            <a:r>
              <a:rPr lang="zh-CN" altLang="en-US" sz="1440" i="1" dirty="0">
                <a:solidFill>
                  <a:srgbClr val="73808D"/>
                </a:solidFill>
                <a:latin typeface="Times New Roman" panose="02020603050405020304" pitchFamily="18" charset="0"/>
                <a:ea typeface="Arial"/>
                <a:cs typeface="Times New Roman" panose="02020603050405020304" pitchFamily="18" charset="0"/>
              </a:rPr>
              <a:t> </a:t>
            </a:r>
            <a:r>
              <a:rPr lang="en-US" altLang="zh-CN" sz="1440" i="1" dirty="0">
                <a:solidFill>
                  <a:srgbClr val="73808D"/>
                </a:solidFill>
                <a:latin typeface="Times New Roman" panose="02020603050405020304" pitchFamily="18" charset="0"/>
                <a:ea typeface="Arial"/>
                <a:cs typeface="Times New Roman" panose="02020603050405020304" pitchFamily="18" charset="0"/>
              </a:rPr>
              <a:t>/</a:t>
            </a:r>
            <a:r>
              <a:rPr lang="zh-CN" altLang="en-US" sz="1440" i="1" dirty="0">
                <a:solidFill>
                  <a:srgbClr val="73808D"/>
                </a:solidFill>
                <a:latin typeface="Times New Roman" panose="02020603050405020304" pitchFamily="18" charset="0"/>
                <a:ea typeface="Arial"/>
                <a:cs typeface="Times New Roman" panose="02020603050405020304" pitchFamily="18" charset="0"/>
              </a:rPr>
              <a:t> </a:t>
            </a:r>
            <a:r>
              <a:rPr lang="en-US" altLang="zh-CN" sz="1440" i="1" dirty="0">
                <a:solidFill>
                  <a:srgbClr val="73808D"/>
                </a:solidFill>
                <a:latin typeface="Times New Roman" panose="02020603050405020304" pitchFamily="18" charset="0"/>
                <a:ea typeface="Arial"/>
                <a:cs typeface="Times New Roman" panose="02020603050405020304" pitchFamily="18" charset="0"/>
              </a:rPr>
              <a:t>Scene</a:t>
            </a:r>
            <a:endParaRPr sz="1440" i="1" dirty="0">
              <a:solidFill>
                <a:srgbClr val="73808D"/>
              </a:solidFill>
              <a:latin typeface="Times New Roman" panose="02020603050405020304" pitchFamily="18" charset="0"/>
              <a:ea typeface="Arial"/>
              <a:cs typeface="Times New Roman" panose="02020603050405020304" pitchFamily="18" charset="0"/>
            </a:endParaRPr>
          </a:p>
        </p:txBody>
      </p:sp>
      <p:pic>
        <p:nvPicPr>
          <p:cNvPr id="115" name="图片 114">
            <a:extLst>
              <a:ext uri="{FF2B5EF4-FFF2-40B4-BE49-F238E27FC236}">
                <a16:creationId xmlns:a16="http://schemas.microsoft.com/office/drawing/2014/main" id="{8A8DB46E-7891-F948-5A21-0645F6CE0AF7}"/>
              </a:ext>
            </a:extLst>
          </p:cNvPr>
          <p:cNvPicPr>
            <a:picLocks noChangeAspect="1"/>
          </p:cNvPicPr>
          <p:nvPr/>
        </p:nvPicPr>
        <p:blipFill>
          <a:blip r:embed="rId10"/>
          <a:stretch>
            <a:fillRect/>
          </a:stretch>
        </p:blipFill>
        <p:spPr>
          <a:xfrm>
            <a:off x="3039891" y="2925621"/>
            <a:ext cx="350767" cy="350767"/>
          </a:xfrm>
          <a:prstGeom prst="rect">
            <a:avLst/>
          </a:prstGeom>
        </p:spPr>
      </p:pic>
      <p:sp>
        <p:nvSpPr>
          <p:cNvPr id="117" name="箭头: 燕尾形 1280">
            <a:extLst>
              <a:ext uri="{FF2B5EF4-FFF2-40B4-BE49-F238E27FC236}">
                <a16:creationId xmlns:a16="http://schemas.microsoft.com/office/drawing/2014/main" id="{C6C417A6-7EAA-7B7A-D2B9-AB60EA77C8A0}"/>
              </a:ext>
            </a:extLst>
          </p:cNvPr>
          <p:cNvSpPr/>
          <p:nvPr/>
        </p:nvSpPr>
        <p:spPr>
          <a:xfrm rot="12393576">
            <a:off x="3479693" y="3295321"/>
            <a:ext cx="1355557" cy="319405"/>
          </a:xfrm>
          <a:prstGeom prst="notchedRightArrow">
            <a:avLst/>
          </a:prstGeom>
          <a:gradFill flip="none" rotWithShape="1">
            <a:gsLst>
              <a:gs pos="0">
                <a:schemeClr val="tx2">
                  <a:lumMod val="25000"/>
                  <a:lumOff val="75000"/>
                </a:schemeClr>
              </a:gs>
              <a:gs pos="100000">
                <a:srgbClr val="E24C4B"/>
              </a:gs>
            </a:gsLst>
            <a:lin ang="0" scaled="1"/>
            <a:tileRect/>
          </a:gradFill>
          <a:ln w="19050">
            <a:solidFill>
              <a:schemeClr val="bg2">
                <a:lumMod val="25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58368">
              <a:defRPr/>
            </a:pPr>
            <a:endParaRPr lang="zh-CN" altLang="en-US" sz="1152" dirty="0">
              <a:solidFill>
                <a:srgbClr val="FFFFFF"/>
              </a:solidFill>
              <a:latin typeface="Aptos"/>
            </a:endParaRPr>
          </a:p>
        </p:txBody>
      </p:sp>
      <p:pic>
        <p:nvPicPr>
          <p:cNvPr id="200" name="图形 118"/>
          <p:cNvPicPr>
            <a:picLocks noChangeAspect="1"/>
          </p:cNvPicPr>
          <p:nvPr/>
        </p:nvPicPr>
        <p:blipFill>
          <a:blip>
            <a:extLst>
              <a:ext uri="{96DAC541-7B7A-43D3-8B79-37D633B846F1}">
                <asvg:svgBlip xmlns:asvg="http://schemas.microsoft.com/office/drawing/2016/SVG/main" r:embed="rId3"/>
              </a:ext>
            </a:extLst>
          </a:blip>
          <a:stretch/>
        </p:blipFill>
        <p:spPr>
          <a:xfrm>
            <a:off x="7829934" y="3724557"/>
            <a:ext cx="342004" cy="342004"/>
          </a:xfrm>
          <a:prstGeom prst="rect">
            <a:avLst/>
          </a:prstGeom>
        </p:spPr>
      </p:pic>
      <p:sp>
        <p:nvSpPr>
          <p:cNvPr id="201" name="矩形 30">
            <a:extLst>
              <a:ext uri="{FF2B5EF4-FFF2-40B4-BE49-F238E27FC236}">
                <a16:creationId xmlns:a16="http://schemas.microsoft.com/office/drawing/2014/main" id="{85EFB4E7-D08F-4DBB-AE59-A3A106F70078}"/>
              </a:ext>
            </a:extLst>
          </p:cNvPr>
          <p:cNvSpPr>
            <a:spLocks noGrp="1"/>
          </p:cNvSpPr>
          <p:nvPr/>
        </p:nvSpPr>
        <p:spPr>
          <a:xfrm>
            <a:off x="7507159" y="4080724"/>
            <a:ext cx="1152566" cy="205740"/>
          </a:xfrm>
          <a:prstGeom prst="rect">
            <a:avLst/>
          </a:prstGeom>
          <a:noFill/>
          <a:ln w="0">
            <a:noFill/>
          </a:ln>
        </p:spPr>
        <p:txBody>
          <a:bodyPr lIns="0" tIns="0" rIns="0" bIns="0" anchor="ctr">
            <a:noAutofit/>
          </a:bodyPr>
          <a:lstStyle/>
          <a:p>
            <a:pPr defTabSz="658368">
              <a:defRPr sz="1650" b="0">
                <a:solidFill>
                  <a:srgbClr val="8995A2"/>
                </a:solidFill>
                <a:latin typeface="Arial"/>
                <a:ea typeface="Arial"/>
                <a:cs typeface="Arial"/>
              </a:defRPr>
            </a:pPr>
            <a:r>
              <a:rPr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Qwen</a:t>
            </a:r>
            <a:r>
              <a:rPr lang="en-US"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-3.8-27B</a:t>
            </a:r>
            <a:r>
              <a:rPr lang="en-US" altLang="zh-CN"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-x</a:t>
            </a:r>
            <a:r>
              <a:rPr lang="en-US"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rPr>
              <a:t>High</a:t>
            </a:r>
            <a:endParaRPr sz="1008" b="1" i="1" dirty="0">
              <a:solidFill>
                <a:srgbClr val="0E2841">
                  <a:lumMod val="50000"/>
                  <a:lumOff val="50000"/>
                </a:srgbClr>
              </a:solidFill>
              <a:latin typeface="Times New Roman" panose="02020603050405020304" pitchFamily="18" charset="0"/>
              <a:ea typeface="Arial"/>
              <a:cs typeface="Times New Roman" panose="02020603050405020304" pitchFamily="18" charset="0"/>
            </a:endParaRPr>
          </a:p>
        </p:txBody>
      </p:sp>
      <p:pic>
        <p:nvPicPr>
          <p:cNvPr id="202" name="图形 104">
            <a:extLst>
              <a:ext uri="{FF2B5EF4-FFF2-40B4-BE49-F238E27FC236}">
                <a16:creationId xmlns:a16="http://schemas.microsoft.com/office/drawing/2014/main" id="{EDFD9C93-1EA9-4FBC-D05A-418BBD99D269}"/>
              </a:ext>
            </a:extLst>
          </p:cNvPr>
          <p:cNvPicPr>
            <a:picLocks noChangeAspect="1"/>
          </p:cNvPicPr>
          <p:nvPr/>
        </p:nvPicPr>
        <p:blipFill>
          <a:blip>
            <a:extLst>
              <a:ext uri="{96DAC541-7B7A-43D3-8B79-37D633B846F1}">
                <asvg:svgBlip xmlns:asvg="http://schemas.microsoft.com/office/drawing/2016/SVG/main" r:embed="rId9"/>
              </a:ext>
            </a:extLst>
          </a:blip>
          <a:stretch/>
        </p:blipFill>
        <p:spPr>
          <a:xfrm>
            <a:off x="8704686" y="3117638"/>
            <a:ext cx="225651" cy="225651"/>
          </a:xfrm>
          <a:prstGeom prst="rect">
            <a:avLst/>
          </a:prstGeom>
        </p:spPr>
      </p:pic>
      <p:sp>
        <p:nvSpPr>
          <p:cNvPr id="203" name="矩形 106">
            <a:extLst>
              <a:ext uri="{FF2B5EF4-FFF2-40B4-BE49-F238E27FC236}">
                <a16:creationId xmlns:a16="http://schemas.microsoft.com/office/drawing/2014/main" id="{7AF0F5B3-E77C-DEB4-5802-E00675E27B7E}"/>
              </a:ext>
            </a:extLst>
          </p:cNvPr>
          <p:cNvSpPr>
            <a:spLocks noGrp="1"/>
          </p:cNvSpPr>
          <p:nvPr/>
        </p:nvSpPr>
        <p:spPr>
          <a:xfrm>
            <a:off x="8411718" y="3316272"/>
            <a:ext cx="680057" cy="222456"/>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ADD8E6"/>
                </a:solidFill>
                <a:latin typeface="Times New Roman" panose="02020603050405020304" pitchFamily="18" charset="0"/>
                <a:ea typeface="Arial"/>
                <a:cs typeface="Times New Roman" panose="02020603050405020304" pitchFamily="18" charset="0"/>
              </a:rPr>
              <a:t>S</a:t>
            </a:r>
            <a:r>
              <a:rPr sz="1008" b="1" i="1" dirty="0">
                <a:solidFill>
                  <a:srgbClr val="ADD8E6"/>
                </a:solidFill>
                <a:latin typeface="Times New Roman" panose="02020603050405020304" pitchFamily="18" charset="0"/>
                <a:ea typeface="Arial"/>
                <a:cs typeface="Times New Roman" panose="02020603050405020304" pitchFamily="18" charset="0"/>
              </a:rPr>
              <a:t>ol</a:t>
            </a:r>
            <a:r>
              <a:rPr lang="en-US" altLang="zh-CN" sz="1008" b="1" i="1" dirty="0">
                <a:solidFill>
                  <a:srgbClr val="ADD8E6"/>
                </a:solidFill>
                <a:latin typeface="Times New Roman" panose="02020603050405020304" pitchFamily="18" charset="0"/>
                <a:ea typeface="Arial"/>
                <a:cs typeface="Times New Roman" panose="02020603050405020304" pitchFamily="18" charset="0"/>
              </a:rPr>
              <a:t>-Low</a:t>
            </a:r>
            <a:endParaRPr sz="1008" b="1" i="1" dirty="0">
              <a:solidFill>
                <a:srgbClr val="ADD8E6"/>
              </a:solidFill>
              <a:latin typeface="Times New Roman" panose="02020603050405020304" pitchFamily="18" charset="0"/>
              <a:ea typeface="Arial"/>
              <a:cs typeface="Times New Roman" panose="02020603050405020304" pitchFamily="18" charset="0"/>
            </a:endParaRPr>
          </a:p>
        </p:txBody>
      </p:sp>
      <p:pic>
        <p:nvPicPr>
          <p:cNvPr id="204" name="图形 77">
            <a:extLst>
              <a:ext uri="{FF2B5EF4-FFF2-40B4-BE49-F238E27FC236}">
                <a16:creationId xmlns:a16="http://schemas.microsoft.com/office/drawing/2014/main" id="{740BDC84-ABA2-B343-B257-6C2E21F01D67}"/>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8943531" y="3086098"/>
            <a:ext cx="280904" cy="280904"/>
          </a:xfrm>
          <a:prstGeom prst="rect">
            <a:avLst/>
          </a:prstGeom>
        </p:spPr>
      </p:pic>
      <p:sp>
        <p:nvSpPr>
          <p:cNvPr id="205" name="矩形 105">
            <a:extLst>
              <a:ext uri="{FF2B5EF4-FFF2-40B4-BE49-F238E27FC236}">
                <a16:creationId xmlns:a16="http://schemas.microsoft.com/office/drawing/2014/main" id="{5674ACC3-36E1-0B16-6559-7ABAACA3198F}"/>
              </a:ext>
            </a:extLst>
          </p:cNvPr>
          <p:cNvSpPr>
            <a:spLocks noGrp="1"/>
          </p:cNvSpPr>
          <p:nvPr/>
        </p:nvSpPr>
        <p:spPr>
          <a:xfrm>
            <a:off x="9110590" y="3328502"/>
            <a:ext cx="915688" cy="200996"/>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79D5BD"/>
                </a:solidFill>
                <a:latin typeface="Times New Roman" panose="02020603050405020304" pitchFamily="18" charset="0"/>
                <a:ea typeface="Arial"/>
                <a:cs typeface="Times New Roman" panose="02020603050405020304" pitchFamily="18" charset="0"/>
              </a:rPr>
              <a:t>S</a:t>
            </a:r>
            <a:r>
              <a:rPr sz="1008" b="1" i="1" dirty="0">
                <a:solidFill>
                  <a:srgbClr val="79D5BD"/>
                </a:solidFill>
                <a:latin typeface="Times New Roman" panose="02020603050405020304" pitchFamily="18" charset="0"/>
                <a:ea typeface="Arial"/>
                <a:cs typeface="Times New Roman" panose="02020603050405020304" pitchFamily="18" charset="0"/>
              </a:rPr>
              <a:t>ol</a:t>
            </a:r>
            <a:r>
              <a:rPr lang="en-US" altLang="zh-CN" sz="1008" b="1" i="1" dirty="0">
                <a:solidFill>
                  <a:srgbClr val="79D5BD"/>
                </a:solidFill>
                <a:latin typeface="Times New Roman" panose="02020603050405020304" pitchFamily="18" charset="0"/>
                <a:ea typeface="Arial"/>
                <a:cs typeface="Times New Roman" panose="02020603050405020304" pitchFamily="18" charset="0"/>
              </a:rPr>
              <a:t>-Medium</a:t>
            </a:r>
            <a:endParaRPr sz="1008" b="1" i="1" dirty="0">
              <a:solidFill>
                <a:srgbClr val="79D5BD"/>
              </a:solidFill>
              <a:latin typeface="Times New Roman" panose="02020603050405020304" pitchFamily="18" charset="0"/>
              <a:ea typeface="Arial"/>
              <a:cs typeface="Times New Roman" panose="02020603050405020304" pitchFamily="18" charset="0"/>
            </a:endParaRPr>
          </a:p>
        </p:txBody>
      </p:sp>
      <p:pic>
        <p:nvPicPr>
          <p:cNvPr id="206" name="图形 124"/>
          <p:cNvPicPr>
            <a:picLocks noChangeAspect="1"/>
          </p:cNvPicPr>
          <p:nvPr/>
        </p:nvPicPr>
        <p:blipFill>
          <a:blip>
            <a:extLst>
              <a:ext uri="{96DAC541-7B7A-43D3-8B79-37D633B846F1}">
                <asvg:svgBlip xmlns:asvg="http://schemas.microsoft.com/office/drawing/2016/SVG/main" r:embed="rId4"/>
              </a:ext>
            </a:extLst>
          </a:blip>
          <a:stretch/>
        </p:blipFill>
        <p:spPr>
          <a:xfrm>
            <a:off x="8908837" y="2737305"/>
            <a:ext cx="322815" cy="322815"/>
          </a:xfrm>
          <a:prstGeom prst="rect">
            <a:avLst/>
          </a:prstGeom>
        </p:spPr>
      </p:pic>
      <p:sp>
        <p:nvSpPr>
          <p:cNvPr id="207" name="矩形 36">
            <a:extLst>
              <a:ext uri="{FF2B5EF4-FFF2-40B4-BE49-F238E27FC236}">
                <a16:creationId xmlns:a16="http://schemas.microsoft.com/office/drawing/2014/main" id="{DCB0A197-B9A1-428C-AEC8-DB9611F1D7C9}"/>
              </a:ext>
            </a:extLst>
          </p:cNvPr>
          <p:cNvSpPr>
            <a:spLocks noGrp="1"/>
          </p:cNvSpPr>
          <p:nvPr/>
        </p:nvSpPr>
        <p:spPr>
          <a:xfrm>
            <a:off x="8780716" y="2556079"/>
            <a:ext cx="665369" cy="205740"/>
          </a:xfrm>
          <a:prstGeom prst="rect">
            <a:avLst/>
          </a:prstGeom>
          <a:noFill/>
          <a:ln w="0">
            <a:noFill/>
          </a:ln>
        </p:spPr>
        <p:txBody>
          <a:bodyPr lIns="0" tIns="0" rIns="0" bIns="0" anchor="ctr">
            <a:noAutofit/>
          </a:bodyPr>
          <a:lstStyle/>
          <a:p>
            <a:pPr defTabSz="658368">
              <a:defRPr sz="1650" b="0">
                <a:solidFill>
                  <a:srgbClr val="D89859"/>
                </a:solidFill>
                <a:latin typeface="Arial"/>
                <a:ea typeface="Arial"/>
                <a:cs typeface="Arial"/>
              </a:defRPr>
            </a:pPr>
            <a:r>
              <a:rPr lang="en-US" sz="1008" b="1" i="1" dirty="0">
                <a:solidFill>
                  <a:srgbClr val="4DA2A7"/>
                </a:solidFill>
                <a:latin typeface="Times New Roman" panose="02020603050405020304" pitchFamily="18" charset="0"/>
                <a:ea typeface="Arial"/>
                <a:cs typeface="Times New Roman" panose="02020603050405020304" pitchFamily="18" charset="0"/>
              </a:rPr>
              <a:t>S</a:t>
            </a:r>
            <a:r>
              <a:rPr sz="1008" b="1" i="1" dirty="0">
                <a:solidFill>
                  <a:srgbClr val="4DA2A7"/>
                </a:solidFill>
                <a:latin typeface="Times New Roman" panose="02020603050405020304" pitchFamily="18" charset="0"/>
                <a:ea typeface="Arial"/>
                <a:cs typeface="Times New Roman" panose="02020603050405020304" pitchFamily="18" charset="0"/>
              </a:rPr>
              <a:t>ol</a:t>
            </a:r>
            <a:r>
              <a:rPr lang="en-US" altLang="zh-CN" sz="1008" b="1" i="1" dirty="0">
                <a:solidFill>
                  <a:srgbClr val="4DA2A7"/>
                </a:solidFill>
                <a:latin typeface="Times New Roman" panose="02020603050405020304" pitchFamily="18" charset="0"/>
                <a:ea typeface="Arial"/>
                <a:cs typeface="Times New Roman" panose="02020603050405020304" pitchFamily="18" charset="0"/>
              </a:rPr>
              <a:t>-High</a:t>
            </a:r>
            <a:endParaRPr sz="1008" b="1" i="1" dirty="0">
              <a:solidFill>
                <a:srgbClr val="4DA2A7"/>
              </a:solidFill>
              <a:latin typeface="Times New Roman" panose="02020603050405020304" pitchFamily="18" charset="0"/>
              <a:ea typeface="Arial"/>
              <a:cs typeface="Times New Roman" panose="02020603050405020304" pitchFamily="18" charset="0"/>
            </a:endParaRPr>
          </a:p>
        </p:txBody>
      </p:sp>
      <p:pic>
        <p:nvPicPr>
          <p:cNvPr id="208" name="图形 95">
            <a:extLst>
              <a:ext uri="{FF2B5EF4-FFF2-40B4-BE49-F238E27FC236}">
                <a16:creationId xmlns:a16="http://schemas.microsoft.com/office/drawing/2014/main" id="{4D37746B-2FA4-1C96-A987-3D5001996B8C}"/>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10099580" y="2445875"/>
            <a:ext cx="212178" cy="212178"/>
          </a:xfrm>
          <a:prstGeom prst="rect">
            <a:avLst/>
          </a:prstGeom>
        </p:spPr>
      </p:pic>
      <p:sp>
        <p:nvSpPr>
          <p:cNvPr id="209" name="矩形 96">
            <a:extLst>
              <a:ext uri="{FF2B5EF4-FFF2-40B4-BE49-F238E27FC236}">
                <a16:creationId xmlns:a16="http://schemas.microsoft.com/office/drawing/2014/main" id="{437CC275-921A-F597-BD24-9D0BF14F0A55}"/>
              </a:ext>
            </a:extLst>
          </p:cNvPr>
          <p:cNvSpPr>
            <a:spLocks noGrp="1"/>
          </p:cNvSpPr>
          <p:nvPr/>
        </p:nvSpPr>
        <p:spPr>
          <a:xfrm>
            <a:off x="10355741" y="2529378"/>
            <a:ext cx="699516" cy="185166"/>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898BC0"/>
                </a:solidFill>
                <a:latin typeface="Times New Roman" panose="02020603050405020304" pitchFamily="18" charset="0"/>
                <a:ea typeface="Arial"/>
                <a:cs typeface="Times New Roman" panose="02020603050405020304" pitchFamily="18" charset="0"/>
              </a:rPr>
              <a:t>A</a:t>
            </a:r>
            <a:r>
              <a:rPr sz="1008" b="1" i="1" dirty="0">
                <a:solidFill>
                  <a:srgbClr val="898BC0"/>
                </a:solidFill>
                <a:latin typeface="Times New Roman" panose="02020603050405020304" pitchFamily="18" charset="0"/>
                <a:ea typeface="Arial"/>
                <a:cs typeface="Times New Roman" panose="02020603050405020304" pitchFamily="18" charset="0"/>
              </a:rPr>
              <a:t>stra</a:t>
            </a:r>
            <a:r>
              <a:rPr lang="en-US" altLang="zh-CN" sz="1008" b="1" i="1" dirty="0">
                <a:solidFill>
                  <a:srgbClr val="898BC0"/>
                </a:solidFill>
                <a:latin typeface="Times New Roman" panose="02020603050405020304" pitchFamily="18" charset="0"/>
                <a:ea typeface="Arial"/>
                <a:cs typeface="Times New Roman" panose="02020603050405020304" pitchFamily="18" charset="0"/>
              </a:rPr>
              <a:t>-Low</a:t>
            </a:r>
            <a:endParaRPr sz="1008" b="1" i="1" dirty="0">
              <a:solidFill>
                <a:srgbClr val="898BC0"/>
              </a:solidFill>
              <a:latin typeface="Times New Roman" panose="02020603050405020304" pitchFamily="18" charset="0"/>
              <a:ea typeface="Arial"/>
              <a:cs typeface="Times New Roman" panose="02020603050405020304" pitchFamily="18" charset="0"/>
            </a:endParaRPr>
          </a:p>
        </p:txBody>
      </p:sp>
      <p:pic>
        <p:nvPicPr>
          <p:cNvPr id="210" name="图形 127"/>
          <p:cNvPicPr>
            <a:picLocks noChangeAspect="1"/>
          </p:cNvPicPr>
          <p:nvPr/>
        </p:nvPicPr>
        <p:blipFill>
          <a:blip>
            <a:extLst>
              <a:ext uri="{96DAC541-7B7A-43D3-8B79-37D633B846F1}">
                <asvg:svgBlip xmlns:asvg="http://schemas.microsoft.com/office/drawing/2016/SVG/main" r:embed="rId5"/>
              </a:ext>
            </a:extLst>
          </a:blip>
          <a:stretch/>
        </p:blipFill>
        <p:spPr>
          <a:xfrm>
            <a:off x="10246612" y="2276437"/>
            <a:ext cx="267327" cy="267327"/>
          </a:xfrm>
          <a:prstGeom prst="rect">
            <a:avLst/>
          </a:prstGeom>
        </p:spPr>
      </p:pic>
      <p:sp>
        <p:nvSpPr>
          <p:cNvPr id="211" name="矩形 97">
            <a:extLst>
              <a:ext uri="{FF2B5EF4-FFF2-40B4-BE49-F238E27FC236}">
                <a16:creationId xmlns:a16="http://schemas.microsoft.com/office/drawing/2014/main" id="{67402998-D437-8C6A-6629-2042806FCF90}"/>
              </a:ext>
            </a:extLst>
          </p:cNvPr>
          <p:cNvSpPr>
            <a:spLocks noGrp="1"/>
          </p:cNvSpPr>
          <p:nvPr/>
        </p:nvSpPr>
        <p:spPr>
          <a:xfrm>
            <a:off x="9295923" y="2178719"/>
            <a:ext cx="998743" cy="220889"/>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43649C"/>
                </a:solidFill>
                <a:latin typeface="Times New Roman" panose="02020603050405020304" pitchFamily="18" charset="0"/>
                <a:ea typeface="Arial"/>
                <a:cs typeface="Times New Roman" panose="02020603050405020304" pitchFamily="18" charset="0"/>
              </a:rPr>
              <a:t>A</a:t>
            </a:r>
            <a:r>
              <a:rPr sz="1008" b="1" i="1" dirty="0">
                <a:solidFill>
                  <a:srgbClr val="43649C"/>
                </a:solidFill>
                <a:latin typeface="Times New Roman" panose="02020603050405020304" pitchFamily="18" charset="0"/>
                <a:ea typeface="Arial"/>
                <a:cs typeface="Times New Roman" panose="02020603050405020304" pitchFamily="18" charset="0"/>
              </a:rPr>
              <a:t>stra</a:t>
            </a:r>
            <a:r>
              <a:rPr lang="en-US" altLang="zh-CN" sz="1008" b="1" i="1" dirty="0">
                <a:solidFill>
                  <a:srgbClr val="43649C"/>
                </a:solidFill>
                <a:latin typeface="Times New Roman" panose="02020603050405020304" pitchFamily="18" charset="0"/>
                <a:ea typeface="Arial"/>
                <a:cs typeface="Times New Roman" panose="02020603050405020304" pitchFamily="18" charset="0"/>
              </a:rPr>
              <a:t>-</a:t>
            </a:r>
            <a:r>
              <a:rPr lang="en-US" sz="1008" b="1" i="1" dirty="0">
                <a:solidFill>
                  <a:srgbClr val="43649C"/>
                </a:solidFill>
                <a:latin typeface="Times New Roman" panose="02020603050405020304" pitchFamily="18" charset="0"/>
                <a:ea typeface="Arial"/>
                <a:cs typeface="Times New Roman" panose="02020603050405020304" pitchFamily="18" charset="0"/>
              </a:rPr>
              <a:t>Medium</a:t>
            </a:r>
            <a:endParaRPr sz="1008" b="1" i="1" dirty="0">
              <a:solidFill>
                <a:srgbClr val="43649C"/>
              </a:solidFill>
              <a:latin typeface="Times New Roman" panose="02020603050405020304" pitchFamily="18" charset="0"/>
              <a:ea typeface="Arial"/>
              <a:cs typeface="Times New Roman" panose="02020603050405020304" pitchFamily="18" charset="0"/>
            </a:endParaRPr>
          </a:p>
        </p:txBody>
      </p:sp>
      <p:pic>
        <p:nvPicPr>
          <p:cNvPr id="212" name="图形 94">
            <a:extLst>
              <a:ext uri="{FF2B5EF4-FFF2-40B4-BE49-F238E27FC236}">
                <a16:creationId xmlns:a16="http://schemas.microsoft.com/office/drawing/2014/main" id="{76AF71E5-2C17-E793-6ED6-F5359BE805B2}"/>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10297215" y="2177481"/>
            <a:ext cx="318524" cy="318524"/>
          </a:xfrm>
          <a:prstGeom prst="rect">
            <a:avLst/>
          </a:prstGeom>
        </p:spPr>
      </p:pic>
      <p:sp>
        <p:nvSpPr>
          <p:cNvPr id="213" name="矩形 39">
            <a:extLst>
              <a:ext uri="{FF2B5EF4-FFF2-40B4-BE49-F238E27FC236}">
                <a16:creationId xmlns:a16="http://schemas.microsoft.com/office/drawing/2014/main" id="{1413D11E-0D35-4B15-B608-4B50C8DCB045}"/>
              </a:ext>
            </a:extLst>
          </p:cNvPr>
          <p:cNvSpPr>
            <a:spLocks noGrp="1"/>
          </p:cNvSpPr>
          <p:nvPr/>
        </p:nvSpPr>
        <p:spPr>
          <a:xfrm>
            <a:off x="10617708" y="2143169"/>
            <a:ext cx="772668" cy="205740"/>
          </a:xfrm>
          <a:prstGeom prst="rect">
            <a:avLst/>
          </a:prstGeom>
          <a:noFill/>
          <a:ln w="0">
            <a:noFill/>
          </a:ln>
        </p:spPr>
        <p:txBody>
          <a:bodyPr lIns="0" tIns="0" rIns="0" bIns="0" anchor="ctr">
            <a:noAutofit/>
          </a:bodyPr>
          <a:lstStyle/>
          <a:p>
            <a:pPr defTabSz="658368">
              <a:defRPr sz="1650" b="0">
                <a:solidFill>
                  <a:srgbClr val="A38BC9"/>
                </a:solidFill>
                <a:latin typeface="Arial"/>
                <a:ea typeface="Arial"/>
                <a:cs typeface="Arial"/>
              </a:defRPr>
            </a:pPr>
            <a:r>
              <a:rPr lang="en-US" sz="1008" b="1" i="1" dirty="0">
                <a:solidFill>
                  <a:srgbClr val="7030A0"/>
                </a:solidFill>
                <a:latin typeface="Times New Roman" panose="02020603050405020304" pitchFamily="18" charset="0"/>
                <a:ea typeface="Arial"/>
                <a:cs typeface="Times New Roman" panose="02020603050405020304" pitchFamily="18" charset="0"/>
              </a:rPr>
              <a:t>A</a:t>
            </a:r>
            <a:r>
              <a:rPr sz="1008" b="1" i="1" dirty="0">
                <a:solidFill>
                  <a:srgbClr val="7030A0"/>
                </a:solidFill>
                <a:latin typeface="Times New Roman" panose="02020603050405020304" pitchFamily="18" charset="0"/>
                <a:ea typeface="Arial"/>
                <a:cs typeface="Times New Roman" panose="02020603050405020304" pitchFamily="18" charset="0"/>
              </a:rPr>
              <a:t>stra</a:t>
            </a:r>
            <a:r>
              <a:rPr lang="en-US" sz="1008" b="1" i="1" dirty="0">
                <a:solidFill>
                  <a:srgbClr val="7030A0"/>
                </a:solidFill>
                <a:latin typeface="Times New Roman" panose="02020603050405020304" pitchFamily="18" charset="0"/>
                <a:ea typeface="Arial"/>
                <a:cs typeface="Times New Roman" panose="02020603050405020304" pitchFamily="18" charset="0"/>
              </a:rPr>
              <a:t>-High</a:t>
            </a:r>
            <a:endParaRPr sz="1008" b="1" i="1" dirty="0">
              <a:solidFill>
                <a:srgbClr val="7030A0"/>
              </a:solidFill>
              <a:latin typeface="Times New Roman" panose="02020603050405020304" pitchFamily="18" charset="0"/>
              <a:ea typeface="Arial"/>
              <a:cs typeface="Times New Roman" panose="02020603050405020304" pitchFamily="18" charset="0"/>
            </a:endParaRPr>
          </a:p>
        </p:txBody>
      </p:sp>
      <p:pic>
        <p:nvPicPr>
          <p:cNvPr id="214" name="图片 114">
            <a:extLst>
              <a:ext uri="{FF2B5EF4-FFF2-40B4-BE49-F238E27FC236}">
                <a16:creationId xmlns:a16="http://schemas.microsoft.com/office/drawing/2014/main" id="{8A8DB46E-7891-F948-5A21-0645F6CE0AF7}"/>
              </a:ext>
            </a:extLst>
          </p:cNvPr>
          <p:cNvPicPr>
            <a:picLocks noChangeAspect="1"/>
          </p:cNvPicPr>
          <p:nvPr/>
        </p:nvPicPr>
        <p:blipFill>
          <a:blip r:embed="rId10"/>
          <a:stretch>
            <a:fillRect/>
          </a:stretch>
        </p:blipFill>
        <p:spPr>
          <a:xfrm>
            <a:off x="7767897" y="3024772"/>
            <a:ext cx="350767" cy="350767"/>
          </a:xfrm>
          <a:prstGeom prst="rect">
            <a:avLst/>
          </a:prstGeom>
        </p:spPr>
      </p:pic>
      <p:sp>
        <p:nvSpPr>
          <p:cNvPr id="215" name="矩形 33">
            <a:extLst>
              <a:ext uri="{FF2B5EF4-FFF2-40B4-BE49-F238E27FC236}">
                <a16:creationId xmlns:a16="http://schemas.microsoft.com/office/drawing/2014/main" id="{DF990D01-9D52-441C-BC65-4DF0056BE872}"/>
              </a:ext>
            </a:extLst>
          </p:cNvPr>
          <p:cNvSpPr>
            <a:spLocks noGrp="1"/>
          </p:cNvSpPr>
          <p:nvPr/>
        </p:nvSpPr>
        <p:spPr>
          <a:xfrm>
            <a:off x="7517153" y="2817505"/>
            <a:ext cx="1234440" cy="205740"/>
          </a:xfrm>
          <a:prstGeom prst="rect">
            <a:avLst/>
          </a:prstGeom>
          <a:noFill/>
          <a:ln w="0">
            <a:noFill/>
          </a:ln>
        </p:spPr>
        <p:txBody>
          <a:bodyPr lIns="0" tIns="0" rIns="0" bIns="0" anchor="ctr">
            <a:noAutofit/>
          </a:bodyPr>
          <a:lstStyle/>
          <a:p>
            <a:pPr defTabSz="658368">
              <a:defRPr sz="1650" b="1">
                <a:solidFill>
                  <a:srgbClr val="398CCD"/>
                </a:solidFill>
                <a:latin typeface="Arial"/>
                <a:ea typeface="Arial"/>
                <a:cs typeface="Arial"/>
              </a:defRPr>
            </a:pPr>
            <a:r>
              <a:rPr lang="en-US" sz="1440" b="1" i="1" dirty="0" err="1">
                <a:solidFill>
                  <a:srgbClr val="C00000"/>
                </a:solidFill>
                <a:latin typeface="Times New Roman" panose="02020603050405020304" pitchFamily="18" charset="0"/>
                <a:ea typeface="Arial"/>
                <a:cs typeface="Times New Roman" panose="02020603050405020304" pitchFamily="18" charset="0"/>
              </a:rPr>
              <a:t>Scene</a:t>
            </a:r>
            <a:r>
              <a:rPr lang="en-US" altLang="zh-CN" sz="1440" b="1" i="1" dirty="0" err="1">
                <a:solidFill>
                  <a:srgbClr val="C00000"/>
                </a:solidFill>
                <a:latin typeface="Times New Roman" panose="02020603050405020304" pitchFamily="18" charset="0"/>
                <a:ea typeface="Arial"/>
                <a:cs typeface="Times New Roman" panose="02020603050405020304" pitchFamily="18" charset="0"/>
              </a:rPr>
              <a:t>Evolve</a:t>
            </a:r>
            <a:endParaRPr sz="1440" b="1" i="1" dirty="0">
              <a:solidFill>
                <a:srgbClr val="C00000"/>
              </a:solidFill>
              <a:latin typeface="Times New Roman" panose="02020603050405020304" pitchFamily="18" charset="0"/>
              <a:ea typeface="Arial"/>
              <a:cs typeface="Times New Roman" panose="02020603050405020304" pitchFamily="18" charset="0"/>
            </a:endParaRPr>
          </a:p>
        </p:txBody>
      </p:sp>
      <p:sp>
        <p:nvSpPr>
          <p:cNvPr id="216" name="箭头: 燕尾形 1280">
            <a:extLst>
              <a:ext uri="{FF2B5EF4-FFF2-40B4-BE49-F238E27FC236}">
                <a16:creationId xmlns:a16="http://schemas.microsoft.com/office/drawing/2014/main" id="{C6C417A6-7EAA-7B7A-D2B9-AB60EA77C8A0}"/>
              </a:ext>
            </a:extLst>
          </p:cNvPr>
          <p:cNvSpPr/>
          <p:nvPr/>
        </p:nvSpPr>
        <p:spPr>
          <a:xfrm rot="15907000">
            <a:off x="7771332" y="3414842"/>
            <a:ext cx="395407" cy="259200"/>
          </a:xfrm>
          <a:prstGeom prst="notchedRightArrow">
            <a:avLst/>
          </a:prstGeom>
          <a:gradFill flip="none" rotWithShape="1">
            <a:gsLst>
              <a:gs pos="0">
                <a:schemeClr val="tx2">
                  <a:lumMod val="25000"/>
                  <a:lumOff val="75000"/>
                </a:schemeClr>
              </a:gs>
              <a:gs pos="100000">
                <a:srgbClr val="E24C4B"/>
              </a:gs>
            </a:gsLst>
            <a:lin ang="0" scaled="1"/>
            <a:tileRect/>
          </a:gradFill>
          <a:ln w="19050">
            <a:solidFill>
              <a:schemeClr val="bg2">
                <a:lumMod val="25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58368">
              <a:defRPr/>
            </a:pPr>
            <a:endParaRPr lang="zh-CN" altLang="en-US" sz="1152" dirty="0">
              <a:solidFill>
                <a:srgbClr val="FFFFFF"/>
              </a:solidFill>
              <a:latin typeface="Aptos"/>
            </a:endParaRPr>
          </a:p>
        </p:txBody>
      </p:sp>
      <p:pic>
        <p:nvPicPr>
          <p:cNvPr id="302" name="图片 301"/>
          <p:cNvPicPr>
            <a:picLocks noChangeAspect="1"/>
          </p:cNvPicPr>
          <p:nvPr/>
        </p:nvPicPr>
        <p:blipFill>
          <a:blip r:embed="rId11"/>
          <a:stretch/>
        </p:blipFill>
        <p:spPr>
          <a:xfrm>
            <a:off x="2884932" y="2912417"/>
            <a:ext cx="164592" cy="164592"/>
          </a:xfrm>
          <a:prstGeom prst="rect">
            <a:avLst/>
          </a:prstGeom>
        </p:spPr>
      </p:pic>
      <p:sp>
        <p:nvSpPr>
          <p:cNvPr id="303" name="Opus-None">
            <a:extLst>
              <a:ext uri="{FF2B5EF4-FFF2-40B4-BE49-F238E27FC236}">
                <a16:creationId xmlns:a16="http://schemas.microsoft.com/office/drawing/2014/main" id="{AF4B8C88-D867-4F73-B6FF-CAC0917C39E5}"/>
              </a:ext>
            </a:extLst>
          </p:cNvPr>
          <p:cNvSpPr>
            <a:spLocks noGrp="1"/>
          </p:cNvSpPr>
          <p:nvPr/>
        </p:nvSpPr>
        <p:spPr>
          <a:xfrm>
            <a:off x="2439960" y="2740731"/>
            <a:ext cx="891540" cy="157734"/>
          </a:xfrm>
          <a:prstGeom prst="rect">
            <a:avLst/>
          </a:prstGeom>
        </p:spPr>
        <p:txBody>
          <a:bodyPr wrap="none" lIns="0" tIns="0" rIns="0" bIns="0" anchor="ctr">
            <a:noAutofit/>
          </a:bodyPr>
          <a:lstStyle/>
          <a:p>
            <a:pPr>
              <a:defRPr sz="1200" b="1" i="1">
                <a:solidFill>
                  <a:srgbClr val="8995A2"/>
                </a:solidFill>
                <a:latin typeface="Times New Roman"/>
                <a:ea typeface="Times New Roman"/>
                <a:cs typeface="Times New Roman"/>
              </a:defRPr>
            </a:pPr>
            <a:r>
              <a:rPr sz="1008" b="1" i="1" dirty="0">
                <a:solidFill>
                  <a:srgbClr val="8995A2"/>
                </a:solidFill>
                <a:latin typeface="Times New Roman"/>
                <a:ea typeface="Times New Roman"/>
                <a:cs typeface="Times New Roman"/>
              </a:rPr>
              <a:t>Opus-None</a:t>
            </a:r>
          </a:p>
        </p:txBody>
      </p:sp>
      <p:pic>
        <p:nvPicPr>
          <p:cNvPr id="305" name="图片 304"/>
          <p:cNvPicPr>
            <a:picLocks noChangeAspect="1"/>
          </p:cNvPicPr>
          <p:nvPr/>
        </p:nvPicPr>
        <p:blipFill>
          <a:blip r:embed="rId12"/>
          <a:stretch/>
        </p:blipFill>
        <p:spPr>
          <a:xfrm>
            <a:off x="3437382" y="2817237"/>
            <a:ext cx="198882" cy="198882"/>
          </a:xfrm>
          <a:prstGeom prst="rect">
            <a:avLst/>
          </a:prstGeom>
        </p:spPr>
      </p:pic>
      <p:sp>
        <p:nvSpPr>
          <p:cNvPr id="306" name="Opus-Low">
            <a:extLst>
              <a:ext uri="{FF2B5EF4-FFF2-40B4-BE49-F238E27FC236}">
                <a16:creationId xmlns:a16="http://schemas.microsoft.com/office/drawing/2014/main" id="{08463072-3FA0-4987-BEC1-C6B3128D4B75}"/>
              </a:ext>
            </a:extLst>
          </p:cNvPr>
          <p:cNvSpPr>
            <a:spLocks noGrp="1"/>
          </p:cNvSpPr>
          <p:nvPr/>
        </p:nvSpPr>
        <p:spPr>
          <a:xfrm>
            <a:off x="3221405" y="2657121"/>
            <a:ext cx="891540" cy="157734"/>
          </a:xfrm>
          <a:prstGeom prst="rect">
            <a:avLst/>
          </a:prstGeom>
          <a:noFill/>
          <a:ln w="0">
            <a:noFill/>
          </a:ln>
        </p:spPr>
        <p:txBody>
          <a:bodyPr wrap="none" lIns="0" tIns="0" rIns="0" bIns="0" anchor="ctr">
            <a:noAutofit/>
          </a:bodyPr>
          <a:lstStyle/>
          <a:p>
            <a:pPr>
              <a:defRPr sz="1200" b="1" i="1">
                <a:solidFill>
                  <a:srgbClr val="E6BA96"/>
                </a:solidFill>
                <a:latin typeface="Times New Roman"/>
                <a:ea typeface="Times New Roman"/>
                <a:cs typeface="Times New Roman"/>
              </a:defRPr>
            </a:pPr>
            <a:r>
              <a:rPr sz="1008" b="1" i="1" dirty="0">
                <a:solidFill>
                  <a:srgbClr val="E6BA96"/>
                </a:solidFill>
                <a:latin typeface="Times New Roman"/>
                <a:ea typeface="Times New Roman"/>
                <a:cs typeface="Times New Roman"/>
              </a:rPr>
              <a:t>Opus-Low</a:t>
            </a:r>
          </a:p>
        </p:txBody>
      </p:sp>
      <p:pic>
        <p:nvPicPr>
          <p:cNvPr id="308" name="图片 307"/>
          <p:cNvPicPr>
            <a:picLocks noChangeAspect="1"/>
          </p:cNvPicPr>
          <p:nvPr/>
        </p:nvPicPr>
        <p:blipFill>
          <a:blip r:embed="rId13"/>
          <a:stretch/>
        </p:blipFill>
        <p:spPr>
          <a:xfrm>
            <a:off x="4011168" y="2702700"/>
            <a:ext cx="240030" cy="240030"/>
          </a:xfrm>
          <a:prstGeom prst="rect">
            <a:avLst/>
          </a:prstGeom>
        </p:spPr>
      </p:pic>
      <p:sp>
        <p:nvSpPr>
          <p:cNvPr id="309" name="Opus-Medium">
            <a:extLst>
              <a:ext uri="{FF2B5EF4-FFF2-40B4-BE49-F238E27FC236}">
                <a16:creationId xmlns:a16="http://schemas.microsoft.com/office/drawing/2014/main" id="{0EA3BE5F-F94B-4274-AD1A-0D61BF34AEBA}"/>
              </a:ext>
            </a:extLst>
          </p:cNvPr>
          <p:cNvSpPr>
            <a:spLocks noGrp="1"/>
          </p:cNvSpPr>
          <p:nvPr/>
        </p:nvSpPr>
        <p:spPr>
          <a:xfrm>
            <a:off x="3831073" y="2555813"/>
            <a:ext cx="1021842" cy="157734"/>
          </a:xfrm>
          <a:prstGeom prst="rect">
            <a:avLst/>
          </a:prstGeom>
          <a:noFill/>
          <a:ln w="0">
            <a:noFill/>
          </a:ln>
        </p:spPr>
        <p:txBody>
          <a:bodyPr wrap="none" lIns="0" tIns="0" rIns="0" bIns="0" anchor="ctr">
            <a:noAutofit/>
          </a:bodyPr>
          <a:lstStyle/>
          <a:p>
            <a:pPr>
              <a:defRPr sz="1200" b="1" i="1">
                <a:solidFill>
                  <a:srgbClr val="D89859"/>
                </a:solidFill>
                <a:latin typeface="Times New Roman"/>
                <a:ea typeface="Times New Roman"/>
                <a:cs typeface="Times New Roman"/>
              </a:defRPr>
            </a:pPr>
            <a:r>
              <a:rPr sz="1008" b="1" i="1" dirty="0">
                <a:solidFill>
                  <a:srgbClr val="D89859"/>
                </a:solidFill>
                <a:latin typeface="Times New Roman"/>
                <a:ea typeface="Times New Roman"/>
                <a:cs typeface="Times New Roman"/>
              </a:rPr>
              <a:t>Opus-Medium</a:t>
            </a:r>
          </a:p>
        </p:txBody>
      </p:sp>
      <p:pic>
        <p:nvPicPr>
          <p:cNvPr id="310" name="图片 309"/>
          <p:cNvPicPr>
            <a:picLocks noChangeAspect="1"/>
          </p:cNvPicPr>
          <p:nvPr/>
        </p:nvPicPr>
        <p:blipFill>
          <a:blip r:embed="rId14"/>
          <a:stretch/>
        </p:blipFill>
        <p:spPr>
          <a:xfrm>
            <a:off x="4634485" y="2664608"/>
            <a:ext cx="281178" cy="281178"/>
          </a:xfrm>
          <a:prstGeom prst="rect">
            <a:avLst/>
          </a:prstGeom>
        </p:spPr>
      </p:pic>
      <p:sp>
        <p:nvSpPr>
          <p:cNvPr id="311" name="Opus-High">
            <a:extLst>
              <a:ext uri="{FF2B5EF4-FFF2-40B4-BE49-F238E27FC236}">
                <a16:creationId xmlns:a16="http://schemas.microsoft.com/office/drawing/2014/main" id="{242915FC-8A9B-4547-8207-A019C5391A22}"/>
              </a:ext>
            </a:extLst>
          </p:cNvPr>
          <p:cNvSpPr>
            <a:spLocks noGrp="1"/>
          </p:cNvSpPr>
          <p:nvPr/>
        </p:nvSpPr>
        <p:spPr>
          <a:xfrm>
            <a:off x="4936998" y="2695194"/>
            <a:ext cx="891540" cy="157734"/>
          </a:xfrm>
          <a:prstGeom prst="rect">
            <a:avLst/>
          </a:prstGeom>
          <a:noFill/>
          <a:ln w="0">
            <a:noFill/>
          </a:ln>
        </p:spPr>
        <p:txBody>
          <a:bodyPr wrap="none" lIns="0" tIns="0" rIns="0" bIns="0" anchor="ctr">
            <a:noAutofit/>
          </a:bodyPr>
          <a:lstStyle/>
          <a:p>
            <a:pPr>
              <a:defRPr sz="1350" b="1" i="1">
                <a:solidFill>
                  <a:srgbClr val="AC5A24"/>
                </a:solidFill>
                <a:latin typeface="Times New Roman"/>
                <a:ea typeface="Times New Roman"/>
                <a:cs typeface="Times New Roman"/>
              </a:defRPr>
            </a:pPr>
            <a:r>
              <a:rPr sz="1008" b="1" i="1" dirty="0">
                <a:solidFill>
                  <a:srgbClr val="AC5A24"/>
                </a:solidFill>
                <a:latin typeface="Times New Roman"/>
                <a:ea typeface="Times New Roman"/>
                <a:cs typeface="Times New Roman"/>
              </a:rPr>
              <a:t>Opus-High</a:t>
            </a:r>
          </a:p>
        </p:txBody>
      </p:sp>
      <p:pic>
        <p:nvPicPr>
          <p:cNvPr id="313" name="图片 312"/>
          <p:cNvPicPr>
            <a:picLocks noChangeAspect="1"/>
          </p:cNvPicPr>
          <p:nvPr/>
        </p:nvPicPr>
        <p:blipFill>
          <a:blip r:embed="rId15"/>
          <a:stretch/>
        </p:blipFill>
        <p:spPr>
          <a:xfrm>
            <a:off x="1370838" y="3168579"/>
            <a:ext cx="171450" cy="171450"/>
          </a:xfrm>
          <a:prstGeom prst="rect">
            <a:avLst/>
          </a:prstGeom>
        </p:spPr>
      </p:pic>
      <p:sp>
        <p:nvSpPr>
          <p:cNvPr id="314" name="Gemini-Low">
            <a:extLst>
              <a:ext uri="{FF2B5EF4-FFF2-40B4-BE49-F238E27FC236}">
                <a16:creationId xmlns:a16="http://schemas.microsoft.com/office/drawing/2014/main" id="{D2B58056-B8F0-4EE0-BD79-9BD3C1C07BC1}"/>
              </a:ext>
            </a:extLst>
          </p:cNvPr>
          <p:cNvSpPr>
            <a:spLocks noGrp="1"/>
          </p:cNvSpPr>
          <p:nvPr/>
        </p:nvSpPr>
        <p:spPr>
          <a:xfrm>
            <a:off x="916509" y="3259836"/>
            <a:ext cx="891540" cy="157734"/>
          </a:xfrm>
          <a:prstGeom prst="rect">
            <a:avLst/>
          </a:prstGeom>
          <a:noFill/>
          <a:ln w="0">
            <a:noFill/>
          </a:ln>
        </p:spPr>
        <p:txBody>
          <a:bodyPr wrap="none" lIns="0" tIns="0" rIns="0" bIns="0" anchor="ctr">
            <a:noAutofit/>
          </a:bodyPr>
          <a:lstStyle/>
          <a:p>
            <a:pPr>
              <a:defRPr sz="1200" b="1" i="1">
                <a:solidFill>
                  <a:srgbClr val="A5B7E7"/>
                </a:solidFill>
                <a:latin typeface="Times New Roman"/>
                <a:ea typeface="Times New Roman"/>
                <a:cs typeface="Times New Roman"/>
              </a:defRPr>
            </a:pPr>
            <a:r>
              <a:rPr sz="1008" b="1" i="1" dirty="0">
                <a:solidFill>
                  <a:srgbClr val="43649C"/>
                </a:solidFill>
                <a:latin typeface="Times New Roman" panose="02020603050405020304" pitchFamily="18" charset="0"/>
                <a:cs typeface="Times New Roman" panose="02020603050405020304" pitchFamily="18" charset="0"/>
              </a:rPr>
              <a:t>Gemini-Low</a:t>
            </a:r>
          </a:p>
        </p:txBody>
      </p:sp>
      <p:pic>
        <p:nvPicPr>
          <p:cNvPr id="316" name="图片 315"/>
          <p:cNvPicPr>
            <a:picLocks noChangeAspect="1"/>
          </p:cNvPicPr>
          <p:nvPr/>
        </p:nvPicPr>
        <p:blipFill>
          <a:blip r:embed="rId16"/>
          <a:stretch/>
        </p:blipFill>
        <p:spPr>
          <a:xfrm>
            <a:off x="1597914" y="3085894"/>
            <a:ext cx="212598" cy="212598"/>
          </a:xfrm>
          <a:prstGeom prst="rect">
            <a:avLst/>
          </a:prstGeom>
        </p:spPr>
      </p:pic>
      <p:sp>
        <p:nvSpPr>
          <p:cNvPr id="317" name="Gemini-Medium">
            <a:extLst>
              <a:ext uri="{FF2B5EF4-FFF2-40B4-BE49-F238E27FC236}">
                <a16:creationId xmlns:a16="http://schemas.microsoft.com/office/drawing/2014/main" id="{1E16E01B-189A-427E-9969-82B0AFDF6660}"/>
              </a:ext>
            </a:extLst>
          </p:cNvPr>
          <p:cNvSpPr>
            <a:spLocks noGrp="1"/>
          </p:cNvSpPr>
          <p:nvPr/>
        </p:nvSpPr>
        <p:spPr>
          <a:xfrm>
            <a:off x="1529433" y="3417291"/>
            <a:ext cx="1021842" cy="157734"/>
          </a:xfrm>
          <a:prstGeom prst="rect">
            <a:avLst/>
          </a:prstGeom>
          <a:noFill/>
          <a:ln w="0">
            <a:noFill/>
          </a:ln>
        </p:spPr>
        <p:txBody>
          <a:bodyPr wrap="none" lIns="0" tIns="0" rIns="0" bIns="0" anchor="ctr">
            <a:noAutofit/>
          </a:bodyPr>
          <a:lstStyle/>
          <a:p>
            <a:pPr>
              <a:defRPr sz="1200" b="1" i="1">
                <a:solidFill>
                  <a:srgbClr val="A5B7E7"/>
                </a:solidFill>
                <a:latin typeface="Times New Roman"/>
                <a:ea typeface="Times New Roman"/>
                <a:cs typeface="Times New Roman"/>
              </a:defRPr>
            </a:pPr>
            <a:r>
              <a:rPr sz="1008" b="1" i="1" dirty="0">
                <a:solidFill>
                  <a:srgbClr val="43649C"/>
                </a:solidFill>
                <a:latin typeface="Times New Roman" panose="02020603050405020304" pitchFamily="18" charset="0"/>
                <a:cs typeface="Times New Roman" panose="02020603050405020304" pitchFamily="18" charset="0"/>
              </a:rPr>
              <a:t>Gemini-Medium</a:t>
            </a:r>
          </a:p>
        </p:txBody>
      </p:sp>
      <p:pic>
        <p:nvPicPr>
          <p:cNvPr id="318" name="图片 317"/>
          <p:cNvPicPr>
            <a:picLocks noChangeAspect="1"/>
          </p:cNvPicPr>
          <p:nvPr/>
        </p:nvPicPr>
        <p:blipFill>
          <a:blip r:embed="rId17"/>
          <a:stretch/>
        </p:blipFill>
        <p:spPr>
          <a:xfrm>
            <a:off x="1849756" y="3047802"/>
            <a:ext cx="253746" cy="253746"/>
          </a:xfrm>
          <a:prstGeom prst="rect">
            <a:avLst/>
          </a:prstGeom>
        </p:spPr>
      </p:pic>
      <p:sp>
        <p:nvSpPr>
          <p:cNvPr id="319" name="Gemini-High">
            <a:extLst>
              <a:ext uri="{FF2B5EF4-FFF2-40B4-BE49-F238E27FC236}">
                <a16:creationId xmlns:a16="http://schemas.microsoft.com/office/drawing/2014/main" id="{B8B7261A-971B-423E-8509-05ABDEE8BA20}"/>
              </a:ext>
            </a:extLst>
          </p:cNvPr>
          <p:cNvSpPr>
            <a:spLocks noGrp="1"/>
          </p:cNvSpPr>
          <p:nvPr/>
        </p:nvSpPr>
        <p:spPr>
          <a:xfrm>
            <a:off x="2054348" y="3217319"/>
            <a:ext cx="891540" cy="157734"/>
          </a:xfrm>
          <a:prstGeom prst="rect">
            <a:avLst/>
          </a:prstGeom>
          <a:noFill/>
          <a:ln w="0">
            <a:noFill/>
          </a:ln>
        </p:spPr>
        <p:txBody>
          <a:bodyPr wrap="none" lIns="0" tIns="0" rIns="0" bIns="0" anchor="ctr">
            <a:noAutofit/>
          </a:bodyPr>
          <a:lstStyle/>
          <a:p>
            <a:pPr>
              <a:defRPr sz="1350" b="1" i="1">
                <a:solidFill>
                  <a:srgbClr val="3D59A7"/>
                </a:solidFill>
                <a:latin typeface="Times New Roman"/>
                <a:ea typeface="Times New Roman"/>
                <a:cs typeface="Times New Roman"/>
              </a:defRPr>
            </a:pPr>
            <a:r>
              <a:rPr sz="1008" b="1" i="1" dirty="0">
                <a:solidFill>
                  <a:srgbClr val="43649C"/>
                </a:solidFill>
                <a:latin typeface="Times New Roman" panose="02020603050405020304" pitchFamily="18" charset="0"/>
                <a:cs typeface="Times New Roman" panose="02020603050405020304" pitchFamily="18" charset="0"/>
              </a:rPr>
              <a:t>Gemini-High</a:t>
            </a:r>
          </a:p>
        </p:txBody>
      </p:sp>
      <p:pic>
        <p:nvPicPr>
          <p:cNvPr id="321" name="图片 320"/>
          <p:cNvPicPr>
            <a:picLocks noChangeAspect="1"/>
          </p:cNvPicPr>
          <p:nvPr/>
        </p:nvPicPr>
        <p:blipFill>
          <a:blip r:embed="rId11"/>
          <a:stretch/>
        </p:blipFill>
        <p:spPr>
          <a:xfrm>
            <a:off x="9295257" y="2912417"/>
            <a:ext cx="164592" cy="164592"/>
          </a:xfrm>
          <a:prstGeom prst="rect">
            <a:avLst/>
          </a:prstGeom>
        </p:spPr>
      </p:pic>
      <p:sp>
        <p:nvSpPr>
          <p:cNvPr id="322" name="Opus-None">
            <a:extLst>
              <a:ext uri="{FF2B5EF4-FFF2-40B4-BE49-F238E27FC236}">
                <a16:creationId xmlns:a16="http://schemas.microsoft.com/office/drawing/2014/main" id="{ED71B54E-5DF0-481B-BB9F-D1156FFCC8E5}"/>
              </a:ext>
            </a:extLst>
          </p:cNvPr>
          <p:cNvSpPr>
            <a:spLocks noGrp="1"/>
          </p:cNvSpPr>
          <p:nvPr/>
        </p:nvSpPr>
        <p:spPr>
          <a:xfrm>
            <a:off x="9306687" y="3133700"/>
            <a:ext cx="891540" cy="157734"/>
          </a:xfrm>
          <a:prstGeom prst="rect">
            <a:avLst/>
          </a:prstGeom>
          <a:noFill/>
          <a:ln w="0">
            <a:noFill/>
          </a:ln>
        </p:spPr>
        <p:txBody>
          <a:bodyPr wrap="none" lIns="0" tIns="0" rIns="0" bIns="0" anchor="ctr">
            <a:noAutofit/>
          </a:bodyPr>
          <a:lstStyle/>
          <a:p>
            <a:pPr>
              <a:defRPr sz="1200" b="1" i="1">
                <a:solidFill>
                  <a:srgbClr val="8995A2"/>
                </a:solidFill>
                <a:latin typeface="Times New Roman"/>
                <a:ea typeface="Times New Roman"/>
                <a:cs typeface="Times New Roman"/>
              </a:defRPr>
            </a:pPr>
            <a:r>
              <a:rPr sz="1008" b="1" i="1" dirty="0">
                <a:solidFill>
                  <a:srgbClr val="8995A2"/>
                </a:solidFill>
                <a:latin typeface="Times New Roman"/>
                <a:ea typeface="Times New Roman"/>
                <a:cs typeface="Times New Roman"/>
              </a:rPr>
              <a:t>Opus-None</a:t>
            </a:r>
          </a:p>
        </p:txBody>
      </p:sp>
      <p:pic>
        <p:nvPicPr>
          <p:cNvPr id="324" name="图片 323"/>
          <p:cNvPicPr>
            <a:picLocks noChangeAspect="1"/>
          </p:cNvPicPr>
          <p:nvPr/>
        </p:nvPicPr>
        <p:blipFill>
          <a:blip r:embed="rId12"/>
          <a:stretch/>
        </p:blipFill>
        <p:spPr>
          <a:xfrm>
            <a:off x="9500998" y="2817237"/>
            <a:ext cx="198882" cy="198882"/>
          </a:xfrm>
          <a:prstGeom prst="rect">
            <a:avLst/>
          </a:prstGeom>
        </p:spPr>
      </p:pic>
      <p:sp>
        <p:nvSpPr>
          <p:cNvPr id="325" name="Opus-Low">
            <a:extLst>
              <a:ext uri="{FF2B5EF4-FFF2-40B4-BE49-F238E27FC236}">
                <a16:creationId xmlns:a16="http://schemas.microsoft.com/office/drawing/2014/main" id="{C9A04C36-E3E7-4AF0-B328-5A1DE2CE978E}"/>
              </a:ext>
            </a:extLst>
          </p:cNvPr>
          <p:cNvSpPr>
            <a:spLocks noGrp="1"/>
          </p:cNvSpPr>
          <p:nvPr/>
        </p:nvSpPr>
        <p:spPr>
          <a:xfrm>
            <a:off x="9550146" y="3005496"/>
            <a:ext cx="891540" cy="157734"/>
          </a:xfrm>
          <a:prstGeom prst="rect">
            <a:avLst/>
          </a:prstGeom>
          <a:noFill/>
          <a:ln w="0">
            <a:noFill/>
          </a:ln>
        </p:spPr>
        <p:txBody>
          <a:bodyPr wrap="none" lIns="0" tIns="0" rIns="0" bIns="0" anchor="ctr">
            <a:noAutofit/>
          </a:bodyPr>
          <a:lstStyle/>
          <a:p>
            <a:pPr>
              <a:defRPr sz="1200" b="1" i="1">
                <a:solidFill>
                  <a:srgbClr val="E6BA96"/>
                </a:solidFill>
                <a:latin typeface="Times New Roman"/>
                <a:ea typeface="Times New Roman"/>
                <a:cs typeface="Times New Roman"/>
              </a:defRPr>
            </a:pPr>
            <a:r>
              <a:rPr sz="1008" b="1" i="1" dirty="0">
                <a:solidFill>
                  <a:srgbClr val="E6BA96"/>
                </a:solidFill>
                <a:latin typeface="Times New Roman"/>
                <a:ea typeface="Times New Roman"/>
                <a:cs typeface="Times New Roman"/>
              </a:rPr>
              <a:t>Opus-Low</a:t>
            </a:r>
          </a:p>
        </p:txBody>
      </p:sp>
      <p:pic>
        <p:nvPicPr>
          <p:cNvPr id="327" name="图片 326"/>
          <p:cNvPicPr>
            <a:picLocks noChangeAspect="1"/>
          </p:cNvPicPr>
          <p:nvPr/>
        </p:nvPicPr>
        <p:blipFill>
          <a:blip r:embed="rId13"/>
          <a:stretch/>
        </p:blipFill>
        <p:spPr>
          <a:xfrm>
            <a:off x="9703308" y="2702700"/>
            <a:ext cx="240030" cy="240030"/>
          </a:xfrm>
          <a:prstGeom prst="rect">
            <a:avLst/>
          </a:prstGeom>
        </p:spPr>
      </p:pic>
      <p:sp>
        <p:nvSpPr>
          <p:cNvPr id="328" name="Opus-Medium">
            <a:extLst>
              <a:ext uri="{FF2B5EF4-FFF2-40B4-BE49-F238E27FC236}">
                <a16:creationId xmlns:a16="http://schemas.microsoft.com/office/drawing/2014/main" id="{D46DECC8-F552-4F48-A5EE-D5A0A461CFEF}"/>
              </a:ext>
            </a:extLst>
          </p:cNvPr>
          <p:cNvSpPr>
            <a:spLocks noGrp="1"/>
          </p:cNvSpPr>
          <p:nvPr/>
        </p:nvSpPr>
        <p:spPr>
          <a:xfrm>
            <a:off x="9950196" y="2879217"/>
            <a:ext cx="1021842" cy="157734"/>
          </a:xfrm>
          <a:prstGeom prst="rect">
            <a:avLst/>
          </a:prstGeom>
          <a:noFill/>
          <a:ln w="0">
            <a:noFill/>
          </a:ln>
        </p:spPr>
        <p:txBody>
          <a:bodyPr wrap="none" lIns="0" tIns="0" rIns="0" bIns="0" anchor="ctr">
            <a:noAutofit/>
          </a:bodyPr>
          <a:lstStyle/>
          <a:p>
            <a:pPr>
              <a:defRPr sz="1200" b="1" i="1">
                <a:solidFill>
                  <a:srgbClr val="D89859"/>
                </a:solidFill>
                <a:latin typeface="Times New Roman"/>
                <a:ea typeface="Times New Roman"/>
                <a:cs typeface="Times New Roman"/>
              </a:defRPr>
            </a:pPr>
            <a:r>
              <a:rPr sz="1008" b="1" i="1" dirty="0">
                <a:solidFill>
                  <a:srgbClr val="D89859"/>
                </a:solidFill>
                <a:latin typeface="Times New Roman"/>
                <a:ea typeface="Times New Roman"/>
                <a:cs typeface="Times New Roman"/>
              </a:rPr>
              <a:t>Opus-Medium</a:t>
            </a:r>
          </a:p>
        </p:txBody>
      </p:sp>
      <p:pic>
        <p:nvPicPr>
          <p:cNvPr id="330" name="图片 329"/>
          <p:cNvPicPr>
            <a:picLocks noChangeAspect="1"/>
          </p:cNvPicPr>
          <p:nvPr/>
        </p:nvPicPr>
        <p:blipFill>
          <a:blip r:embed="rId14"/>
          <a:stretch/>
        </p:blipFill>
        <p:spPr>
          <a:xfrm>
            <a:off x="9868472" y="2664608"/>
            <a:ext cx="281178" cy="281178"/>
          </a:xfrm>
          <a:prstGeom prst="rect">
            <a:avLst/>
          </a:prstGeom>
        </p:spPr>
      </p:pic>
      <p:sp>
        <p:nvSpPr>
          <p:cNvPr id="331" name="Opus-High">
            <a:extLst>
              <a:ext uri="{FF2B5EF4-FFF2-40B4-BE49-F238E27FC236}">
                <a16:creationId xmlns:a16="http://schemas.microsoft.com/office/drawing/2014/main" id="{C3387148-3335-43CE-81E7-60229CE0A57C}"/>
              </a:ext>
            </a:extLst>
          </p:cNvPr>
          <p:cNvSpPr>
            <a:spLocks noGrp="1"/>
          </p:cNvSpPr>
          <p:nvPr/>
        </p:nvSpPr>
        <p:spPr>
          <a:xfrm>
            <a:off x="10198227" y="2708910"/>
            <a:ext cx="891540" cy="157734"/>
          </a:xfrm>
          <a:prstGeom prst="rect">
            <a:avLst/>
          </a:prstGeom>
          <a:noFill/>
          <a:ln w="0">
            <a:noFill/>
          </a:ln>
        </p:spPr>
        <p:txBody>
          <a:bodyPr wrap="none" lIns="0" tIns="0" rIns="0" bIns="0" anchor="ctr">
            <a:noAutofit/>
          </a:bodyPr>
          <a:lstStyle/>
          <a:p>
            <a:pPr>
              <a:defRPr sz="1350" b="1" i="1">
                <a:solidFill>
                  <a:srgbClr val="AC5A24"/>
                </a:solidFill>
                <a:latin typeface="Times New Roman"/>
                <a:ea typeface="Times New Roman"/>
                <a:cs typeface="Times New Roman"/>
              </a:defRPr>
            </a:pPr>
            <a:r>
              <a:rPr sz="1008" b="1" i="1" dirty="0">
                <a:solidFill>
                  <a:srgbClr val="AC5A24"/>
                </a:solidFill>
                <a:latin typeface="Times New Roman"/>
                <a:ea typeface="Times New Roman"/>
                <a:cs typeface="Times New Roman"/>
              </a:rPr>
              <a:t>Opus-High</a:t>
            </a:r>
          </a:p>
        </p:txBody>
      </p:sp>
      <p:pic>
        <p:nvPicPr>
          <p:cNvPr id="333" name="图片 332"/>
          <p:cNvPicPr>
            <a:picLocks noChangeAspect="1"/>
          </p:cNvPicPr>
          <p:nvPr/>
        </p:nvPicPr>
        <p:blipFill>
          <a:blip r:embed="rId15"/>
          <a:stretch/>
        </p:blipFill>
        <p:spPr>
          <a:xfrm>
            <a:off x="7025831" y="3168579"/>
            <a:ext cx="171450" cy="171450"/>
          </a:xfrm>
          <a:prstGeom prst="rect">
            <a:avLst/>
          </a:prstGeom>
        </p:spPr>
      </p:pic>
      <p:sp>
        <p:nvSpPr>
          <p:cNvPr id="334" name="Gemini-Low">
            <a:extLst>
              <a:ext uri="{FF2B5EF4-FFF2-40B4-BE49-F238E27FC236}">
                <a16:creationId xmlns:a16="http://schemas.microsoft.com/office/drawing/2014/main" id="{98013635-E728-4A82-8D2E-AF36D27AA766}"/>
              </a:ext>
            </a:extLst>
          </p:cNvPr>
          <p:cNvSpPr>
            <a:spLocks noGrp="1"/>
          </p:cNvSpPr>
          <p:nvPr/>
        </p:nvSpPr>
        <p:spPr>
          <a:xfrm>
            <a:off x="6547624" y="3031507"/>
            <a:ext cx="891540" cy="157734"/>
          </a:xfrm>
          <a:prstGeom prst="rect">
            <a:avLst/>
          </a:prstGeom>
          <a:noFill/>
          <a:ln w="0">
            <a:noFill/>
          </a:ln>
        </p:spPr>
        <p:txBody>
          <a:bodyPr wrap="none" lIns="0" tIns="0" rIns="0" bIns="0" anchor="ctr">
            <a:noAutofit/>
          </a:bodyPr>
          <a:lstStyle/>
          <a:p>
            <a:pPr>
              <a:defRPr sz="1200" b="1" i="1">
                <a:solidFill>
                  <a:srgbClr val="A5B7E7"/>
                </a:solidFill>
                <a:latin typeface="Times New Roman"/>
                <a:ea typeface="Times New Roman"/>
                <a:cs typeface="Times New Roman"/>
              </a:defRPr>
            </a:pPr>
            <a:r>
              <a:rPr sz="1008" b="1" i="1" dirty="0">
                <a:solidFill>
                  <a:srgbClr val="A5B7E7"/>
                </a:solidFill>
                <a:latin typeface="Times New Roman"/>
                <a:ea typeface="Times New Roman"/>
                <a:cs typeface="Times New Roman"/>
              </a:rPr>
              <a:t>Gemini-Low</a:t>
            </a:r>
          </a:p>
        </p:txBody>
      </p:sp>
      <p:pic>
        <p:nvPicPr>
          <p:cNvPr id="336" name="图片 335"/>
          <p:cNvPicPr>
            <a:picLocks noChangeAspect="1"/>
          </p:cNvPicPr>
          <p:nvPr/>
        </p:nvPicPr>
        <p:blipFill>
          <a:blip r:embed="rId16"/>
          <a:stretch/>
        </p:blipFill>
        <p:spPr>
          <a:xfrm>
            <a:off x="7228142" y="3085894"/>
            <a:ext cx="212598" cy="212598"/>
          </a:xfrm>
          <a:prstGeom prst="rect">
            <a:avLst/>
          </a:prstGeom>
        </p:spPr>
      </p:pic>
      <p:sp>
        <p:nvSpPr>
          <p:cNvPr id="337" name="Gemini-Medium">
            <a:extLst>
              <a:ext uri="{FF2B5EF4-FFF2-40B4-BE49-F238E27FC236}">
                <a16:creationId xmlns:a16="http://schemas.microsoft.com/office/drawing/2014/main" id="{D3125241-532A-4D09-AE2A-B1C8A0729750}"/>
              </a:ext>
            </a:extLst>
          </p:cNvPr>
          <p:cNvSpPr>
            <a:spLocks noGrp="1"/>
          </p:cNvSpPr>
          <p:nvPr/>
        </p:nvSpPr>
        <p:spPr>
          <a:xfrm>
            <a:off x="6937597" y="3318198"/>
            <a:ext cx="1021842" cy="157734"/>
          </a:xfrm>
          <a:prstGeom prst="rect">
            <a:avLst/>
          </a:prstGeom>
          <a:noFill/>
          <a:ln w="0">
            <a:noFill/>
          </a:ln>
        </p:spPr>
        <p:txBody>
          <a:bodyPr wrap="none" lIns="0" tIns="0" rIns="0" bIns="0" anchor="ctr">
            <a:noAutofit/>
          </a:bodyPr>
          <a:lstStyle/>
          <a:p>
            <a:pPr>
              <a:defRPr sz="1200" b="1" i="1">
                <a:solidFill>
                  <a:srgbClr val="708ECF"/>
                </a:solidFill>
                <a:latin typeface="Times New Roman"/>
                <a:ea typeface="Times New Roman"/>
                <a:cs typeface="Times New Roman"/>
              </a:defRPr>
            </a:pPr>
            <a:r>
              <a:rPr sz="1008" b="1" i="1" dirty="0">
                <a:solidFill>
                  <a:srgbClr val="708ECF"/>
                </a:solidFill>
                <a:latin typeface="Times New Roman"/>
                <a:ea typeface="Times New Roman"/>
                <a:cs typeface="Times New Roman"/>
              </a:rPr>
              <a:t>Gemini-Medium</a:t>
            </a:r>
          </a:p>
        </p:txBody>
      </p:sp>
      <p:pic>
        <p:nvPicPr>
          <p:cNvPr id="339" name="图片 338"/>
          <p:cNvPicPr>
            <a:picLocks noChangeAspect="1"/>
          </p:cNvPicPr>
          <p:nvPr/>
        </p:nvPicPr>
        <p:blipFill>
          <a:blip r:embed="rId17"/>
          <a:stretch/>
        </p:blipFill>
        <p:spPr>
          <a:xfrm>
            <a:off x="7430453" y="3047802"/>
            <a:ext cx="253746" cy="253746"/>
          </a:xfrm>
          <a:prstGeom prst="rect">
            <a:avLst/>
          </a:prstGeom>
        </p:spPr>
      </p:pic>
      <p:sp>
        <p:nvSpPr>
          <p:cNvPr id="340" name="Gemini-High">
            <a:extLst>
              <a:ext uri="{FF2B5EF4-FFF2-40B4-BE49-F238E27FC236}">
                <a16:creationId xmlns:a16="http://schemas.microsoft.com/office/drawing/2014/main" id="{71ADE9C5-49BC-4836-973A-F607B2A67C83}"/>
              </a:ext>
            </a:extLst>
          </p:cNvPr>
          <p:cNvSpPr>
            <a:spLocks noGrp="1"/>
          </p:cNvSpPr>
          <p:nvPr/>
        </p:nvSpPr>
        <p:spPr>
          <a:xfrm>
            <a:off x="7137312" y="2696114"/>
            <a:ext cx="891540" cy="157734"/>
          </a:xfrm>
          <a:prstGeom prst="rect">
            <a:avLst/>
          </a:prstGeom>
          <a:noFill/>
          <a:ln w="0">
            <a:noFill/>
          </a:ln>
        </p:spPr>
        <p:txBody>
          <a:bodyPr wrap="none" lIns="0" tIns="0" rIns="0" bIns="0" anchor="ctr">
            <a:noAutofit/>
          </a:bodyPr>
          <a:lstStyle/>
          <a:p>
            <a:pPr>
              <a:defRPr sz="1350" b="1" i="1">
                <a:solidFill>
                  <a:srgbClr val="3D59A7"/>
                </a:solidFill>
                <a:latin typeface="Times New Roman"/>
                <a:ea typeface="Times New Roman"/>
                <a:cs typeface="Times New Roman"/>
              </a:defRPr>
            </a:pPr>
            <a:r>
              <a:rPr sz="1008" b="1" i="1" dirty="0">
                <a:solidFill>
                  <a:srgbClr val="3D59A7"/>
                </a:solidFill>
                <a:latin typeface="Times New Roman"/>
                <a:ea typeface="Times New Roman"/>
                <a:cs typeface="Times New Roman"/>
              </a:rPr>
              <a:t>Gemini-High</a:t>
            </a:r>
          </a:p>
        </p:txBody>
      </p:sp>
      <p:sp>
        <p:nvSpPr>
          <p:cNvPr id="341" name="Opus / Gemini time and cost are estimates. Similarity: mean DINOv2-S across three datasets.">
            <a:extLst>
              <a:ext uri="{FF2B5EF4-FFF2-40B4-BE49-F238E27FC236}">
                <a16:creationId xmlns:a16="http://schemas.microsoft.com/office/drawing/2014/main" id="{BDD6AC0E-2C9D-483D-928C-722A5D3FF1B7}"/>
              </a:ext>
            </a:extLst>
          </p:cNvPr>
          <p:cNvSpPr>
            <a:spLocks noGrp="1"/>
          </p:cNvSpPr>
          <p:nvPr/>
        </p:nvSpPr>
        <p:spPr>
          <a:xfrm>
            <a:off x="815340" y="5637276"/>
            <a:ext cx="10287000" cy="192024"/>
          </a:xfrm>
          <a:prstGeom prst="rect">
            <a:avLst/>
          </a:prstGeom>
          <a:noFill/>
          <a:ln w="0">
            <a:noFill/>
          </a:ln>
        </p:spPr>
        <p:txBody>
          <a:bodyPr wrap="none" lIns="0" tIns="0" rIns="0" bIns="0" anchor="ctr">
            <a:noAutofit/>
          </a:bodyPr>
          <a:lstStyle/>
          <a:p>
            <a:pPr>
              <a:defRPr sz="1275" b="1" i="1">
                <a:solidFill>
                  <a:srgbClr val="73808D"/>
                </a:solidFill>
                <a:latin typeface="Times New Roman"/>
                <a:ea typeface="Times New Roman"/>
                <a:cs typeface="Times New Roman"/>
              </a:defRPr>
            </a:pPr>
            <a:r>
              <a:rPr sz="1008" b="1" i="1">
                <a:solidFill>
                  <a:srgbClr val="73808D"/>
                </a:solidFill>
                <a:latin typeface="Times New Roman"/>
                <a:ea typeface="Times New Roman"/>
                <a:cs typeface="Times New Roman"/>
              </a:rPr>
              <a:t>Opus / Gemini time and cost are estimates. Similarity: mean DINOv2-S across three datasets.</a:t>
            </a:r>
          </a:p>
        </p:txBody>
      </p:sp>
    </p:spTree>
    <p:extLst>
      <p:ext uri="{BB962C8B-B14F-4D97-AF65-F5344CB8AC3E}">
        <p14:creationId xmlns:p14="http://schemas.microsoft.com/office/powerpoint/2010/main" val="1631120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ceneEvolve">
            <a:extLst>
              <a:ext uri="{FF2B5EF4-FFF2-40B4-BE49-F238E27FC236}">
                <a16:creationId xmlns:a16="http://schemas.microsoft.com/office/drawing/2014/main" id="{8C235D7D-E0FF-49C7-9118-8D802CA62B2B}"/>
              </a:ext>
            </a:extLst>
          </p:cNvPr>
          <p:cNvSpPr>
            <a:spLocks noGrp="1"/>
          </p:cNvSpPr>
          <p:nvPr/>
        </p:nvSpPr>
        <p:spPr>
          <a:xfrm>
            <a:off x="303321" y="113190"/>
            <a:ext cx="2729883" cy="479394"/>
          </a:xfrm>
          <a:prstGeom prst="rect">
            <a:avLst/>
          </a:prstGeom>
          <a:noFill/>
          <a:ln w="0">
            <a:noFill/>
          </a:ln>
        </p:spPr>
        <p:txBody>
          <a:bodyPr wrap="none" lIns="0" tIns="0" rIns="0" bIns="0" anchor="ctr">
            <a:noAutofit/>
          </a:bodyPr>
          <a:lstStyle/>
          <a:p>
            <a:pPr algn="l">
              <a:defRPr sz="4875" b="1" i="1">
                <a:solidFill>
                  <a:srgbClr val="137F78"/>
                </a:solidFill>
                <a:latin typeface="Times New Roman"/>
                <a:ea typeface="Times New Roman"/>
                <a:cs typeface="Times New Roman"/>
              </a:defRPr>
            </a:pPr>
            <a:r>
              <a:rPr sz="3775" b="1" i="1">
                <a:solidFill>
                  <a:srgbClr val="137F78"/>
                </a:solidFill>
                <a:latin typeface="Times New Roman"/>
                <a:ea typeface="Times New Roman"/>
                <a:cs typeface="Times New Roman"/>
              </a:rPr>
              <a:t>SceneEvolve</a:t>
            </a:r>
          </a:p>
        </p:txBody>
      </p:sp>
      <p:sp>
        <p:nvSpPr>
          <p:cNvPr id="2" name="Single-image 3D reconstruction with an evolved harness">
            <a:extLst>
              <a:ext uri="{FF2B5EF4-FFF2-40B4-BE49-F238E27FC236}">
                <a16:creationId xmlns:a16="http://schemas.microsoft.com/office/drawing/2014/main" id="{B8417285-CB51-43E5-BDF1-832C66DD503D}"/>
              </a:ext>
            </a:extLst>
          </p:cNvPr>
          <p:cNvSpPr>
            <a:spLocks noGrp="1"/>
          </p:cNvSpPr>
          <p:nvPr/>
        </p:nvSpPr>
        <p:spPr>
          <a:xfrm>
            <a:off x="3193003" y="193089"/>
            <a:ext cx="8689019" cy="359546"/>
          </a:xfrm>
          <a:prstGeom prst="rect">
            <a:avLst/>
          </a:prstGeom>
          <a:noFill/>
          <a:ln w="0">
            <a:noFill/>
          </a:ln>
        </p:spPr>
        <p:txBody>
          <a:bodyPr wrap="none" lIns="0" tIns="0" rIns="0" bIns="0" anchor="ctr">
            <a:noAutofit/>
          </a:bodyPr>
          <a:lstStyle/>
          <a:p>
            <a:pPr algn="l">
              <a:defRPr sz="2775" b="0" i="0">
                <a:solidFill>
                  <a:srgbClr val="183D43"/>
                </a:solidFill>
                <a:latin typeface="Times New Roman"/>
                <a:ea typeface="Times New Roman"/>
                <a:cs typeface="Times New Roman"/>
              </a:defRPr>
            </a:pPr>
            <a:r>
              <a:rPr sz="1957">
                <a:solidFill>
                  <a:srgbClr val="183D43"/>
                </a:solidFill>
                <a:latin typeface="Times New Roman"/>
                <a:ea typeface="Times New Roman"/>
                <a:cs typeface="Times New Roman"/>
              </a:rPr>
              <a:t>Single-image 3D reconstruction with an evolved harness</a:t>
            </a:r>
          </a:p>
        </p:txBody>
      </p:sp>
      <p:sp>
        <p:nvSpPr>
          <p:cNvPr id="3" name="Reference">
            <a:extLst>
              <a:ext uri="{FF2B5EF4-FFF2-40B4-BE49-F238E27FC236}">
                <a16:creationId xmlns:a16="http://schemas.microsoft.com/office/drawing/2014/main" id="{E9BFC532-963E-43B9-8C39-53613DE82F91}"/>
              </a:ext>
            </a:extLst>
          </p:cNvPr>
          <p:cNvSpPr>
            <a:spLocks noGrp="1"/>
          </p:cNvSpPr>
          <p:nvPr/>
        </p:nvSpPr>
        <p:spPr>
          <a:xfrm>
            <a:off x="303320" y="619218"/>
            <a:ext cx="1850994" cy="233039"/>
          </a:xfrm>
          <a:prstGeom prst="rect">
            <a:avLst/>
          </a:prstGeom>
          <a:noFill/>
          <a:ln w="0">
            <a:noFill/>
          </a:ln>
        </p:spPr>
        <p:txBody>
          <a:bodyPr wrap="none" lIns="0" tIns="0" rIns="0" bIns="0" anchor="ctr">
            <a:noAutofit/>
          </a:bodyPr>
          <a:lstStyle/>
          <a:p>
            <a:pPr algn="ctr">
              <a:defRPr sz="2100" b="1" i="0">
                <a:solidFill>
                  <a:srgbClr val="576570"/>
                </a:solidFill>
                <a:latin typeface="Times New Roman"/>
                <a:ea typeface="Times New Roman"/>
                <a:cs typeface="Times New Roman"/>
              </a:defRPr>
            </a:pPr>
            <a:r>
              <a:rPr sz="1678" b="1">
                <a:solidFill>
                  <a:srgbClr val="576570"/>
                </a:solidFill>
                <a:latin typeface="Times New Roman"/>
                <a:ea typeface="Times New Roman"/>
                <a:cs typeface="Times New Roman"/>
              </a:rPr>
              <a:t>Reference</a:t>
            </a:r>
          </a:p>
        </p:txBody>
      </p:sp>
      <p:sp>
        <p:nvSpPr>
          <p:cNvPr id="4" name="SceneEvolve">
            <a:extLst>
              <a:ext uri="{FF2B5EF4-FFF2-40B4-BE49-F238E27FC236}">
                <a16:creationId xmlns:a16="http://schemas.microsoft.com/office/drawing/2014/main" id="{D7B56872-0149-4D91-AC29-997EE587A9BA}"/>
              </a:ext>
            </a:extLst>
          </p:cNvPr>
          <p:cNvSpPr>
            <a:spLocks noGrp="1"/>
          </p:cNvSpPr>
          <p:nvPr/>
        </p:nvSpPr>
        <p:spPr>
          <a:xfrm>
            <a:off x="2207581" y="619218"/>
            <a:ext cx="1850994" cy="233039"/>
          </a:xfrm>
          <a:prstGeom prst="rect">
            <a:avLst/>
          </a:prstGeom>
          <a:noFill/>
          <a:ln w="0">
            <a:noFill/>
          </a:ln>
        </p:spPr>
        <p:txBody>
          <a:bodyPr wrap="none" lIns="0" tIns="0" rIns="0" bIns="0" anchor="ctr">
            <a:noAutofit/>
          </a:bodyPr>
          <a:lstStyle/>
          <a:p>
            <a:pPr algn="ctr">
              <a:defRPr sz="2100" b="1" i="0">
                <a:solidFill>
                  <a:srgbClr val="137F78"/>
                </a:solidFill>
                <a:latin typeface="Times New Roman"/>
                <a:ea typeface="Times New Roman"/>
                <a:cs typeface="Times New Roman"/>
              </a:defRPr>
            </a:pPr>
            <a:r>
              <a:rPr sz="1678" b="1">
                <a:solidFill>
                  <a:srgbClr val="137F78"/>
                </a:solidFill>
                <a:latin typeface="Times New Roman"/>
                <a:ea typeface="Times New Roman"/>
                <a:cs typeface="Times New Roman"/>
              </a:rPr>
              <a:t>SceneEvolve</a:t>
            </a:r>
          </a:p>
        </p:txBody>
      </p:sp>
      <p:sp>
        <p:nvSpPr>
          <p:cNvPr id="5" name="Reference">
            <a:extLst>
              <a:ext uri="{FF2B5EF4-FFF2-40B4-BE49-F238E27FC236}">
                <a16:creationId xmlns:a16="http://schemas.microsoft.com/office/drawing/2014/main" id="{6C642FCC-A4CB-43BF-BA82-751F57167A28}"/>
              </a:ext>
            </a:extLst>
          </p:cNvPr>
          <p:cNvSpPr>
            <a:spLocks noGrp="1"/>
          </p:cNvSpPr>
          <p:nvPr/>
        </p:nvSpPr>
        <p:spPr>
          <a:xfrm>
            <a:off x="4218373" y="619218"/>
            <a:ext cx="1850994" cy="233039"/>
          </a:xfrm>
          <a:prstGeom prst="rect">
            <a:avLst/>
          </a:prstGeom>
          <a:noFill/>
          <a:ln w="0">
            <a:noFill/>
          </a:ln>
        </p:spPr>
        <p:txBody>
          <a:bodyPr wrap="none" lIns="0" tIns="0" rIns="0" bIns="0" anchor="ctr">
            <a:noAutofit/>
          </a:bodyPr>
          <a:lstStyle/>
          <a:p>
            <a:pPr algn="ctr">
              <a:defRPr sz="2100" b="1" i="0">
                <a:solidFill>
                  <a:srgbClr val="576570"/>
                </a:solidFill>
                <a:latin typeface="Times New Roman"/>
                <a:ea typeface="Times New Roman"/>
                <a:cs typeface="Times New Roman"/>
              </a:defRPr>
            </a:pPr>
            <a:r>
              <a:rPr sz="1678" b="1">
                <a:solidFill>
                  <a:srgbClr val="576570"/>
                </a:solidFill>
                <a:latin typeface="Times New Roman"/>
                <a:ea typeface="Times New Roman"/>
                <a:cs typeface="Times New Roman"/>
              </a:rPr>
              <a:t>Reference</a:t>
            </a:r>
          </a:p>
        </p:txBody>
      </p:sp>
      <p:sp>
        <p:nvSpPr>
          <p:cNvPr id="6" name="SceneEvolve">
            <a:extLst>
              <a:ext uri="{FF2B5EF4-FFF2-40B4-BE49-F238E27FC236}">
                <a16:creationId xmlns:a16="http://schemas.microsoft.com/office/drawing/2014/main" id="{FA02E9E0-D9AA-49CA-B16F-78A05600B3E5}"/>
              </a:ext>
            </a:extLst>
          </p:cNvPr>
          <p:cNvSpPr>
            <a:spLocks noGrp="1"/>
          </p:cNvSpPr>
          <p:nvPr/>
        </p:nvSpPr>
        <p:spPr>
          <a:xfrm>
            <a:off x="6122633" y="619218"/>
            <a:ext cx="1850994" cy="233039"/>
          </a:xfrm>
          <a:prstGeom prst="rect">
            <a:avLst/>
          </a:prstGeom>
          <a:noFill/>
          <a:ln w="0">
            <a:noFill/>
          </a:ln>
        </p:spPr>
        <p:txBody>
          <a:bodyPr wrap="none" lIns="0" tIns="0" rIns="0" bIns="0" anchor="ctr">
            <a:noAutofit/>
          </a:bodyPr>
          <a:lstStyle/>
          <a:p>
            <a:pPr algn="ctr">
              <a:defRPr sz="2100" b="1" i="0">
                <a:solidFill>
                  <a:srgbClr val="137F78"/>
                </a:solidFill>
                <a:latin typeface="Times New Roman"/>
                <a:ea typeface="Times New Roman"/>
                <a:cs typeface="Times New Roman"/>
              </a:defRPr>
            </a:pPr>
            <a:r>
              <a:rPr sz="1678" b="1">
                <a:solidFill>
                  <a:srgbClr val="137F78"/>
                </a:solidFill>
                <a:latin typeface="Times New Roman"/>
                <a:ea typeface="Times New Roman"/>
                <a:cs typeface="Times New Roman"/>
              </a:rPr>
              <a:t>SceneEvolve</a:t>
            </a:r>
          </a:p>
        </p:txBody>
      </p:sp>
      <p:sp>
        <p:nvSpPr>
          <p:cNvPr id="7" name="Reference">
            <a:extLst>
              <a:ext uri="{FF2B5EF4-FFF2-40B4-BE49-F238E27FC236}">
                <a16:creationId xmlns:a16="http://schemas.microsoft.com/office/drawing/2014/main" id="{E9EF08C9-49F3-46EA-A95F-3B7D9BAE312A}"/>
              </a:ext>
            </a:extLst>
          </p:cNvPr>
          <p:cNvSpPr>
            <a:spLocks noGrp="1"/>
          </p:cNvSpPr>
          <p:nvPr/>
        </p:nvSpPr>
        <p:spPr>
          <a:xfrm>
            <a:off x="8133425" y="619218"/>
            <a:ext cx="1850994" cy="233039"/>
          </a:xfrm>
          <a:prstGeom prst="rect">
            <a:avLst/>
          </a:prstGeom>
          <a:noFill/>
          <a:ln w="0">
            <a:noFill/>
          </a:ln>
        </p:spPr>
        <p:txBody>
          <a:bodyPr wrap="none" lIns="0" tIns="0" rIns="0" bIns="0" anchor="ctr">
            <a:noAutofit/>
          </a:bodyPr>
          <a:lstStyle/>
          <a:p>
            <a:pPr algn="ctr">
              <a:defRPr sz="2100" b="1" i="0">
                <a:solidFill>
                  <a:srgbClr val="576570"/>
                </a:solidFill>
                <a:latin typeface="Times New Roman"/>
                <a:ea typeface="Times New Roman"/>
                <a:cs typeface="Times New Roman"/>
              </a:defRPr>
            </a:pPr>
            <a:r>
              <a:rPr sz="1678" b="1">
                <a:solidFill>
                  <a:srgbClr val="576570"/>
                </a:solidFill>
                <a:latin typeface="Times New Roman"/>
                <a:ea typeface="Times New Roman"/>
                <a:cs typeface="Times New Roman"/>
              </a:rPr>
              <a:t>Reference</a:t>
            </a:r>
          </a:p>
        </p:txBody>
      </p:sp>
      <p:sp>
        <p:nvSpPr>
          <p:cNvPr id="8" name="SceneEvolve">
            <a:extLst>
              <a:ext uri="{FF2B5EF4-FFF2-40B4-BE49-F238E27FC236}">
                <a16:creationId xmlns:a16="http://schemas.microsoft.com/office/drawing/2014/main" id="{BDE5DDAF-E9FD-42A3-825C-F285F0F59C6E}"/>
              </a:ext>
            </a:extLst>
          </p:cNvPr>
          <p:cNvSpPr>
            <a:spLocks noGrp="1"/>
          </p:cNvSpPr>
          <p:nvPr/>
        </p:nvSpPr>
        <p:spPr>
          <a:xfrm>
            <a:off x="10037686" y="619218"/>
            <a:ext cx="1850994" cy="233039"/>
          </a:xfrm>
          <a:prstGeom prst="rect">
            <a:avLst/>
          </a:prstGeom>
          <a:noFill/>
          <a:ln w="0">
            <a:noFill/>
          </a:ln>
        </p:spPr>
        <p:txBody>
          <a:bodyPr wrap="none" lIns="0" tIns="0" rIns="0" bIns="0" anchor="ctr">
            <a:noAutofit/>
          </a:bodyPr>
          <a:lstStyle/>
          <a:p>
            <a:pPr algn="ctr">
              <a:defRPr sz="2100" b="1" i="0">
                <a:solidFill>
                  <a:srgbClr val="137F78"/>
                </a:solidFill>
                <a:latin typeface="Times New Roman"/>
                <a:ea typeface="Times New Roman"/>
                <a:cs typeface="Times New Roman"/>
              </a:defRPr>
            </a:pPr>
            <a:r>
              <a:rPr sz="1678" b="1">
                <a:solidFill>
                  <a:srgbClr val="137F78"/>
                </a:solidFill>
                <a:latin typeface="Times New Roman"/>
                <a:ea typeface="Times New Roman"/>
                <a:cs typeface="Times New Roman"/>
              </a:rPr>
              <a:t>SceneEvolve</a:t>
            </a:r>
          </a:p>
        </p:txBody>
      </p:sp>
      <p:pic>
        <p:nvPicPr>
          <p:cNvPr id="39" name="图片 38"/>
          <p:cNvPicPr>
            <a:picLocks noChangeAspect="1"/>
          </p:cNvPicPr>
          <p:nvPr/>
        </p:nvPicPr>
        <p:blipFill>
          <a:blip r:embed="rId3"/>
          <a:stretch/>
        </p:blipFill>
        <p:spPr>
          <a:xfrm>
            <a:off x="303320" y="892206"/>
            <a:ext cx="1850994" cy="1388246"/>
          </a:xfrm>
          <a:prstGeom prst="rect">
            <a:avLst/>
          </a:prstGeom>
        </p:spPr>
      </p:pic>
      <p:pic>
        <p:nvPicPr>
          <p:cNvPr id="40" name="图片 39"/>
          <p:cNvPicPr>
            <a:picLocks noChangeAspect="1"/>
          </p:cNvPicPr>
          <p:nvPr/>
        </p:nvPicPr>
        <p:blipFill>
          <a:blip r:embed="rId4"/>
          <a:stretch/>
        </p:blipFill>
        <p:spPr>
          <a:xfrm>
            <a:off x="2207581" y="892206"/>
            <a:ext cx="1850994" cy="1388246"/>
          </a:xfrm>
          <a:prstGeom prst="rect">
            <a:avLst/>
          </a:prstGeom>
        </p:spPr>
      </p:pic>
      <p:pic>
        <p:nvPicPr>
          <p:cNvPr id="41" name="图片 40"/>
          <p:cNvPicPr>
            <a:picLocks noChangeAspect="1"/>
          </p:cNvPicPr>
          <p:nvPr/>
        </p:nvPicPr>
        <p:blipFill>
          <a:blip r:embed="rId5"/>
          <a:stretch/>
        </p:blipFill>
        <p:spPr>
          <a:xfrm>
            <a:off x="4218373" y="892206"/>
            <a:ext cx="1850994" cy="1388246"/>
          </a:xfrm>
          <a:prstGeom prst="rect">
            <a:avLst/>
          </a:prstGeom>
        </p:spPr>
      </p:pic>
      <p:pic>
        <p:nvPicPr>
          <p:cNvPr id="42" name="图片 41"/>
          <p:cNvPicPr>
            <a:picLocks noChangeAspect="1"/>
          </p:cNvPicPr>
          <p:nvPr/>
        </p:nvPicPr>
        <p:blipFill>
          <a:blip r:embed="rId6"/>
          <a:stretch/>
        </p:blipFill>
        <p:spPr>
          <a:xfrm>
            <a:off x="6122633" y="892206"/>
            <a:ext cx="1850994" cy="1388246"/>
          </a:xfrm>
          <a:prstGeom prst="rect">
            <a:avLst/>
          </a:prstGeom>
        </p:spPr>
      </p:pic>
      <p:pic>
        <p:nvPicPr>
          <p:cNvPr id="43" name="图片 42"/>
          <p:cNvPicPr>
            <a:picLocks noChangeAspect="1"/>
          </p:cNvPicPr>
          <p:nvPr/>
        </p:nvPicPr>
        <p:blipFill>
          <a:blip r:embed="rId7"/>
          <a:stretch/>
        </p:blipFill>
        <p:spPr>
          <a:xfrm>
            <a:off x="8133425" y="895062"/>
            <a:ext cx="1850994" cy="1382533"/>
          </a:xfrm>
          <a:prstGeom prst="rect">
            <a:avLst/>
          </a:prstGeom>
        </p:spPr>
      </p:pic>
      <p:pic>
        <p:nvPicPr>
          <p:cNvPr id="44" name="图片 43"/>
          <p:cNvPicPr>
            <a:picLocks noChangeAspect="1"/>
          </p:cNvPicPr>
          <p:nvPr/>
        </p:nvPicPr>
        <p:blipFill>
          <a:blip r:embed="rId8"/>
          <a:stretch/>
        </p:blipFill>
        <p:spPr>
          <a:xfrm>
            <a:off x="10037686" y="895822"/>
            <a:ext cx="1850994" cy="1381015"/>
          </a:xfrm>
          <a:prstGeom prst="rect">
            <a:avLst/>
          </a:prstGeom>
        </p:spPr>
      </p:pic>
      <p:pic>
        <p:nvPicPr>
          <p:cNvPr id="45" name="图片 44"/>
          <p:cNvPicPr>
            <a:picLocks noChangeAspect="1"/>
          </p:cNvPicPr>
          <p:nvPr/>
        </p:nvPicPr>
        <p:blipFill>
          <a:blip r:embed="rId9"/>
          <a:stretch/>
        </p:blipFill>
        <p:spPr>
          <a:xfrm>
            <a:off x="303320" y="2373194"/>
            <a:ext cx="1850994" cy="1382533"/>
          </a:xfrm>
          <a:prstGeom prst="rect">
            <a:avLst/>
          </a:prstGeom>
        </p:spPr>
      </p:pic>
      <p:pic>
        <p:nvPicPr>
          <p:cNvPr id="46" name="图片 45"/>
          <p:cNvPicPr>
            <a:picLocks noChangeAspect="1"/>
          </p:cNvPicPr>
          <p:nvPr/>
        </p:nvPicPr>
        <p:blipFill>
          <a:blip r:embed="rId10"/>
          <a:stretch/>
        </p:blipFill>
        <p:spPr>
          <a:xfrm>
            <a:off x="2207581" y="2373954"/>
            <a:ext cx="1850994" cy="1381015"/>
          </a:xfrm>
          <a:prstGeom prst="rect">
            <a:avLst/>
          </a:prstGeom>
        </p:spPr>
      </p:pic>
      <p:pic>
        <p:nvPicPr>
          <p:cNvPr id="47" name="图片 46"/>
          <p:cNvPicPr>
            <a:picLocks noChangeAspect="1"/>
          </p:cNvPicPr>
          <p:nvPr/>
        </p:nvPicPr>
        <p:blipFill>
          <a:blip r:embed="rId11"/>
          <a:stretch/>
        </p:blipFill>
        <p:spPr>
          <a:xfrm>
            <a:off x="4218373" y="2373194"/>
            <a:ext cx="1850994" cy="1382533"/>
          </a:xfrm>
          <a:prstGeom prst="rect">
            <a:avLst/>
          </a:prstGeom>
        </p:spPr>
      </p:pic>
      <p:pic>
        <p:nvPicPr>
          <p:cNvPr id="48" name="图片 47"/>
          <p:cNvPicPr>
            <a:picLocks noChangeAspect="1"/>
          </p:cNvPicPr>
          <p:nvPr/>
        </p:nvPicPr>
        <p:blipFill>
          <a:blip r:embed="rId12"/>
          <a:stretch/>
        </p:blipFill>
        <p:spPr>
          <a:xfrm>
            <a:off x="6122633" y="2373954"/>
            <a:ext cx="1850994" cy="1381015"/>
          </a:xfrm>
          <a:prstGeom prst="rect">
            <a:avLst/>
          </a:prstGeom>
        </p:spPr>
      </p:pic>
      <p:pic>
        <p:nvPicPr>
          <p:cNvPr id="49" name="图片 48"/>
          <p:cNvPicPr>
            <a:picLocks noChangeAspect="1"/>
          </p:cNvPicPr>
          <p:nvPr/>
        </p:nvPicPr>
        <p:blipFill>
          <a:blip r:embed="rId13"/>
          <a:stretch/>
        </p:blipFill>
        <p:spPr>
          <a:xfrm>
            <a:off x="8133425" y="2373194"/>
            <a:ext cx="1850994" cy="1382533"/>
          </a:xfrm>
          <a:prstGeom prst="rect">
            <a:avLst/>
          </a:prstGeom>
        </p:spPr>
      </p:pic>
      <p:pic>
        <p:nvPicPr>
          <p:cNvPr id="50" name="图片 49"/>
          <p:cNvPicPr>
            <a:picLocks noChangeAspect="1"/>
          </p:cNvPicPr>
          <p:nvPr/>
        </p:nvPicPr>
        <p:blipFill>
          <a:blip r:embed="rId14"/>
          <a:stretch/>
        </p:blipFill>
        <p:spPr>
          <a:xfrm>
            <a:off x="10037686" y="2373954"/>
            <a:ext cx="1850994" cy="1381015"/>
          </a:xfrm>
          <a:prstGeom prst="rect">
            <a:avLst/>
          </a:prstGeom>
        </p:spPr>
      </p:pic>
      <p:sp>
        <p:nvSpPr>
          <p:cNvPr id="21" name="Better reconstruction, same model">
            <a:extLst>
              <a:ext uri="{FF2B5EF4-FFF2-40B4-BE49-F238E27FC236}">
                <a16:creationId xmlns:a16="http://schemas.microsoft.com/office/drawing/2014/main" id="{EF012E48-959E-49DE-9E96-2052C4F7B04E}"/>
              </a:ext>
            </a:extLst>
          </p:cNvPr>
          <p:cNvSpPr>
            <a:spLocks noGrp="1"/>
          </p:cNvSpPr>
          <p:nvPr/>
        </p:nvSpPr>
        <p:spPr>
          <a:xfrm>
            <a:off x="303320" y="3988294"/>
            <a:ext cx="4061534" cy="299621"/>
          </a:xfrm>
          <a:prstGeom prst="rect">
            <a:avLst/>
          </a:prstGeom>
          <a:noFill/>
          <a:ln w="0">
            <a:noFill/>
          </a:ln>
        </p:spPr>
        <p:txBody>
          <a:bodyPr wrap="none" lIns="0" tIns="0" rIns="0" bIns="0" anchor="ctr">
            <a:noAutofit/>
          </a:bodyPr>
          <a:lstStyle/>
          <a:p>
            <a:pPr algn="l">
              <a:defRPr sz="2400" b="1" i="0">
                <a:solidFill>
                  <a:srgbClr val="183D43"/>
                </a:solidFill>
                <a:latin typeface="Times New Roman"/>
                <a:ea typeface="Times New Roman"/>
                <a:cs typeface="Times New Roman"/>
              </a:defRPr>
            </a:pPr>
            <a:r>
              <a:rPr sz="1957" b="1">
                <a:solidFill>
                  <a:srgbClr val="183D43"/>
                </a:solidFill>
                <a:latin typeface="Times New Roman"/>
                <a:ea typeface="Times New Roman"/>
                <a:cs typeface="Times New Roman"/>
              </a:rPr>
              <a:t>Better reconstruction, same model</a:t>
            </a:r>
          </a:p>
        </p:txBody>
      </p:sp>
      <p:sp>
        <p:nvSpPr>
          <p:cNvPr id="22" name="+55.3%">
            <a:extLst>
              <a:ext uri="{FF2B5EF4-FFF2-40B4-BE49-F238E27FC236}">
                <a16:creationId xmlns:a16="http://schemas.microsoft.com/office/drawing/2014/main" id="{89FAF11D-0AA2-4238-BF00-F7E3037DD14D}"/>
              </a:ext>
            </a:extLst>
          </p:cNvPr>
          <p:cNvSpPr>
            <a:spLocks noGrp="1"/>
          </p:cNvSpPr>
          <p:nvPr/>
        </p:nvSpPr>
        <p:spPr>
          <a:xfrm>
            <a:off x="303321" y="4321206"/>
            <a:ext cx="2696592" cy="632534"/>
          </a:xfrm>
          <a:prstGeom prst="rect">
            <a:avLst/>
          </a:prstGeom>
          <a:noFill/>
          <a:ln w="0">
            <a:noFill/>
          </a:ln>
        </p:spPr>
        <p:txBody>
          <a:bodyPr wrap="none" lIns="0" tIns="0" rIns="0" bIns="0" anchor="ctr">
            <a:noAutofit/>
          </a:bodyPr>
          <a:lstStyle/>
          <a:p>
            <a:pPr algn="l">
              <a:defRPr sz="6150" b="1" i="0">
                <a:solidFill>
                  <a:srgbClr val="137F78"/>
                </a:solidFill>
                <a:latin typeface="Times New Roman"/>
                <a:ea typeface="Times New Roman"/>
                <a:cs typeface="Times New Roman"/>
              </a:defRPr>
            </a:pPr>
            <a:r>
              <a:rPr sz="4613" b="1" dirty="0">
                <a:solidFill>
                  <a:srgbClr val="137F78"/>
                </a:solidFill>
                <a:latin typeface="Times New Roman"/>
                <a:ea typeface="Times New Roman"/>
                <a:cs typeface="Times New Roman"/>
              </a:rPr>
              <a:t>+55.3%</a:t>
            </a:r>
          </a:p>
        </p:txBody>
      </p:sp>
      <p:sp>
        <p:nvSpPr>
          <p:cNvPr id="23" name="mean DINOv2 similarity">
            <a:extLst>
              <a:ext uri="{FF2B5EF4-FFF2-40B4-BE49-F238E27FC236}">
                <a16:creationId xmlns:a16="http://schemas.microsoft.com/office/drawing/2014/main" id="{1594E6DC-8F0B-4968-995D-CFAAAFC54EE6}"/>
              </a:ext>
            </a:extLst>
          </p:cNvPr>
          <p:cNvSpPr>
            <a:spLocks noGrp="1"/>
          </p:cNvSpPr>
          <p:nvPr/>
        </p:nvSpPr>
        <p:spPr>
          <a:xfrm>
            <a:off x="329953" y="4987031"/>
            <a:ext cx="3928369" cy="259672"/>
          </a:xfrm>
          <a:prstGeom prst="rect">
            <a:avLst/>
          </a:prstGeom>
          <a:noFill/>
          <a:ln w="0">
            <a:noFill/>
          </a:ln>
        </p:spPr>
        <p:txBody>
          <a:bodyPr wrap="none" lIns="0" tIns="0" rIns="0" bIns="0" anchor="ctr">
            <a:noAutofit/>
          </a:bodyPr>
          <a:lstStyle/>
          <a:p>
            <a:pPr algn="l">
              <a:defRPr sz="2175" b="0" i="0">
                <a:solidFill>
                  <a:srgbClr val="183D43"/>
                </a:solidFill>
                <a:latin typeface="Times New Roman"/>
                <a:ea typeface="Times New Roman"/>
                <a:cs typeface="Times New Roman"/>
              </a:defRPr>
            </a:pPr>
            <a:r>
              <a:rPr sz="1678">
                <a:solidFill>
                  <a:srgbClr val="183D43"/>
                </a:solidFill>
                <a:latin typeface="Times New Roman"/>
                <a:ea typeface="Times New Roman"/>
                <a:cs typeface="Times New Roman"/>
              </a:rPr>
              <a:t>mean DINOv2 similarity</a:t>
            </a:r>
          </a:p>
        </p:txBody>
      </p:sp>
      <p:sp>
        <p:nvSpPr>
          <p:cNvPr id="24" name="0.213 to 0.331 across 37 shared valid scenes">
            <a:extLst>
              <a:ext uri="{FF2B5EF4-FFF2-40B4-BE49-F238E27FC236}">
                <a16:creationId xmlns:a16="http://schemas.microsoft.com/office/drawing/2014/main" id="{7C249D5C-1977-4C71-978F-1E59625E713E}"/>
              </a:ext>
            </a:extLst>
          </p:cNvPr>
          <p:cNvSpPr>
            <a:spLocks noGrp="1"/>
          </p:cNvSpPr>
          <p:nvPr/>
        </p:nvSpPr>
        <p:spPr>
          <a:xfrm>
            <a:off x="329954" y="5286653"/>
            <a:ext cx="4021584" cy="233039"/>
          </a:xfrm>
          <a:prstGeom prst="rect">
            <a:avLst/>
          </a:prstGeom>
          <a:noFill/>
          <a:ln w="0">
            <a:noFill/>
          </a:ln>
        </p:spPr>
        <p:txBody>
          <a:bodyPr wrap="none" lIns="0" tIns="0" rIns="0" bIns="0" anchor="ctr">
            <a:noAutofit/>
          </a:bodyPr>
          <a:lstStyle/>
          <a:p>
            <a:pPr algn="l">
              <a:defRPr sz="1875" b="0" i="0">
                <a:solidFill>
                  <a:srgbClr val="576570"/>
                </a:solidFill>
                <a:latin typeface="Times New Roman"/>
                <a:ea typeface="Times New Roman"/>
                <a:cs typeface="Times New Roman"/>
              </a:defRPr>
            </a:pPr>
            <a:r>
              <a:rPr sz="1678" dirty="0">
                <a:solidFill>
                  <a:srgbClr val="576570"/>
                </a:solidFill>
                <a:latin typeface="Times New Roman"/>
                <a:ea typeface="Times New Roman"/>
                <a:cs typeface="Times New Roman"/>
              </a:rPr>
              <a:t>0.213 to 0.331 across 37 shared valid scenes</a:t>
            </a:r>
          </a:p>
        </p:txBody>
      </p:sp>
      <p:sp>
        <p:nvSpPr>
          <p:cNvPr id="25" name="Frozen Qwen-3.8-27B">
            <a:extLst>
              <a:ext uri="{FF2B5EF4-FFF2-40B4-BE49-F238E27FC236}">
                <a16:creationId xmlns:a16="http://schemas.microsoft.com/office/drawing/2014/main" id="{9DBE6805-D148-414F-952C-EDB263A6FD51}"/>
              </a:ext>
            </a:extLst>
          </p:cNvPr>
          <p:cNvSpPr>
            <a:spLocks noGrp="1"/>
          </p:cNvSpPr>
          <p:nvPr/>
        </p:nvSpPr>
        <p:spPr>
          <a:xfrm>
            <a:off x="329953" y="5659515"/>
            <a:ext cx="3928369" cy="233039"/>
          </a:xfrm>
          <a:prstGeom prst="rect">
            <a:avLst/>
          </a:prstGeom>
          <a:noFill/>
          <a:ln w="0">
            <a:noFill/>
          </a:ln>
        </p:spPr>
        <p:txBody>
          <a:bodyPr wrap="none" lIns="0" tIns="0" rIns="0" bIns="0" anchor="ctr">
            <a:noAutofit/>
          </a:bodyPr>
          <a:lstStyle/>
          <a:p>
            <a:pPr algn="l">
              <a:defRPr sz="2175" b="1" i="0">
                <a:solidFill>
                  <a:srgbClr val="183D43"/>
                </a:solidFill>
                <a:latin typeface="Times New Roman"/>
                <a:ea typeface="Times New Roman"/>
                <a:cs typeface="Times New Roman"/>
              </a:defRPr>
            </a:pPr>
            <a:r>
              <a:rPr sz="1678" b="1">
                <a:solidFill>
                  <a:srgbClr val="183D43"/>
                </a:solidFill>
                <a:latin typeface="Times New Roman"/>
                <a:ea typeface="Times New Roman"/>
                <a:cs typeface="Times New Roman"/>
              </a:rPr>
              <a:t>Frozen Qwen-3.8-27B</a:t>
            </a:r>
          </a:p>
        </p:txBody>
      </p:sp>
      <p:sp>
        <p:nvSpPr>
          <p:cNvPr id="26" name="No weight updates. No teacher at inference.">
            <a:extLst>
              <a:ext uri="{FF2B5EF4-FFF2-40B4-BE49-F238E27FC236}">
                <a16:creationId xmlns:a16="http://schemas.microsoft.com/office/drawing/2014/main" id="{483FA5DD-942D-44B9-85BB-B1355E904778}"/>
              </a:ext>
            </a:extLst>
          </p:cNvPr>
          <p:cNvSpPr>
            <a:spLocks noGrp="1"/>
          </p:cNvSpPr>
          <p:nvPr/>
        </p:nvSpPr>
        <p:spPr>
          <a:xfrm>
            <a:off x="329953" y="5959136"/>
            <a:ext cx="4008268" cy="239697"/>
          </a:xfrm>
          <a:prstGeom prst="rect">
            <a:avLst/>
          </a:prstGeom>
          <a:noFill/>
          <a:ln w="0">
            <a:noFill/>
          </a:ln>
        </p:spPr>
        <p:txBody>
          <a:bodyPr wrap="none" lIns="0" tIns="0" rIns="0" bIns="0" anchor="ctr">
            <a:noAutofit/>
          </a:bodyPr>
          <a:lstStyle/>
          <a:p>
            <a:pPr algn="l">
              <a:defRPr sz="1875" b="0" i="0">
                <a:solidFill>
                  <a:srgbClr val="576570"/>
                </a:solidFill>
                <a:latin typeface="Times New Roman"/>
                <a:ea typeface="Times New Roman"/>
                <a:cs typeface="Times New Roman"/>
              </a:defRPr>
            </a:pPr>
            <a:r>
              <a:rPr sz="1678" dirty="0">
                <a:solidFill>
                  <a:srgbClr val="576570"/>
                </a:solidFill>
                <a:latin typeface="Times New Roman"/>
                <a:ea typeface="Times New Roman"/>
                <a:cs typeface="Times New Roman"/>
              </a:rPr>
              <a:t>No weight updates. No teacher at inference.</a:t>
            </a:r>
          </a:p>
        </p:txBody>
      </p:sp>
      <p:sp>
        <p:nvSpPr>
          <p:cNvPr id="27" name="DINOv2 similarity (higher is better)">
            <a:extLst>
              <a:ext uri="{FF2B5EF4-FFF2-40B4-BE49-F238E27FC236}">
                <a16:creationId xmlns:a16="http://schemas.microsoft.com/office/drawing/2014/main" id="{083366A8-15E2-40B7-B46D-4956BF125DA9}"/>
              </a:ext>
            </a:extLst>
          </p:cNvPr>
          <p:cNvSpPr>
            <a:spLocks noGrp="1"/>
          </p:cNvSpPr>
          <p:nvPr/>
        </p:nvSpPr>
        <p:spPr>
          <a:xfrm>
            <a:off x="4717742" y="4008268"/>
            <a:ext cx="6991165" cy="286305"/>
          </a:xfrm>
          <a:prstGeom prst="rect">
            <a:avLst/>
          </a:prstGeom>
          <a:noFill/>
          <a:ln w="0">
            <a:noFill/>
          </a:ln>
        </p:spPr>
        <p:txBody>
          <a:bodyPr wrap="none" lIns="0" tIns="0" rIns="0" bIns="0" anchor="ctr">
            <a:noAutofit/>
          </a:bodyPr>
          <a:lstStyle/>
          <a:p>
            <a:pPr algn="l">
              <a:defRPr sz="2250" b="1" i="0">
                <a:solidFill>
                  <a:srgbClr val="183D43"/>
                </a:solidFill>
                <a:latin typeface="Times New Roman"/>
                <a:ea typeface="Times New Roman"/>
                <a:cs typeface="Times New Roman"/>
              </a:defRPr>
            </a:pPr>
            <a:r>
              <a:rPr sz="1678" b="1">
                <a:solidFill>
                  <a:srgbClr val="183D43"/>
                </a:solidFill>
                <a:latin typeface="Times New Roman"/>
                <a:ea typeface="Times New Roman"/>
                <a:cs typeface="Times New Roman"/>
              </a:rPr>
              <a:t>DINOv2 similarity (higher is better)</a:t>
            </a:r>
          </a:p>
        </p:txBody>
      </p:sp>
      <p:graphicFrame>
        <p:nvGraphicFramePr>
          <p:cNvPr id="58" name="Chart"/>
          <p:cNvGraphicFramePr/>
          <p:nvPr/>
        </p:nvGraphicFramePr>
        <p:xfrm>
          <a:off x="4631185" y="4334523"/>
          <a:ext cx="7124330" cy="2004134"/>
        </p:xfrm>
        <a:graphic>
          <a:graphicData uri="http://schemas.openxmlformats.org/drawingml/2006/chart">
            <c:chart xmlns:c="http://schemas.openxmlformats.org/drawingml/2006/chart" xmlns:r="http://schemas.openxmlformats.org/officeDocument/2006/relationships" r:id="rId15"/>
          </a:graphicData>
        </a:graphic>
      </p:graphicFrame>
      <p:sp>
        <p:nvSpPr>
          <p:cNvPr id="30" name="SceneEvolve turns a single image into an editable 3D scene by evo">
            <a:extLst>
              <a:ext uri="{FF2B5EF4-FFF2-40B4-BE49-F238E27FC236}">
                <a16:creationId xmlns:a16="http://schemas.microsoft.com/office/drawing/2014/main" id="{394C5D63-5757-481C-9A15-E3188B899463}"/>
              </a:ext>
            </a:extLst>
          </p:cNvPr>
          <p:cNvSpPr>
            <a:spLocks noGrp="1"/>
          </p:cNvSpPr>
          <p:nvPr/>
        </p:nvSpPr>
        <p:spPr>
          <a:xfrm>
            <a:off x="296662" y="6325340"/>
            <a:ext cx="11585359" cy="193089"/>
          </a:xfrm>
          <a:prstGeom prst="rect">
            <a:avLst/>
          </a:prstGeom>
          <a:noFill/>
          <a:ln w="0">
            <a:noFill/>
          </a:ln>
        </p:spPr>
        <p:txBody>
          <a:bodyPr wrap="none" lIns="0" tIns="0" rIns="0" bIns="0" anchor="ctr">
            <a:noAutofit/>
          </a:bodyPr>
          <a:lstStyle/>
          <a:p>
            <a:pPr algn="ctr">
              <a:defRPr sz="1800" b="0" i="0">
                <a:solidFill>
                  <a:srgbClr val="183D43"/>
                </a:solidFill>
                <a:latin typeface="Times New Roman"/>
                <a:ea typeface="Times New Roman"/>
                <a:cs typeface="Times New Roman"/>
              </a:defRPr>
            </a:pPr>
            <a:r>
              <a:rPr sz="1678" dirty="0" err="1">
                <a:solidFill>
                  <a:srgbClr val="183D43"/>
                </a:solidFill>
                <a:latin typeface="Times New Roman"/>
                <a:ea typeface="Times New Roman"/>
                <a:cs typeface="Times New Roman"/>
              </a:rPr>
              <a:t>SceneEvolve</a:t>
            </a:r>
            <a:r>
              <a:rPr sz="1678" dirty="0">
                <a:solidFill>
                  <a:srgbClr val="183D43"/>
                </a:solidFill>
                <a:latin typeface="Times New Roman"/>
                <a:ea typeface="Times New Roman"/>
                <a:cs typeface="Times New Roman"/>
              </a:rPr>
              <a:t> turns a single image into an editable 3D scene by evolving the reconstruction harness of a frozen model.</a:t>
            </a:r>
          </a:p>
        </p:txBody>
      </p:sp>
    </p:spTree>
    <p:extLst>
      <p:ext uri="{BB962C8B-B14F-4D97-AF65-F5344CB8AC3E}">
        <p14:creationId xmlns:p14="http://schemas.microsoft.com/office/powerpoint/2010/main" val="88446354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637</TotalTime>
  <Words>2460</Words>
  <Application>Microsoft Macintosh PowerPoint</Application>
  <PresentationFormat>宽屏</PresentationFormat>
  <Paragraphs>122</Paragraphs>
  <Slides>5</Slides>
  <Notes>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vt:i4>
      </vt:variant>
    </vt:vector>
  </HeadingPairs>
  <TitlesOfParts>
    <vt:vector size="11" baseType="lpstr">
      <vt:lpstr>等线</vt:lpstr>
      <vt:lpstr>等线 Light</vt:lpstr>
      <vt:lpstr>Aptos</vt:lpstr>
      <vt:lpstr>Arial</vt:lpstr>
      <vt:lpstr>Times New Roman</vt:lpstr>
      <vt:lpstr>Office 主题​​</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ruize Du</dc:creator>
  <cp:lastModifiedBy>a21722</cp:lastModifiedBy>
  <cp:revision>24</cp:revision>
  <dcterms:created xsi:type="dcterms:W3CDTF">2026-09-26T03:14:53Z</dcterms:created>
  <dcterms:modified xsi:type="dcterms:W3CDTF">2026-10-23T07:05:06Z</dcterms:modified>
</cp:coreProperties>
</file>